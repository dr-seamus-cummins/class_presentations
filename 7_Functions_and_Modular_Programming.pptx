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  <p:sldMasterId id="2147483814" r:id="rId2"/>
    <p:sldMasterId id="2147483822" r:id="rId3"/>
    <p:sldMasterId id="2147483828" r:id="rId4"/>
  </p:sldMasterIdLst>
  <p:notesMasterIdLst>
    <p:notesMasterId r:id="rId5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F8"/>
    <a:srgbClr val="FFC800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B5827B-CC0D-4A2A-947D-0A8A373236FE}" v="3" dt="2026-10-22T13:41:05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36"/>
    <p:restoredTop sz="94716"/>
  </p:normalViewPr>
  <p:slideViewPr>
    <p:cSldViewPr snapToGrid="0" snapToObjects="1">
      <p:cViewPr varScale="1">
        <p:scale>
          <a:sx n="59" d="100"/>
          <a:sy n="59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amus Cummins" userId="9cbc4947-2644-4ffd-8985-8dfea9f9d8f2" providerId="ADAL" clId="{C69B4531-7F76-4897-B54E-AABC889E6EB9}"/>
    <pc:docChg chg="modSld">
      <pc:chgData name="Séamus Cummins" userId="9cbc4947-2644-4ffd-8985-8dfea9f9d8f2" providerId="ADAL" clId="{C69B4531-7F76-4897-B54E-AABC889E6EB9}" dt="2026-10-22T13:41:05.271" v="2"/>
      <pc:docMkLst>
        <pc:docMk/>
      </pc:docMkLst>
      <pc:sldChg chg="modAnim">
        <pc:chgData name="Séamus Cummins" userId="9cbc4947-2644-4ffd-8985-8dfea9f9d8f2" providerId="ADAL" clId="{C69B4531-7F76-4897-B54E-AABC889E6EB9}" dt="2026-10-22T13:41:05.271" v="2"/>
        <pc:sldMkLst>
          <pc:docMk/>
          <pc:sldMk cId="3850475237" sldId="267"/>
        </pc:sldMkLst>
      </pc:sldChg>
      <pc:sldChg chg="modAnim">
        <pc:chgData name="Séamus Cummins" userId="9cbc4947-2644-4ffd-8985-8dfea9f9d8f2" providerId="ADAL" clId="{C69B4531-7F76-4897-B54E-AABC889E6EB9}" dt="2026-10-21T13:25:03.269" v="1"/>
        <pc:sldMkLst>
          <pc:docMk/>
          <pc:sldMk cId="1457124680" sldId="271"/>
        </pc:sldMkLst>
      </pc:sldChg>
    </pc:docChg>
  </pc:docChgLst>
  <pc:docChgLst>
    <pc:chgData name="Séamus Cummins" userId="9cbc4947-2644-4ffd-8985-8dfea9f9d8f2" providerId="ADAL" clId="{52D3679E-C8EB-4FED-9467-7F6E2156AACE}"/>
    <pc:docChg chg="undo custSel modSld">
      <pc:chgData name="Séamus Cummins" userId="9cbc4947-2644-4ffd-8985-8dfea9f9d8f2" providerId="ADAL" clId="{52D3679E-C8EB-4FED-9467-7F6E2156AACE}" dt="2026-10-13T08:41:52.789" v="27" actId="1076"/>
      <pc:docMkLst>
        <pc:docMk/>
      </pc:docMkLst>
      <pc:sldChg chg="delSp mod">
        <pc:chgData name="Séamus Cummins" userId="9cbc4947-2644-4ffd-8985-8dfea9f9d8f2" providerId="ADAL" clId="{52D3679E-C8EB-4FED-9467-7F6E2156AACE}" dt="2026-10-12T13:22:40.834" v="0" actId="478"/>
        <pc:sldMkLst>
          <pc:docMk/>
          <pc:sldMk cId="1555642866" sldId="257"/>
        </pc:sldMkLst>
      </pc:sldChg>
      <pc:sldChg chg="modSp mod">
        <pc:chgData name="Séamus Cummins" userId="9cbc4947-2644-4ffd-8985-8dfea9f9d8f2" providerId="ADAL" clId="{52D3679E-C8EB-4FED-9467-7F6E2156AACE}" dt="2026-10-13T08:41:52.789" v="27" actId="1076"/>
        <pc:sldMkLst>
          <pc:docMk/>
          <pc:sldMk cId="3642630591" sldId="259"/>
        </pc:sldMkLst>
        <pc:spChg chg="mod">
          <ac:chgData name="Séamus Cummins" userId="9cbc4947-2644-4ffd-8985-8dfea9f9d8f2" providerId="ADAL" clId="{52D3679E-C8EB-4FED-9467-7F6E2156AACE}" dt="2026-10-13T08:41:52.789" v="27" actId="1076"/>
          <ac:spMkLst>
            <pc:docMk/>
            <pc:sldMk cId="3642630591" sldId="259"/>
            <ac:spMk id="7" creationId="{A91D5FFD-1FAE-4152-BE08-1D8EF6214A40}"/>
          </ac:spMkLst>
        </pc:spChg>
        <pc:spChg chg="mod">
          <ac:chgData name="Séamus Cummins" userId="9cbc4947-2644-4ffd-8985-8dfea9f9d8f2" providerId="ADAL" clId="{52D3679E-C8EB-4FED-9467-7F6E2156AACE}" dt="2026-10-13T08:41:52.789" v="27" actId="1076"/>
          <ac:spMkLst>
            <pc:docMk/>
            <pc:sldMk cId="3642630591" sldId="259"/>
            <ac:spMk id="8" creationId="{EDF3C096-595D-40EF-89DC-A87AB1EB7A7E}"/>
          </ac:spMkLst>
        </pc:spChg>
      </pc:sldChg>
      <pc:sldChg chg="modSp mod">
        <pc:chgData name="Séamus Cummins" userId="9cbc4947-2644-4ffd-8985-8dfea9f9d8f2" providerId="ADAL" clId="{52D3679E-C8EB-4FED-9467-7F6E2156AACE}" dt="2026-10-13T08:34:02.362" v="1" actId="1076"/>
        <pc:sldMkLst>
          <pc:docMk/>
          <pc:sldMk cId="3176132676" sldId="298"/>
        </pc:sldMkLst>
        <pc:spChg chg="mod">
          <ac:chgData name="Séamus Cummins" userId="9cbc4947-2644-4ffd-8985-8dfea9f9d8f2" providerId="ADAL" clId="{52D3679E-C8EB-4FED-9467-7F6E2156AACE}" dt="2026-10-13T08:34:02.362" v="1" actId="1076"/>
          <ac:spMkLst>
            <pc:docMk/>
            <pc:sldMk cId="3176132676" sldId="298"/>
            <ac:spMk id="6" creationId="{4FE5DB9B-6C13-4B92-806B-F75003C36383}"/>
          </ac:spMkLst>
        </pc:spChg>
        <pc:spChg chg="mod">
          <ac:chgData name="Séamus Cummins" userId="9cbc4947-2644-4ffd-8985-8dfea9f9d8f2" providerId="ADAL" clId="{52D3679E-C8EB-4FED-9467-7F6E2156AACE}" dt="2026-10-13T08:34:02.362" v="1" actId="1076"/>
          <ac:spMkLst>
            <pc:docMk/>
            <pc:sldMk cId="3176132676" sldId="298"/>
            <ac:spMk id="7" creationId="{AF6D462E-57FF-4BB7-BE25-A84C06662D68}"/>
          </ac:spMkLst>
        </pc:spChg>
      </pc:sldChg>
      <pc:sldChg chg="modSp mod modAnim">
        <pc:chgData name="Séamus Cummins" userId="9cbc4947-2644-4ffd-8985-8dfea9f9d8f2" providerId="ADAL" clId="{52D3679E-C8EB-4FED-9467-7F6E2156AACE}" dt="2026-10-13T08:36:33.265" v="8"/>
        <pc:sldMkLst>
          <pc:docMk/>
          <pc:sldMk cId="3873735491" sldId="300"/>
        </pc:sldMkLst>
        <pc:spChg chg="mod">
          <ac:chgData name="Séamus Cummins" userId="9cbc4947-2644-4ffd-8985-8dfea9f9d8f2" providerId="ADAL" clId="{52D3679E-C8EB-4FED-9467-7F6E2156AACE}" dt="2026-10-13T08:34:16.916" v="2" actId="1076"/>
          <ac:spMkLst>
            <pc:docMk/>
            <pc:sldMk cId="3873735491" sldId="300"/>
            <ac:spMk id="5" creationId="{541DFC12-36A3-44DE-80B7-F2A6B062CE62}"/>
          </ac:spMkLst>
        </pc:spChg>
        <pc:spChg chg="mod">
          <ac:chgData name="Séamus Cummins" userId="9cbc4947-2644-4ffd-8985-8dfea9f9d8f2" providerId="ADAL" clId="{52D3679E-C8EB-4FED-9467-7F6E2156AACE}" dt="2026-10-13T08:34:16.916" v="2" actId="1076"/>
          <ac:spMkLst>
            <pc:docMk/>
            <pc:sldMk cId="3873735491" sldId="300"/>
            <ac:spMk id="6" creationId="{FC702FD1-DC4C-4607-92EF-7E943E1E028F}"/>
          </ac:spMkLst>
        </pc:spChg>
        <pc:spChg chg="mod">
          <ac:chgData name="Séamus Cummins" userId="9cbc4947-2644-4ffd-8985-8dfea9f9d8f2" providerId="ADAL" clId="{52D3679E-C8EB-4FED-9467-7F6E2156AACE}" dt="2026-10-13T08:34:16.916" v="2" actId="1076"/>
          <ac:spMkLst>
            <pc:docMk/>
            <pc:sldMk cId="3873735491" sldId="300"/>
            <ac:spMk id="7" creationId="{E43B5B13-54E0-4123-BC66-83B17A46388C}"/>
          </ac:spMkLst>
        </pc:spChg>
        <pc:spChg chg="mod">
          <ac:chgData name="Séamus Cummins" userId="9cbc4947-2644-4ffd-8985-8dfea9f9d8f2" providerId="ADAL" clId="{52D3679E-C8EB-4FED-9467-7F6E2156AACE}" dt="2026-10-13T08:34:16.916" v="2" actId="1076"/>
          <ac:spMkLst>
            <pc:docMk/>
            <pc:sldMk cId="3873735491" sldId="300"/>
            <ac:spMk id="8" creationId="{F782B523-3D73-479B-9F36-C2C7B5B52A5A}"/>
          </ac:spMkLst>
        </pc:spChg>
      </pc:sldChg>
      <pc:sldChg chg="modSp mod modAnim">
        <pc:chgData name="Séamus Cummins" userId="9cbc4947-2644-4ffd-8985-8dfea9f9d8f2" providerId="ADAL" clId="{52D3679E-C8EB-4FED-9467-7F6E2156AACE}" dt="2026-10-13T08:37:17.864" v="11"/>
        <pc:sldMkLst>
          <pc:docMk/>
          <pc:sldMk cId="3011123123" sldId="301"/>
        </pc:sldMkLst>
        <pc:spChg chg="mod">
          <ac:chgData name="Séamus Cummins" userId="9cbc4947-2644-4ffd-8985-8dfea9f9d8f2" providerId="ADAL" clId="{52D3679E-C8EB-4FED-9467-7F6E2156AACE}" dt="2026-10-13T08:36:11.513" v="5" actId="1076"/>
          <ac:spMkLst>
            <pc:docMk/>
            <pc:sldMk cId="3011123123" sldId="301"/>
            <ac:spMk id="3" creationId="{5581FC02-610A-4D51-8EEF-8CE0FDB42602}"/>
          </ac:spMkLst>
        </pc:spChg>
        <pc:spChg chg="mod">
          <ac:chgData name="Séamus Cummins" userId="9cbc4947-2644-4ffd-8985-8dfea9f9d8f2" providerId="ADAL" clId="{52D3679E-C8EB-4FED-9467-7F6E2156AACE}" dt="2026-10-13T08:34:25.076" v="3" actId="1076"/>
          <ac:spMkLst>
            <pc:docMk/>
            <pc:sldMk cId="3011123123" sldId="301"/>
            <ac:spMk id="7" creationId="{F0FFED1B-7674-40BF-B9F3-38AFAC1D5D8C}"/>
          </ac:spMkLst>
        </pc:spChg>
        <pc:spChg chg="mod">
          <ac:chgData name="Séamus Cummins" userId="9cbc4947-2644-4ffd-8985-8dfea9f9d8f2" providerId="ADAL" clId="{52D3679E-C8EB-4FED-9467-7F6E2156AACE}" dt="2026-10-13T08:34:25.076" v="3" actId="1076"/>
          <ac:spMkLst>
            <pc:docMk/>
            <pc:sldMk cId="3011123123" sldId="301"/>
            <ac:spMk id="8" creationId="{104FF74A-C9EE-45ED-A653-170D70A8679D}"/>
          </ac:spMkLst>
        </pc:spChg>
        <pc:spChg chg="mod">
          <ac:chgData name="Séamus Cummins" userId="9cbc4947-2644-4ffd-8985-8dfea9f9d8f2" providerId="ADAL" clId="{52D3679E-C8EB-4FED-9467-7F6E2156AACE}" dt="2026-10-13T08:34:25.076" v="3" actId="1076"/>
          <ac:spMkLst>
            <pc:docMk/>
            <pc:sldMk cId="3011123123" sldId="301"/>
            <ac:spMk id="9" creationId="{519E4A06-6468-4BED-B9B1-D19319AF96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8669B-D854-4764-9482-9FA95FFBD9D8}" type="datetimeFigureOut">
              <a:rPr lang="en-IE" smtClean="0"/>
              <a:t>21/10/2026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024BA-8A3D-4078-80EE-F9C62799C0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3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BA59F3-AEB3-204E-8300-58EF74F8C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08" y="584846"/>
            <a:ext cx="7904205" cy="1293362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77F7AA-28BF-274E-AEFB-1D0AD137F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08" y="2135639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434198"/>
            <a:ext cx="773738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04" y="338139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2874106"/>
            <a:ext cx="5622496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4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543C47-599B-DE42-8EE6-81B46515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7737390" cy="1914695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9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301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7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92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842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875229"/>
            <a:ext cx="5383427" cy="1293362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538342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32324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1" y="2719301"/>
            <a:ext cx="5562600" cy="210382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6973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4" y="1166042"/>
            <a:ext cx="5284745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34" y="3566083"/>
            <a:ext cx="5284745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4407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5389606" cy="1914695"/>
          </a:xfrm>
        </p:spPr>
        <p:txBody>
          <a:bodyPr>
            <a:normAutofit/>
          </a:bodyPr>
          <a:lstStyle>
            <a:lvl1pPr>
              <a:buNone/>
              <a:defRPr sz="5400" b="1"/>
            </a:lvl1pPr>
          </a:lstStyle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5484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186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415620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5143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775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6817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71694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6698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67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773738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1471269"/>
            <a:ext cx="773738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4902484" y="3619542"/>
            <a:ext cx="3178835" cy="1101047"/>
          </a:xfrm>
          <a:prstGeom prst="rect">
            <a:avLst/>
          </a:prstGeom>
          <a:solidFill>
            <a:srgbClr val="00324D"/>
          </a:solidFill>
          <a:ln>
            <a:solidFill>
              <a:srgbClr val="0032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4902484" y="3744615"/>
            <a:ext cx="3178835" cy="850900"/>
            <a:chOff x="4902484" y="3927475"/>
            <a:chExt cx="3178835" cy="850900"/>
          </a:xfrm>
        </p:grpSpPr>
        <p:sp>
          <p:nvSpPr>
            <p:cNvPr id="8" name="Rectangle 7"/>
            <p:cNvSpPr/>
            <p:nvPr userDrawn="1"/>
          </p:nvSpPr>
          <p:spPr>
            <a:xfrm>
              <a:off x="4902484" y="3971925"/>
              <a:ext cx="3178835" cy="762000"/>
            </a:xfrm>
            <a:prstGeom prst="rect">
              <a:avLst/>
            </a:prstGeom>
            <a:solidFill>
              <a:srgbClr val="00324D"/>
            </a:solidFill>
            <a:ln>
              <a:solidFill>
                <a:srgbClr val="00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72" b="7528"/>
            <a:stretch/>
          </p:blipFill>
          <p:spPr>
            <a:xfrm>
              <a:off x="4902484" y="3927475"/>
              <a:ext cx="3178835" cy="850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4" r:id="rId4"/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6" y="620170"/>
            <a:ext cx="10311878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386" y="1840158"/>
            <a:ext cx="10311878" cy="463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6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501953"/>
            <a:ext cx="5537886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2768728"/>
            <a:ext cx="5537887" cy="210382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09491-1086-4A02-AD5B-663916A0431C}"/>
              </a:ext>
            </a:extLst>
          </p:cNvPr>
          <p:cNvSpPr>
            <a:spLocks noGrp="1"/>
          </p:cNvSpPr>
          <p:nvPr/>
        </p:nvSpPr>
        <p:spPr>
          <a:xfrm>
            <a:off x="343930" y="5101152"/>
            <a:ext cx="3793730" cy="1756848"/>
          </a:xfrm>
          <a:prstGeom prst="rect">
            <a:avLst/>
          </a:prstGeom>
          <a:solidFill>
            <a:srgbClr val="FFC800"/>
          </a:solidFill>
          <a:ln>
            <a:solidFill>
              <a:srgbClr val="FF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8"/>
          <a:srcRect t="37353" b="10945"/>
          <a:stretch/>
        </p:blipFill>
        <p:spPr>
          <a:xfrm>
            <a:off x="323290" y="5653087"/>
            <a:ext cx="3806463" cy="8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084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059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04E88-105B-4A6C-A131-F794F518A187}"/>
              </a:ext>
            </a:extLst>
          </p:cNvPr>
          <p:cNvSpPr>
            <a:spLocks noGrp="1"/>
          </p:cNvSpPr>
          <p:nvPr/>
        </p:nvSpPr>
        <p:spPr>
          <a:xfrm>
            <a:off x="438150" y="1190625"/>
            <a:ext cx="528637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90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</a:t>
            </a: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</a:t>
            </a:r>
            <a:r>
              <a:rPr kumimoji="0" sz="390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unctions</a:t>
            </a:r>
            <a:endParaRPr kumimoji="0" sz="4125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E865D-4F84-4017-9EFB-1E452F3BB231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Dr.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36225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77EC57-1116-471F-A87D-15BF212780F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lesson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6F515C-CB9E-4B7F-80B3-BC010A6550C9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new way to organise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0223E1-3D14-4A97-B8BB-E9511748D821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Give a useful operation a name, pass data into it and return a result.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9FA39F-DBB1-4EA8-8A23-703BFB1C129D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you will practise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FDB859-3A13-4AA0-97BF-371FB2FB8685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Definitions, calls, parameters, scope, turtle functions and small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155564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94E593-10D2-4B28-91A7-84B01CF2950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repeated calculation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273C6E-3805-4B0A-8E82-5224BF50A272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BBFC6-7E11-4191-AA0C-DBEE0637DF1D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width = 6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height = 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area = width * height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print(area)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width = 9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height = 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area = width * height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print(area)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34134C-D3A8-47C7-B62C-E87CBB501FAD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82E1B5-6A40-4774-AD7E-30B9C212C407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822602-62B2-4792-A7D2-8B0984993C04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repeated idea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0B7C08-F57E-4D07-B77A-CDB299F6283A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Calculate the area of a rectangle. The dimensions change, but the rule stays the same.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FF0615-D8EB-45EA-88AA-FAA328E1B601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function names the rule so that callers can reuse it.</a:t>
            </a:r>
          </a:p>
        </p:txBody>
      </p:sp>
    </p:spTree>
    <p:extLst>
      <p:ext uri="{BB962C8B-B14F-4D97-AF65-F5344CB8AC3E}">
        <p14:creationId xmlns:p14="http://schemas.microsoft.com/office/powerpoint/2010/main" val="53618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AC6202-A893-4B7E-9206-6BC5D93018A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Functions and procedures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799ADB-2063-4C1C-AE95-27705DD379D2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6994B8-9753-4971-BACC-4C02FCE04985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named block that can receive data and return a value to its caller.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FF6297-8AE3-4EF3-A4BE-883C76B3EC1E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Procedure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5D4FE4-9116-4D5B-BFCF-2837F4908654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subroutine used mainly for an action, such as printing or drawing. Python also defines it with def.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D5FFD-1FAE-4152-BE08-1D8EF6214A40}"/>
              </a:ext>
            </a:extLst>
          </p:cNvPr>
          <p:cNvSpPr>
            <a:spLocks noGrp="1"/>
          </p:cNvSpPr>
          <p:nvPr/>
        </p:nvSpPr>
        <p:spPr>
          <a:xfrm>
            <a:off x="438150" y="4411172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return 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3C096-595D-40EF-89DC-A87AB1EB7A7E}"/>
              </a:ext>
            </a:extLst>
          </p:cNvPr>
          <p:cNvSpPr>
            <a:spLocks noGrp="1"/>
          </p:cNvSpPr>
          <p:nvPr/>
        </p:nvSpPr>
        <p:spPr>
          <a:xfrm>
            <a:off x="438150" y="4820747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Every completed Python function call returns a value. With no explicit value, it returns None.</a:t>
            </a:r>
          </a:p>
        </p:txBody>
      </p:sp>
    </p:spTree>
    <p:extLst>
      <p:ext uri="{BB962C8B-B14F-4D97-AF65-F5344CB8AC3E}">
        <p14:creationId xmlns:p14="http://schemas.microsoft.com/office/powerpoint/2010/main" val="3642630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AC867B-AA92-41B9-B10E-099F2331796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first definition and call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AC577-5A73-4DC6-B7C1-0EF0A1E135EC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FF12F3-9CB1-4C17-ABC8-B4FB16B0189B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greet():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print("Hello, programmers!")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greet()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greet()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8B94C-FAF6-4961-8554-E67D981FB202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6DB01-F367-439A-941B-74222CA24AB2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Hello, programmers!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Hello, programmers!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857A5F-12E9-4899-BBA5-F405D9EFBD3A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Definition and call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5CF2C-9224-478D-87D9-2A47210A24D6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 creates the function. Each greet() call runs its body.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5B94D7-8464-4E59-97AB-57D60D98F64C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colon and indentation mark the function body.</a:t>
            </a:r>
          </a:p>
        </p:txBody>
      </p:sp>
    </p:spTree>
    <p:extLst>
      <p:ext uri="{BB962C8B-B14F-4D97-AF65-F5344CB8AC3E}">
        <p14:creationId xmlns:p14="http://schemas.microsoft.com/office/powerpoint/2010/main" val="372019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7748D3-62AC-4F2F-A979-6DF025A00E4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Execution follows the calls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953A0-59EC-4644-BFA3-C2054954143C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1F4B-4ED6-40D7-B168-BD6C6B4BA79E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ping():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print("Inside")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print("Before")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ping()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print("After")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E2EDD4-A903-462D-B516-EE193F54DDF1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363C9B-E99B-4967-8519-5F1965E63A81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Before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Inside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567DD-D60D-47E3-8EEC-3324C7FD77FA}"/>
              </a:ext>
            </a:extLst>
          </p:cNvPr>
          <p:cNvSpPr>
            <a:spLocks noGrp="1"/>
          </p:cNvSpPr>
          <p:nvPr/>
        </p:nvSpPr>
        <p:spPr>
          <a:xfrm>
            <a:off x="7762875" y="30670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 to caller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62D067-2772-4334-B710-EB24350A8A6E}"/>
              </a:ext>
            </a:extLst>
          </p:cNvPr>
          <p:cNvSpPr>
            <a:spLocks noGrp="1"/>
          </p:cNvSpPr>
          <p:nvPr/>
        </p:nvSpPr>
        <p:spPr>
          <a:xfrm>
            <a:off x="7762875" y="34480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After the function finishes, execution continues after the call.</a:t>
            </a:r>
          </a:p>
        </p:txBody>
      </p:sp>
    </p:spTree>
    <p:extLst>
      <p:ext uri="{BB962C8B-B14F-4D97-AF65-F5344CB8AC3E}">
        <p14:creationId xmlns:p14="http://schemas.microsoft.com/office/powerpoint/2010/main" val="2163799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110D29-3A07-4CFF-9DFE-1C6A901F2FE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a function call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57187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happens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Execute def and create ping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None yet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Run first top-level 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Before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Call ping and enter its body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Inside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Return and run final 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F84AF93-7CCD-45D9-950C-AC309752D0BE}"/>
              </a:ext>
            </a:extLst>
          </p:cNvPr>
          <p:cNvSpPr>
            <a:spLocks noGrp="1"/>
          </p:cNvSpPr>
          <p:nvPr/>
        </p:nvSpPr>
        <p:spPr>
          <a:xfrm>
            <a:off x="438150" y="5391150"/>
            <a:ext cx="11096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Creating a function does not run its body.</a:t>
            </a:r>
          </a:p>
        </p:txBody>
      </p:sp>
    </p:spTree>
    <p:extLst>
      <p:ext uri="{BB962C8B-B14F-4D97-AF65-F5344CB8AC3E}">
        <p14:creationId xmlns:p14="http://schemas.microsoft.com/office/powerpoint/2010/main" val="159629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BCED57-082E-4D55-9A61-E0DE2B4703C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no call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6FB8C-D4AF-4B9A-9042-B86F09163F45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7F0F3-49F5-4AE7-8A8C-4487320F6F8A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greet():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print("Welcome")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greet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E240F-900F-4323-AAE4-AAB8E032E8D2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Actual behaviour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7A52EE-059D-4742-96DD-1C5FFCFFA0DD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 output in a saved script.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B791AD-0460-442E-86F1-0D948CAF108A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CBC94-530C-43AF-A7C0-33B82641C1AA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final line refers to the function but does not call it. Add the required punctuation.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7EDCF1-3861-4A57-AA5C-047F1C858377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repair is greet(), with parentheses.</a:t>
            </a:r>
          </a:p>
        </p:txBody>
      </p:sp>
    </p:spTree>
    <p:extLst>
      <p:ext uri="{BB962C8B-B14F-4D97-AF65-F5344CB8AC3E}">
        <p14:creationId xmlns:p14="http://schemas.microsoft.com/office/powerpoint/2010/main" val="8485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55E262-5B2C-4458-A5CE-0EE64F40DFE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Parameters receive arguments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73D114-777B-4BF1-ACA9-A46C6523CB2E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040F4A-AF4C-443A-B507-28BAFB8EF64C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greet(name):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print("Hello", name)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greet("Maya")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greet("Omar")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A6FB38-0D5A-4364-9EBE-4663C4A2F951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49F537-41B2-4C89-BC24-86762D140EAD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 Maya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 Omar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40D400-495C-4A0A-9744-B9F74A83E100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57755-6DFE-4662-BE20-FA79AA244086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name is the parameter in the definition. "Maya" is an argument supplied by a call.</a:t>
            </a:r>
          </a:p>
        </p:txBody>
      </p:sp>
    </p:spTree>
    <p:extLst>
      <p:ext uri="{BB962C8B-B14F-4D97-AF65-F5344CB8AC3E}">
        <p14:creationId xmlns:p14="http://schemas.microsoft.com/office/powerpoint/2010/main" val="47657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0A75C0-7F7D-4D1D-A1FF-759C62CE96E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Parameters and arguments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571876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296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96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def greet(name):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name is a parameter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96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Call with a literal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greet("Maya")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Argument value is "Maya"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96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Call with a variable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greet(student)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The value of student is passed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7A55947-65B8-49E4-9C1B-2CCE4638CA03}"/>
              </a:ext>
            </a:extLst>
          </p:cNvPr>
          <p:cNvSpPr>
            <a:spLocks noGrp="1"/>
          </p:cNvSpPr>
          <p:nvPr/>
        </p:nvSpPr>
        <p:spPr>
          <a:xfrm>
            <a:off x="438150" y="5391150"/>
            <a:ext cx="11096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Caller and parameter variable names do not have to match.</a:t>
            </a:r>
          </a:p>
        </p:txBody>
      </p:sp>
    </p:spTree>
    <p:extLst>
      <p:ext uri="{BB962C8B-B14F-4D97-AF65-F5344CB8AC3E}">
        <p14:creationId xmlns:p14="http://schemas.microsoft.com/office/powerpoint/2010/main" val="128225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E3A80FB-EE6B-4148-AF63-A4B40D89E1F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Two parameters and argument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A742C0-ECB3-4465-94BA-A3A3826CF081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B3499D-A097-4D5B-B9F7-5CA11218FAE5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show_trip(city, days):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print(city, "for", days, "days")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show_trip("Dublin", 3)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show_trip(days=2, city="Cork")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F62268-DA28-49B1-BD75-A828A042824E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631D6-63EF-436C-87AB-228E2CB3D41E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Dublin for 3 days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Cork for 2 days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673317-4CCC-4C66-A831-3F98E8695E71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Two calling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F7DE0E-A7A7-4B6F-AD1C-7885CFD4CCC6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Positional arguments match by order. Keyword arguments match the parameter names.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D4F88F-9A10-4A36-862C-C0971421DA7E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clear parameter names. Required arguments must be supplied.</a:t>
            </a:r>
          </a:p>
        </p:txBody>
      </p:sp>
    </p:spTree>
    <p:extLst>
      <p:ext uri="{BB962C8B-B14F-4D97-AF65-F5344CB8AC3E}">
        <p14:creationId xmlns:p14="http://schemas.microsoft.com/office/powerpoint/2010/main" val="150059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0F72B9-3622-46CC-9CFC-4A3CDB86941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a missing argument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9F8B44-5C8B-4666-86A5-09AD35AC455F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16B283-66A5-4AD9-A8E1-1EE2D91D3394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show_trip(city, days):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print(city, "for", days, "days")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show_trip("Dublin")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254EC5-826C-4989-8296-ED5346405AAD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CDCAF-D250-49A9-A4E5-CF317882D175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TypeError: the required days argument is missing.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2FA701-E572-403C-B13A-15806BCA572E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4A7BE-181B-4F0D-8655-9FCBA538C582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Call show_trip("Dublin", 3). Expected output: Dublin for 3 days.</a:t>
            </a:r>
          </a:p>
        </p:txBody>
      </p:sp>
    </p:spTree>
    <p:extLst>
      <p:ext uri="{BB962C8B-B14F-4D97-AF65-F5344CB8AC3E}">
        <p14:creationId xmlns:p14="http://schemas.microsoft.com/office/powerpoint/2010/main" val="385047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E7F88F-C0E2-4D07-9AF1-1269E2788D3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1: a reusable greeting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779F00-3AD9-4F7C-B99E-AD81243D6FC0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478338-4C35-4F62-983E-8D4CB37A2134}"/>
              </a:ext>
            </a:extLst>
          </p:cNvPr>
          <p:cNvSpPr>
            <a:spLocks noGrp="1"/>
          </p:cNvSpPr>
          <p:nvPr/>
        </p:nvSpPr>
        <p:spPr>
          <a:xfrm>
            <a:off x="438150" y="18383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A429A-FC48-4D6C-B6A3-E7BAE64957DF}"/>
              </a:ext>
            </a:extLst>
          </p:cNvPr>
          <p:cNvSpPr>
            <a:spLocks noGrp="1"/>
          </p:cNvSpPr>
          <p:nvPr/>
        </p:nvSpPr>
        <p:spPr>
          <a:xfrm>
            <a:off x="438150" y="22479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greet(name, course). It must print Welcome NAME to COURSE. Call it for two different students.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64D9E8-D1FB-49F9-B1FB-5FD954C59450}"/>
              </a:ext>
            </a:extLst>
          </p:cNvPr>
          <p:cNvSpPr>
            <a:spLocks noGrp="1"/>
          </p:cNvSpPr>
          <p:nvPr/>
        </p:nvSpPr>
        <p:spPr>
          <a:xfrm>
            <a:off x="438150" y="303847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B2A91-3996-42AA-960E-9ABF14C7895D}"/>
              </a:ext>
            </a:extLst>
          </p:cNvPr>
          <p:cNvSpPr>
            <a:spLocks noGrp="1"/>
          </p:cNvSpPr>
          <p:nvPr/>
        </p:nvSpPr>
        <p:spPr>
          <a:xfrm>
            <a:off x="438150" y="344805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greet("Ada", "Python") prints Welcome Ada to Python. The second call must use different values.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C1962C-CC10-47CF-A7B9-0813B5DE0927}"/>
              </a:ext>
            </a:extLst>
          </p:cNvPr>
          <p:cNvSpPr>
            <a:spLocks noGrp="1"/>
          </p:cNvSpPr>
          <p:nvPr/>
        </p:nvSpPr>
        <p:spPr>
          <a:xfrm>
            <a:off x="438150" y="42386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Plan and explain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2C9353-10AB-46BA-AAF3-E97CF1D73BBB}"/>
              </a:ext>
            </a:extLst>
          </p:cNvPr>
          <p:cNvSpPr>
            <a:spLocks noGrp="1"/>
          </p:cNvSpPr>
          <p:nvPr/>
        </p:nvSpPr>
        <p:spPr>
          <a:xfrm>
            <a:off x="438150" y="46482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Keep input outside the function. Use two parameters and no return value yet.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E0B132-3748-453D-9F63-6C29E4B7E0F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 independently, then compare the reasoning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2664548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38B6C8-7C20-4251-B2BC-9DBFA777834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974D7B-15B0-418C-9052-2E36925B03E2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24930C-A860-4848-A04D-491C86A41E6D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greet(name, course):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print(f"Welcome {name} to {course}")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greet("Ada", "Python")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greet("Maya", "Computing")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2FDFD7-1A44-4F86-99F3-B16765547683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A7E6EF-35FC-4867-BB1E-046990FC1693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Welcome Ada to Python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Welcome Maya to Computing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69704F-0C83-4DFE-A7EE-7650CF606FF8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63B492-8F28-468A-815A-800EB43A79AC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Both calls run the same definition with different arguments.</a:t>
            </a:r>
          </a:p>
        </p:txBody>
      </p:sp>
    </p:spTree>
    <p:extLst>
      <p:ext uri="{BB962C8B-B14F-4D97-AF65-F5344CB8AC3E}">
        <p14:creationId xmlns:p14="http://schemas.microsoft.com/office/powerpoint/2010/main" val="94739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5927DCD-75C4-4C68-B4C5-0C69C04EAF0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Returning a calculated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FB4232-D623-431E-AA88-91FB3906E70D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28167D-3D9A-4773-9725-65583C53D2FB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rectangle_area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(width, height):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width * height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answer =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rectangle_area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(6, 4)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print(answer)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rectangle_area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(9, 3))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4F4F66-BFAB-4C54-B340-F7313AA12049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065174-72AD-4E5E-B40E-5BD2CE67BD31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D4B6-EA8B-42CB-B5D9-61525463FD5F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Data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F139D2-FD6F-4435-84BE-B0474F8B5626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function computes a value. The caller chooses whether to store or print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EB6271-4552-4F8D-9EB5-1135FD9C689C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 sends a value back and immediately ends this call.</a:t>
            </a:r>
          </a:p>
        </p:txBody>
      </p:sp>
    </p:spTree>
    <p:extLst>
      <p:ext uri="{BB962C8B-B14F-4D97-AF65-F5344CB8AC3E}">
        <p14:creationId xmlns:p14="http://schemas.microsoft.com/office/powerpoint/2010/main" val="1457124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4DFFFB-E68B-46D6-85C4-3626538579D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 and return have different jobs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9D7608-6892-44D8-A37B-400B3D09A2A0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E3B5C-F753-49FA-9093-7E77CBB6859A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show_double(n):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print(n * 2)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result = show_double(5)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print("Stored:", result)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68CC6F-30BF-47E8-B6DC-0863654A48BF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46B5C-33B0-41DA-8097-0974EF824F3D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Stored: None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C526F-3BFA-4EA9-A497-08CE999255F1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177E83-C183-4436-AF39-A94AFECF6D3F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 displays 10. show_double reaches its end without returning a value, so its result is None.</a:t>
            </a:r>
          </a:p>
        </p:txBody>
      </p:sp>
    </p:spTree>
    <p:extLst>
      <p:ext uri="{BB962C8B-B14F-4D97-AF65-F5344CB8AC3E}">
        <p14:creationId xmlns:p14="http://schemas.microsoft.com/office/powerpoint/2010/main" val="3601214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56AD4-7F95-40D8-B799-A716C991B80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returned value can be reused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B71A3D-7CD2-476D-9BBC-96175324072C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D88777-9839-4F52-9C41-378E760FA6B9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double(n):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n * 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result = double(5)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print(result + 3)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9DD0A1-8020-400B-8099-31C9624EEA28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A265B2-CB31-4A2F-844B-2EBC4917DBED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31E758-EA5F-4450-9F12-4D8220A3E90A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3399FF-1703-456F-AD7C-26D7389B5698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double returns 10. The caller can use that value in another calculation.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CB9B65-25E8-4C7B-8D9D-A6524E018C0F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return value alone is not automatically printed by a saved script.</a:t>
            </a:r>
          </a:p>
        </p:txBody>
      </p:sp>
    </p:spTree>
    <p:extLst>
      <p:ext uri="{BB962C8B-B14F-4D97-AF65-F5344CB8AC3E}">
        <p14:creationId xmlns:p14="http://schemas.microsoft.com/office/powerpoint/2010/main" val="1633658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9686A3-D570-468F-B5BA-A7F720AD79F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missing return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123121-C1EC-4126-BE5B-B7620B3AE19B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C595DA-ACAA-4A94-86DF-B13F3F3F07D4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add(a, b):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= a + b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answer = add(3, 4)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print(answer + 1)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E7E87-9949-488E-A485-682954EAC69C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result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22D7CE-5DB3-4315-9C05-4182DE5BBD96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0F7F6C-6B86-4D83-9093-21C73297C399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Actual failure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74BE43-0B24-4689-BA28-91370FDD7BC3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add returns None. Adding 1 to None raises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TypeError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B5D4E3-6D12-4A38-A7C9-28263FB8A691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Add return total inside the function, after the calculation.</a:t>
            </a:r>
          </a:p>
        </p:txBody>
      </p:sp>
    </p:spTree>
    <p:extLst>
      <p:ext uri="{BB962C8B-B14F-4D97-AF65-F5344CB8AC3E}">
        <p14:creationId xmlns:p14="http://schemas.microsoft.com/office/powerpoint/2010/main" val="4006884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85288B5-0CCE-431D-AF2C-1FD6EA3E870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Repair: return the result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41B98-A62A-4757-9A6C-117151CC5644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A15C6-8FA7-43B8-AFDE-A76B2D4B472F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add(a, b):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= a + b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total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answer = add(3, 4)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print(answer + 1)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144A66-D924-4065-9302-19950AADA364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D53244-5A38-4EC6-90BD-840504A0C157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F0A8C0-AC2D-4066-9DFE-DF1CF184036E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EDEDE1-11BF-4372-B2EA-6E780583CCB5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Arguments 3 and 4 become a and b. total becomes 7. The caller receives 7.</a:t>
            </a:r>
          </a:p>
        </p:txBody>
      </p:sp>
    </p:spTree>
    <p:extLst>
      <p:ext uri="{BB962C8B-B14F-4D97-AF65-F5344CB8AC3E}">
        <p14:creationId xmlns:p14="http://schemas.microsoft.com/office/powerpoint/2010/main" val="2286378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E5A2ED-AEC7-455A-B4F3-F79651C1AF8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 ends the current call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F9B4F0-4233-4A10-9BA5-4D68C9B1A74F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D3C886-7315-475E-BEAA-7B8DF0987B90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label(score):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score &gt;= 50: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return "Pass"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"Try again"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print(label(50))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print(label(49))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806B0-2213-4EED-9641-283B148793E7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2EE688-30DA-43C9-A62C-E00F588DDA45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Pass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Try again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375D26-4CD6-49FF-85DA-501102B14094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Branches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2303BB-8911-490D-ABF5-F25987935581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first return ends a passing call. A lower score reaches the final return.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699CE-DCB5-4C3D-B5CB-44F6B6482248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These are classroom thresholds. Assume score is a number from 0 to 100.</a:t>
            </a:r>
          </a:p>
        </p:txBody>
      </p:sp>
    </p:spTree>
    <p:extLst>
      <p:ext uri="{BB962C8B-B14F-4D97-AF65-F5344CB8AC3E}">
        <p14:creationId xmlns:p14="http://schemas.microsoft.com/office/powerpoint/2010/main" val="1051142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FEF87D-2BD7-4621-9BD4-0779021F1B5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an uncovered route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8E64BF-2A9E-4E62-90DC-A11469975BFF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31A1D7-ADA8-491E-9F8F-22F6CFEB8BEE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label(score):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score &gt;= 50: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return "Pass"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print(label(49))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B924F-D63A-47C7-B5BC-FD495B82F265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3E1AB-AABC-4966-AF79-C5474C4F0E9F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4E4EB5-8FD5-440E-A0B6-A162A91BCCF4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556D1-1E8F-4524-87F0-0E1E0825B433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Supply a return value for the failing route. Test scores 49, 50 and 51.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9A7E9F-2B7C-42A0-8E65-111CBFBD69EE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Repair: add return "Try again" after the if block, as on the previous slide.</a:t>
            </a:r>
          </a:p>
        </p:txBody>
      </p:sp>
    </p:spTree>
    <p:extLst>
      <p:ext uri="{BB962C8B-B14F-4D97-AF65-F5344CB8AC3E}">
        <p14:creationId xmlns:p14="http://schemas.microsoft.com/office/powerpoint/2010/main" val="3901613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34F669-20E6-4B17-92A0-1AE65F4B07B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Local names belong to a call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65E3BE-5417-4F4B-8243-99ED844A9781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C51818-3225-4DE7-AB74-8DB10649AC7C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add_bonus(score):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score = score + 5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score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print(add_bonus(score))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print(score)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1E16C6-32A2-43BA-9183-6D3BB7FAF79C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9E513-BBD8-455F-B55E-C2680B1BFFC7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159981-7E5D-4B45-9409-9D6E30D669E6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718C4-B740-477C-9336-FFF0BF13A128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parameter score is local to the call. Reassigning it does not reassign the caller's score.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E9E6A6-E4A3-4F14-A607-4BECA43FAF63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 keep the new value outside, use score = add_bonus(score).</a:t>
            </a:r>
          </a:p>
        </p:txBody>
      </p:sp>
    </p:spTree>
    <p:extLst>
      <p:ext uri="{BB962C8B-B14F-4D97-AF65-F5344CB8AC3E}">
        <p14:creationId xmlns:p14="http://schemas.microsoft.com/office/powerpoint/2010/main" val="2594746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E4BF74-DC70-4E07-9D90-37E7D82CCA9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a local name outside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BBE2B0-E545-4064-B99D-C4FB912E9F46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7DE7E2-5296-48C7-8652-02D94A011376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rectangle_area(width, height):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area = width * height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area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rectangle_area(6, 4)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print(area)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EDF18D-A3A0-4FE6-B97C-64622244E026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CD799E-AC5A-4322-B58F-4544F1CA35EB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NameError: area is local to the function.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5B552B-98F3-4148-B943-9A3D049F795F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repair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DB5ABF-0903-4F00-AE9E-77AF5ACF6992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Store the returned value in a caller variable, then print that variable.</a:t>
            </a:r>
          </a:p>
        </p:txBody>
      </p:sp>
    </p:spTree>
    <p:extLst>
      <p:ext uri="{BB962C8B-B14F-4D97-AF65-F5344CB8AC3E}">
        <p14:creationId xmlns:p14="http://schemas.microsoft.com/office/powerpoint/2010/main" val="3467527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E51BB3-102C-4073-8A4D-3E5B1381D7A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Repair: explicit data passing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65809E-5502-43C2-A4DB-3B81D984CC2B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0C60F3-E544-4214-8984-8D5680CE44F6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rectangle_area(width, height):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area = width * height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area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result = rectangle_area(6, 4)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print(result)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74FE95-20A1-440B-B3B6-40A09135D396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4F7C9D-2817-4444-855D-19E54EC887C3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8E9521-E6DC-41A5-A979-5E50FF0A6974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Names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7BB5F7-E0A3-419A-AB47-1FBD923CA425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area exists inside the call. result belongs to the caller. return passes the value between them.</a:t>
            </a:r>
          </a:p>
        </p:txBody>
      </p:sp>
    </p:spTree>
    <p:extLst>
      <p:ext uri="{BB962C8B-B14F-4D97-AF65-F5344CB8AC3E}">
        <p14:creationId xmlns:p14="http://schemas.microsoft.com/office/powerpoint/2010/main" val="2100385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E24185-AABC-4C1E-947E-257AFD21297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Local and global variables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D2E7F3-81FE-4D57-8D81-B10A36C6303F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43DD29-14AB-4698-91B9-110D7850439B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Parameters and names assigned inside a function normally belong to that call.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EB097-29E7-4CE6-88CF-8F98F1BAC9F8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Global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C83CBB-1FAF-4BBA-9A7B-434A1CC649DE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name assigned at the top level belongs to the module. Functions can read it unless a local name shadows 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554F1-6AAC-4B53-B8C9-A356881DBEAD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Clear data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5F3002-7737-4052-AD04-1635546109E2}"/>
              </a:ext>
            </a:extLst>
          </p:cNvPr>
          <p:cNvSpPr>
            <a:spLocks noGrp="1"/>
          </p:cNvSpPr>
          <p:nvPr/>
        </p:nvSpPr>
        <p:spPr>
          <a:xfrm>
            <a:off x="438150" y="44100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Prefer parameters for required inputs and return for results. Avoid functions that secretly change global variables.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E8F942-F7D0-410D-B12B-385B12774C6E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global can rebind a module-level name from inside a function, but these examples do not need it.</a:t>
            </a:r>
          </a:p>
        </p:txBody>
      </p:sp>
    </p:spTree>
    <p:extLst>
      <p:ext uri="{BB962C8B-B14F-4D97-AF65-F5344CB8AC3E}">
        <p14:creationId xmlns:p14="http://schemas.microsoft.com/office/powerpoint/2010/main" val="3899758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5716A51-3275-49BA-BC0D-A02E4AFBC8F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2: a temperature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B4092-4465-47FA-8250-5AB283818710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4E5D29-BEA9-4195-9940-7CBB889F34A6}"/>
              </a:ext>
            </a:extLst>
          </p:cNvPr>
          <p:cNvSpPr>
            <a:spLocks noGrp="1"/>
          </p:cNvSpPr>
          <p:nvPr/>
        </p:nvSpPr>
        <p:spPr>
          <a:xfrm>
            <a:off x="438150" y="18383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CE192D-75D2-4116-95EF-EB1CEF245E0A}"/>
              </a:ext>
            </a:extLst>
          </p:cNvPr>
          <p:cNvSpPr>
            <a:spLocks noGrp="1"/>
          </p:cNvSpPr>
          <p:nvPr/>
        </p:nvSpPr>
        <p:spPr>
          <a:xfrm>
            <a:off x="438150" y="22479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celsius_to_fahrenheit(celsius). Return celsius * 9 / 5 + 32. Keep input and print outside the function.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087E2E-0BA8-47EE-80B0-9BBEC1840920}"/>
              </a:ext>
            </a:extLst>
          </p:cNvPr>
          <p:cNvSpPr>
            <a:spLocks noGrp="1"/>
          </p:cNvSpPr>
          <p:nvPr/>
        </p:nvSpPr>
        <p:spPr>
          <a:xfrm>
            <a:off x="438150" y="303847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3A93C-9D6A-4765-AD66-3BF828095B6D}"/>
              </a:ext>
            </a:extLst>
          </p:cNvPr>
          <p:cNvSpPr>
            <a:spLocks noGrp="1"/>
          </p:cNvSpPr>
          <p:nvPr/>
        </p:nvSpPr>
        <p:spPr>
          <a:xfrm>
            <a:off x="438150" y="344805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 gives 32.0. 100 gives 212.0. -40 gives -40.0.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F28EBC-DE35-425B-B30B-9AE7ACFE496D}"/>
              </a:ext>
            </a:extLst>
          </p:cNvPr>
          <p:cNvSpPr>
            <a:spLocks noGrp="1"/>
          </p:cNvSpPr>
          <p:nvPr/>
        </p:nvSpPr>
        <p:spPr>
          <a:xfrm>
            <a:off x="438150" y="42386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Plan and explain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2E4740-6D2F-4287-A17D-F23B6044266F}"/>
              </a:ext>
            </a:extLst>
          </p:cNvPr>
          <p:cNvSpPr>
            <a:spLocks noGrp="1"/>
          </p:cNvSpPr>
          <p:nvPr/>
        </p:nvSpPr>
        <p:spPr>
          <a:xfrm>
            <a:off x="438150" y="46482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Call the function three times and compare each result with its expected value.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9387A-1BAC-48CE-AC79-51B2698EA2D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 independently, then compare the reasoning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67268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74EAC3-EB9C-4B6F-95D1-D590B425A9C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 solution and checks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18E380-D9B4-4FD7-8969-B0A05565FD9F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C9956C-3921-4EAD-B33C-BF649ED7F6FF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celsius_to_fahrenheit(celsius):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celsius * 9 / 5 + 32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print(celsius_to_fahrenheit(0))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print(celsius_to_fahrenheit(100))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print(celsius_to_fahrenheit(-40))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E2C12-D842-41AC-82CD-0E5C31FCB549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CEBB9-089A-4F63-AC71-6FFCA03674A5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32.0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212.0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-40.0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1A13A8-7F32-444F-A83E-034476865A2E}"/>
              </a:ext>
            </a:extLst>
          </p:cNvPr>
          <p:cNvSpPr>
            <a:spLocks noGrp="1"/>
          </p:cNvSpPr>
          <p:nvPr/>
        </p:nvSpPr>
        <p:spPr>
          <a:xfrm>
            <a:off x="7762875" y="30670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E650A2-8211-4323-A97A-699D4882157F}"/>
              </a:ext>
            </a:extLst>
          </p:cNvPr>
          <p:cNvSpPr>
            <a:spLocks noGrp="1"/>
          </p:cNvSpPr>
          <p:nvPr/>
        </p:nvSpPr>
        <p:spPr>
          <a:xfrm>
            <a:off x="7762875" y="34480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Accept a numeric temperature in Celsius and return its Fahrenheit equivalent.</a:t>
            </a:r>
          </a:p>
        </p:txBody>
      </p:sp>
    </p:spTree>
    <p:extLst>
      <p:ext uri="{BB962C8B-B14F-4D97-AF65-F5344CB8AC3E}">
        <p14:creationId xmlns:p14="http://schemas.microsoft.com/office/powerpoint/2010/main" val="2101562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2B04A7-B117-4B14-BA2E-840733475C3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Boolean function answers a question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1495CE-06E6-409C-B5FB-7C981925F8D5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0BA2AC-ECFC-4CE1-9C12-8FFA63F40364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is_even(number):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number % 2 ==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number in [3, 4, 0, -2]: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is_even(number):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print(number)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4CE3FC-B211-458C-9C92-69A12DE9789E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2C8196-CAA0-4D32-8314-7F54512BC8E7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96929E-9079-45E5-8BB8-C2C688CBE9BF}"/>
              </a:ext>
            </a:extLst>
          </p:cNvPr>
          <p:cNvSpPr>
            <a:spLocks noGrp="1"/>
          </p:cNvSpPr>
          <p:nvPr/>
        </p:nvSpPr>
        <p:spPr>
          <a:xfrm>
            <a:off x="7762875" y="30670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ADA977-47B3-4100-8762-2431CE562893}"/>
              </a:ext>
            </a:extLst>
          </p:cNvPr>
          <p:cNvSpPr>
            <a:spLocks noGrp="1"/>
          </p:cNvSpPr>
          <p:nvPr/>
        </p:nvSpPr>
        <p:spPr>
          <a:xfrm>
            <a:off x="7762875" y="34480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function returns True or False. if uses that result directly.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D0EB03-90A5-4C23-89AB-7BA4CA571042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integer inputs, a remainder of 0 means divisible by 2.</a:t>
            </a:r>
          </a:p>
        </p:txBody>
      </p:sp>
    </p:spTree>
    <p:extLst>
      <p:ext uri="{BB962C8B-B14F-4D97-AF65-F5344CB8AC3E}">
        <p14:creationId xmlns:p14="http://schemas.microsoft.com/office/powerpoint/2010/main" val="4130944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BB7C67-C0DB-419E-91D2-C9D4FEEDB6C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function can contain a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C762A3-A322-4EBE-ADD9-CE0149016C08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4C77F5-44A4-4017-A4FA-C3CB737C77B8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count_vowels(text):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count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letter in text.lower():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if letter in "aeiou":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    count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count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print(count_vowels("Education"))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7E6DE-5A83-4314-809D-0D3F2E435FA8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A4C8CF-EA92-4E6C-BBFE-7664A0BB7BBD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F99C0B-227D-4ECC-B79F-9468002D4DA0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 position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F73133-5098-42EA-95F9-4704A24BC2BD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 after the whole traversal. Each call starts its own counter at 0.</a:t>
            </a:r>
          </a:p>
        </p:txBody>
      </p:sp>
    </p:spTree>
    <p:extLst>
      <p:ext uri="{BB962C8B-B14F-4D97-AF65-F5344CB8AC3E}">
        <p14:creationId xmlns:p14="http://schemas.microsoft.com/office/powerpoint/2010/main" val="446878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99621FE-5A6A-49CB-AFC9-384D888E036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code: returning too soon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145860-5809-4CB2-99E3-B66A2A667E08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9934A7-6773-4E97-86AC-9731E7D7176D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count_vowels(text):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count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letter in text.lower():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if letter in "aeiou":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    count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return count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print(count_vowels("banana"))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454F8-DC01-4FA2-BDFB-1722C12FCC43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Actual 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F035F2-95B9-43D9-8A9E-6DC1E8E8E561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F0C6A2-5B87-4396-B71A-BA21B0CA61CF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78EF79-49D1-4CAA-9D12-2353EC99CC59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function stops after the first character. Move return so every character is visited.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237A27-D0F5-4638-9687-F630CE337205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repaired version returns 3 for banana and 0 for an empty string.</a:t>
            </a:r>
          </a:p>
        </p:txBody>
      </p:sp>
    </p:spTree>
    <p:extLst>
      <p:ext uri="{BB962C8B-B14F-4D97-AF65-F5344CB8AC3E}">
        <p14:creationId xmlns:p14="http://schemas.microsoft.com/office/powerpoint/2010/main" val="3922657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B5A1D6-593C-4EA1-B69B-14351BA4C88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Break, continue and return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571876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296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Statement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Where it acts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follows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96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break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Nearest enclosing loop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Continue after that loop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96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continue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Current loop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Next iteration or condition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96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return value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Current function call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Caller receives value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5A7BC78-6270-4181-B2CB-8BE784167BFB}"/>
              </a:ext>
            </a:extLst>
          </p:cNvPr>
          <p:cNvSpPr>
            <a:spLocks noGrp="1"/>
          </p:cNvSpPr>
          <p:nvPr/>
        </p:nvSpPr>
        <p:spPr>
          <a:xfrm>
            <a:off x="438150" y="5391150"/>
            <a:ext cx="11096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return inside a nested loop leaves the whole function call.</a:t>
            </a:r>
          </a:p>
        </p:txBody>
      </p:sp>
    </p:spTree>
    <p:extLst>
      <p:ext uri="{BB962C8B-B14F-4D97-AF65-F5344CB8AC3E}">
        <p14:creationId xmlns:p14="http://schemas.microsoft.com/office/powerpoint/2010/main" val="1108019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BFB0E8-15C2-4A24-B2A0-E8378245D99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Small automated tests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2149DB-E26F-46FB-B672-EA1ADF1C9645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B3A5DE-2EF5-4508-8447-0AC653127513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count_vowels(text):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count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letter in text.lower():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if letter in "aeiou":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    count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count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assert count_vowels("") ==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assert count_vowels("AE") == 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assert count_vowels("Sky!") ==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16949D-C362-4AEC-8E1A-77729DAC671F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A576B-1C24-4C84-9116-DB3D68264F62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 output: all assertions passed.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F755C0-0367-43E8-A10B-12A0227E7971}"/>
              </a:ext>
            </a:extLst>
          </p:cNvPr>
          <p:cNvSpPr>
            <a:spLocks noGrp="1"/>
          </p:cNvSpPr>
          <p:nvPr/>
        </p:nvSpPr>
        <p:spPr>
          <a:xfrm>
            <a:off x="7762875" y="27813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8F12DB-DDF8-46C8-96C4-30DA6F123B4F}"/>
              </a:ext>
            </a:extLst>
          </p:cNvPr>
          <p:cNvSpPr>
            <a:spLocks noGrp="1"/>
          </p:cNvSpPr>
          <p:nvPr/>
        </p:nvSpPr>
        <p:spPr>
          <a:xfrm>
            <a:off x="7762875" y="31623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false assertion raises AssertionError. Expected results should come from the requirement.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E5EB8-3DC5-45CB-BFE9-43E2FAE31A21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Assertions are development checks. Use normal validation for user input.</a:t>
            </a:r>
          </a:p>
        </p:txBody>
      </p:sp>
    </p:spTree>
    <p:extLst>
      <p:ext uri="{BB962C8B-B14F-4D97-AF65-F5344CB8AC3E}">
        <p14:creationId xmlns:p14="http://schemas.microsoft.com/office/powerpoint/2010/main" val="3023588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7C7A42-C89C-4FDD-90DC-8BA44E70637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useful function contract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29F31-021C-43B8-BCC7-4B8103A795A3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89F675-32E0-41CB-B93C-71EBD8BB73E0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count_vowels accepts a string. It treats A, E, I, O and U like lowercase vowels.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24E85-F659-4D18-A583-B215B38651E1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280DF-7F2E-4D57-9005-140A32AAE56C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It returns an integer count. Empty input returns 0.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8B7B27-7EF5-4A50-B20B-A352CD60C2F1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Behaviour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E4740-A7C2-433E-B095-786A88D571CB}"/>
              </a:ext>
            </a:extLst>
          </p:cNvPr>
          <p:cNvSpPr>
            <a:spLocks noGrp="1"/>
          </p:cNvSpPr>
          <p:nvPr/>
        </p:nvSpPr>
        <p:spPr>
          <a:xfrm>
            <a:off x="438150" y="44100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It does not ask for input or print. This makes automated checks straightforward.</a:t>
            </a:r>
          </a:p>
        </p:txBody>
      </p:sp>
    </p:spTree>
    <p:extLst>
      <p:ext uri="{BB962C8B-B14F-4D97-AF65-F5344CB8AC3E}">
        <p14:creationId xmlns:p14="http://schemas.microsoft.com/office/powerpoint/2010/main" val="35616945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2933FC-3158-46AD-A675-17620D625F6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docstring explains the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BC97DF-3D96-4B03-9FB1-F9FE82531DA3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4C029E-F83E-483F-BD20-FB6FD8114B39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square(number):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"""Return number multiplied by itself."""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number * number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5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print(square(6))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7AFD41-5538-4910-88E6-5EA09335EF6A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661C4F-B32C-4103-8366-A1BAA1E0215B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97E95-0D1E-4318-8A10-C2B81FB419BC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Documentation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9FADA9-52C3-4973-9908-2E7DDB118AB7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docstring is the first statement in the body. It explains purpose, inputs or results.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A4B684-7EB3-4569-82F8-B957D710C5B2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Choose a meaningful name and a short, useful description.</a:t>
            </a:r>
          </a:p>
        </p:txBody>
      </p:sp>
    </p:spTree>
    <p:extLst>
      <p:ext uri="{BB962C8B-B14F-4D97-AF65-F5344CB8AC3E}">
        <p14:creationId xmlns:p14="http://schemas.microsoft.com/office/powerpoint/2010/main" val="3488829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9EB9107-32A6-4339-9213-FE69AA9D5CC5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Functions can call other 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DC6FBF-134C-459A-9C27-524077D44066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D12E7-324F-4548-AB3B-43B187E48BD8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square(number):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number * number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sum_of_squares(a, b):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return square(a) + square(b)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print(sum_of_squares(3, 4))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B69183-0570-4E63-84B8-82B185220D25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9B2E1B-C880-4D43-A02A-B444C05471DC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AD5D51-4710-48B2-8C92-549DB7ACE3EF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E09F4-6F72-4277-BF04-A5A537A73BA0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square(3) returns 9. square(4) returns 16. Their sum returns to the caller.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7771B-FED1-43B9-881C-3B1C7DFB38B0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Both definitions must have executed before the bottom call runs.</a:t>
            </a:r>
          </a:p>
        </p:txBody>
      </p:sp>
    </p:spTree>
    <p:extLst>
      <p:ext uri="{BB962C8B-B14F-4D97-AF65-F5344CB8AC3E}">
        <p14:creationId xmlns:p14="http://schemas.microsoft.com/office/powerpoint/2010/main" val="2589677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EF2567-C19C-4CB5-B247-6502B398E26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shared turtle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D4DE77-0102-422F-AD5A-95F1374535E3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2FD382-F14C-47A3-910E-E644CD0A4DB5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import turtle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screen = turtle.Screen()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screen.setup(800, 650)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 = turtle.Turtle()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t.speed(0)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# Definitions and calls go here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turtle.done()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D90E12-8FD0-4612-94A6-A73274162D1D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Where to put 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E529A7-AFEA-44BF-AE1D-EFD7CD0E4DE1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Place the following drawing definitions and calls before turtle.done().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1EBFA-2CCB-4DC3-AA1D-DCA9F709B960}"/>
              </a:ext>
            </a:extLst>
          </p:cNvPr>
          <p:cNvSpPr>
            <a:spLocks noGrp="1"/>
          </p:cNvSpPr>
          <p:nvPr/>
        </p:nvSpPr>
        <p:spPr>
          <a:xfrm>
            <a:off x="7762875" y="30670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Complete programs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94B4EF-7FD2-4B35-88CA-BF1D8F3FC46F}"/>
              </a:ext>
            </a:extLst>
          </p:cNvPr>
          <p:cNvSpPr>
            <a:spLocks noGrp="1"/>
          </p:cNvSpPr>
          <p:nvPr/>
        </p:nvSpPr>
        <p:spPr>
          <a:xfrm>
            <a:off x="7762875" y="34480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the code pack in a desktop Python environment with turtle/tkinter.</a:t>
            </a:r>
          </a:p>
        </p:txBody>
      </p:sp>
    </p:spTree>
    <p:extLst>
      <p:ext uri="{BB962C8B-B14F-4D97-AF65-F5344CB8AC3E}">
        <p14:creationId xmlns:p14="http://schemas.microsoft.com/office/powerpoint/2010/main" val="730446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26C0D1-4873-4EF3-A123-98785841915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turtle function receives the turtle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2EDF77-D47C-4B71-953F-7436E9B6EFD6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2063B-8246-4FA9-9B0F-2C29E2CE7559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draw_square(pen, size):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pen.forward(size)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pen.left(90)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draw_square(t, 80)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6736" y="1466850"/>
            <a:ext cx="3682278" cy="3000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876D90-83D3-46CA-82C4-19800649180D}"/>
              </a:ext>
            </a:extLst>
          </p:cNvPr>
          <p:cNvSpPr>
            <a:spLocks noGrp="1"/>
          </p:cNvSpPr>
          <p:nvPr/>
        </p:nvSpPr>
        <p:spPr>
          <a:xfrm>
            <a:off x="7762875" y="4552950"/>
            <a:ext cx="38862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pen receives the turtle object. size receives the side length. The turtle draws a square and finishes at its starting position and heading.</a:t>
            </a:r>
          </a:p>
        </p:txBody>
      </p:sp>
    </p:spTree>
    <p:extLst>
      <p:ext uri="{BB962C8B-B14F-4D97-AF65-F5344CB8AC3E}">
        <p14:creationId xmlns:p14="http://schemas.microsoft.com/office/powerpoint/2010/main" val="3790365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9AE263-E42C-4DE4-A561-19A31085399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Reuse the drawing at a new position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B92679-1236-4DD0-9FF6-156A1C8EF2FF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FB272-77D0-46AB-835E-74CA6E144382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draw_square(pen, size):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pen.forward(size)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pen.left(90)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draw_square(t, 50)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t.penup()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t.goto(100, 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t.pendown()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draw_square(t, 90)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6736" y="1466850"/>
            <a:ext cx="3682278" cy="3000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86F307C-5E01-4376-92AA-6CAE823EB452}"/>
              </a:ext>
            </a:extLst>
          </p:cNvPr>
          <p:cNvSpPr>
            <a:spLocks noGrp="1"/>
          </p:cNvSpPr>
          <p:nvPr/>
        </p:nvSpPr>
        <p:spPr>
          <a:xfrm>
            <a:off x="7762875" y="4552950"/>
            <a:ext cx="38862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Two squares with side lengths 50 and 90. No joining line. One definition draws both sizes. The caller controls position.</a:t>
            </a:r>
          </a:p>
        </p:txBody>
      </p:sp>
    </p:spTree>
    <p:extLst>
      <p:ext uri="{BB962C8B-B14F-4D97-AF65-F5344CB8AC3E}">
        <p14:creationId xmlns:p14="http://schemas.microsoft.com/office/powerpoint/2010/main" val="19687197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BBEF5B-CAB4-4C18-9878-6CADFFA9EC2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Parameters can refer to mutable objects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E36F1-9529-43C3-B08C-051967A7F60B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1ABA2C-9E09-4C35-B595-8F407DD29DE4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add_score(scores, value):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scores.append(value)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marks = [40, 60]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add_score(marks, 80)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print(marks)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86C6C1-AC45-4A16-ACAC-772C79D141A6}"/>
              </a:ext>
            </a:extLst>
          </p:cNvPr>
          <p:cNvSpPr>
            <a:spLocks noGrp="1"/>
          </p:cNvSpPr>
          <p:nvPr/>
        </p:nvSpPr>
        <p:spPr>
          <a:xfrm>
            <a:off x="7762875" y="167640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343C3-C165-47B1-8B9D-160A117797A4}"/>
              </a:ext>
            </a:extLst>
          </p:cNvPr>
          <p:cNvSpPr>
            <a:spLocks noGrp="1"/>
          </p:cNvSpPr>
          <p:nvPr/>
        </p:nvSpPr>
        <p:spPr>
          <a:xfrm>
            <a:off x="7762875" y="20574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[40, 60, 80]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CC165C-DDF5-4C8E-A9EB-AFBBCB025A81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943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Shared object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0807A2-F151-4E8C-BD55-00AB81BEEBAE}"/>
              </a:ext>
            </a:extLst>
          </p:cNvPr>
          <p:cNvSpPr>
            <a:spLocks noGrp="1"/>
          </p:cNvSpPr>
          <p:nvPr/>
        </p:nvSpPr>
        <p:spPr>
          <a:xfrm>
            <a:off x="7762875" y="28765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scores and marks refer to the same list during this call. append changes that list.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D5707F-5F9F-4268-ADBC-8833A7C802D9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Reassigning a local name and mutating a shared object have different effects.</a:t>
            </a:r>
          </a:p>
        </p:txBody>
      </p:sp>
    </p:spTree>
    <p:extLst>
      <p:ext uri="{BB962C8B-B14F-4D97-AF65-F5344CB8AC3E}">
        <p14:creationId xmlns:p14="http://schemas.microsoft.com/office/powerpoint/2010/main" val="37848921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FCDEF3-4320-449B-9029-A2C44E3F63E6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small modular program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A4F21E-B78E-4657-8BBA-64BE30042DFC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and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349E0E-549B-47D5-9DAF-68E01C98434F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caller reads values and displays results.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04905-5E30-4F63-8E56-ADA7943FF40B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F20A49-6FD3-476B-94D6-2E34A5F530EC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function calculates or classifies using its parameters.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F729FC-22B3-43AE-ACB6-2CF52BC450D9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Benefits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79DD8-D5AC-4821-9127-F8E3FB7418F8}"/>
              </a:ext>
            </a:extLst>
          </p:cNvPr>
          <p:cNvSpPr>
            <a:spLocks noGrp="1"/>
          </p:cNvSpPr>
          <p:nvPr/>
        </p:nvSpPr>
        <p:spPr>
          <a:xfrm>
            <a:off x="438150" y="44100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 can test the calculation without typing input and reuse it in another program.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52E861-566B-4205-ADB8-90CC5840711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function should have one clear purpose. A short function is easier to reason about.</a:t>
            </a:r>
          </a:p>
        </p:txBody>
      </p:sp>
    </p:spTree>
    <p:extLst>
      <p:ext uri="{BB962C8B-B14F-4D97-AF65-F5344CB8AC3E}">
        <p14:creationId xmlns:p14="http://schemas.microsoft.com/office/powerpoint/2010/main" val="144361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E94982-7203-42FC-90A9-729543DA784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3: a reusable polygon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B0FF6F-079A-4C0F-9B6A-AEA0EB67DCF7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86E232-F949-45F4-A59E-7B7B98BC2DE1}"/>
              </a:ext>
            </a:extLst>
          </p:cNvPr>
          <p:cNvSpPr>
            <a:spLocks noGrp="1"/>
          </p:cNvSpPr>
          <p:nvPr/>
        </p:nvSpPr>
        <p:spPr>
          <a:xfrm>
            <a:off x="438150" y="18383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5CC34-B9BB-41D1-98B1-F4B406B42F8D}"/>
              </a:ext>
            </a:extLst>
          </p:cNvPr>
          <p:cNvSpPr>
            <a:spLocks noGrp="1"/>
          </p:cNvSpPr>
          <p:nvPr/>
        </p:nvSpPr>
        <p:spPr>
          <a:xfrm>
            <a:off x="438150" y="22479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draw_polygon(pen, sides, length). Use a loop and an exterior turn of 360 / sides. Call it for a triangle and a hexagon.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5DB9B-6C13-4B92-806B-F75003C36383}"/>
              </a:ext>
            </a:extLst>
          </p:cNvPr>
          <p:cNvSpPr>
            <a:spLocks noGrp="1"/>
          </p:cNvSpPr>
          <p:nvPr/>
        </p:nvSpPr>
        <p:spPr>
          <a:xfrm>
            <a:off x="438150" y="3214687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checks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6D462E-57FF-4BB7-BE25-A84C06662D68}"/>
              </a:ext>
            </a:extLst>
          </p:cNvPr>
          <p:cNvSpPr>
            <a:spLocks noGrp="1"/>
          </p:cNvSpPr>
          <p:nvPr/>
        </p:nvSpPr>
        <p:spPr>
          <a:xfrm>
            <a:off x="438150" y="3624262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With sides 3 or 6, the shape closes and the final heading matches the starting heading.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43644-967C-4B6D-A255-A06B070C8837}"/>
              </a:ext>
            </a:extLst>
          </p:cNvPr>
          <p:cNvSpPr>
            <a:spLocks noGrp="1"/>
          </p:cNvSpPr>
          <p:nvPr/>
        </p:nvSpPr>
        <p:spPr>
          <a:xfrm>
            <a:off x="438150" y="42386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Plan and explain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5A184-D0FE-447D-A55F-1FC4B366266F}"/>
              </a:ext>
            </a:extLst>
          </p:cNvPr>
          <p:cNvSpPr>
            <a:spLocks noGrp="1"/>
          </p:cNvSpPr>
          <p:nvPr/>
        </p:nvSpPr>
        <p:spPr>
          <a:xfrm>
            <a:off x="438150" y="46482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Assume sides is an integer at least 3 and length is positive. Move with penup between calls.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08412F-7166-463C-83E1-81CB46C7509F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 independently, then compare the reasoning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31761326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FA5747-2C94-4DEF-AC08-F03CD21E3B5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3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F2572D-701F-4608-B5BF-E372295D4840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DF782E-F8CA-42FE-99DF-0C70A06B1CB1}"/>
              </a:ext>
            </a:extLst>
          </p:cNvPr>
          <p:cNvSpPr>
            <a:spLocks noGrp="1"/>
          </p:cNvSpPr>
          <p:nvPr/>
        </p:nvSpPr>
        <p:spPr>
          <a:xfrm>
            <a:off x="438150" y="1762125"/>
            <a:ext cx="70294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def draw_polygon(pen, sides, length):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side in range(sides):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pen.forward(length)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pen.left(360 / sides)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draw_polygon(t, 3, 80)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t.penup()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t.goto(150, 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t.pendown()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draw_polygon(t, 6, 50)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6736" y="1466850"/>
            <a:ext cx="3682278" cy="3000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E07C61-5E57-4AB6-AD91-1BDBECC27604}"/>
              </a:ext>
            </a:extLst>
          </p:cNvPr>
          <p:cNvSpPr>
            <a:spLocks noGrp="1"/>
          </p:cNvSpPr>
          <p:nvPr/>
        </p:nvSpPr>
        <p:spPr>
          <a:xfrm>
            <a:off x="7762875" y="4552950"/>
            <a:ext cx="38862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sides is an integer of at least 3. length is positive. The total turn is 360 degrees for each call. Tiny coordinate rounding is normal.</a:t>
            </a:r>
          </a:p>
        </p:txBody>
      </p:sp>
    </p:spTree>
    <p:extLst>
      <p:ext uri="{BB962C8B-B14F-4D97-AF65-F5344CB8AC3E}">
        <p14:creationId xmlns:p14="http://schemas.microsoft.com/office/powerpoint/2010/main" val="1141549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933A40-507F-4DB5-9B00-41D0E4FADE35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Exit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C0AEA-9541-4C3E-BD25-84FEAF29BAAB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Definitions and calls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C5EC2E-149B-4929-8D06-3ECB7912A2AF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happens when def executes? What is the difference between a parameter and an argument?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1DFC12-36A3-44DE-80B7-F2A6B062CE62}"/>
              </a:ext>
            </a:extLst>
          </p:cNvPr>
          <p:cNvSpPr>
            <a:spLocks noGrp="1"/>
          </p:cNvSpPr>
          <p:nvPr/>
        </p:nvSpPr>
        <p:spPr>
          <a:xfrm>
            <a:off x="438150" y="307657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702FD1-DC4C-4607-92EF-7E943E1E028F}"/>
              </a:ext>
            </a:extLst>
          </p:cNvPr>
          <p:cNvSpPr>
            <a:spLocks noGrp="1"/>
          </p:cNvSpPr>
          <p:nvPr/>
        </p:nvSpPr>
        <p:spPr>
          <a:xfrm>
            <a:off x="438150" y="348615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does return differ from print? Why might a function return None?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3B5B13-54E0-4123-BC66-83B17A46388C}"/>
              </a:ext>
            </a:extLst>
          </p:cNvPr>
          <p:cNvSpPr>
            <a:spLocks noGrp="1"/>
          </p:cNvSpPr>
          <p:nvPr/>
        </p:nvSpPr>
        <p:spPr>
          <a:xfrm>
            <a:off x="438150" y="42767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Scope and loops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2B523-3D73-479B-9F36-C2C7B5B52A5A}"/>
              </a:ext>
            </a:extLst>
          </p:cNvPr>
          <p:cNvSpPr>
            <a:spLocks noGrp="1"/>
          </p:cNvSpPr>
          <p:nvPr/>
        </p:nvSpPr>
        <p:spPr>
          <a:xfrm>
            <a:off x="438150" y="4686300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Can the caller use a local name directly? Why does return usually follow an accumulator loop?</a:t>
            </a:r>
          </a:p>
        </p:txBody>
      </p:sp>
    </p:spTree>
    <p:extLst>
      <p:ext uri="{BB962C8B-B14F-4D97-AF65-F5344CB8AC3E}">
        <p14:creationId xmlns:p14="http://schemas.microsoft.com/office/powerpoint/2010/main" val="387373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6A3936F-6DA7-4139-B141-3FF78470AC1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Exit answers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81FC02-610A-4D51-8EEF-8CE0FDB42602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Definitions and calls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A746A-3A45-4629-B6EE-79D294F423CA}"/>
              </a:ext>
            </a:extLst>
          </p:cNvPr>
          <p:cNvSpPr>
            <a:spLocks noGrp="1"/>
          </p:cNvSpPr>
          <p:nvPr/>
        </p:nvSpPr>
        <p:spPr>
          <a:xfrm>
            <a:off x="438150" y="200977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 creates a function. Parameters receive the argument values supplied by a call.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A6F43F-6350-48AA-AE3A-D6B21C824EC2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FFF14-8406-4A33-B6BC-0154097D4985}"/>
              </a:ext>
            </a:extLst>
          </p:cNvPr>
          <p:cNvSpPr>
            <a:spLocks noGrp="1"/>
          </p:cNvSpPr>
          <p:nvPr/>
        </p:nvSpPr>
        <p:spPr>
          <a:xfrm>
            <a:off x="438150" y="3209925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 sends a value to the caller. print displays text. A call that reaches the end returns None.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FFED1B-7674-40BF-B9F3-38AFAC1D5D8C}"/>
              </a:ext>
            </a:extLst>
          </p:cNvPr>
          <p:cNvSpPr>
            <a:spLocks noGrp="1"/>
          </p:cNvSpPr>
          <p:nvPr/>
        </p:nvSpPr>
        <p:spPr>
          <a:xfrm>
            <a:off x="438150" y="4176712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Scope and loops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FF74A-C9EE-45ED-A653-170D70A8679D}"/>
              </a:ext>
            </a:extLst>
          </p:cNvPr>
          <p:cNvSpPr>
            <a:spLocks noGrp="1"/>
          </p:cNvSpPr>
          <p:nvPr/>
        </p:nvSpPr>
        <p:spPr>
          <a:xfrm>
            <a:off x="438150" y="4586287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local name belongs to the call. Return after accumulation so all items contribute.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E4A06-6468-4BED-B9B1-D19319AF9688}"/>
              </a:ext>
            </a:extLst>
          </p:cNvPr>
          <p:cNvSpPr>
            <a:spLocks noGrp="1"/>
          </p:cNvSpPr>
          <p:nvPr/>
        </p:nvSpPr>
        <p:spPr>
          <a:xfrm>
            <a:off x="438150" y="5672137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Next: decompose larger problems into several small functions with clear contracts.</a:t>
            </a:r>
          </a:p>
        </p:txBody>
      </p:sp>
    </p:spTree>
    <p:extLst>
      <p:ext uri="{BB962C8B-B14F-4D97-AF65-F5344CB8AC3E}">
        <p14:creationId xmlns:p14="http://schemas.microsoft.com/office/powerpoint/2010/main" val="301112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7911CF-64EB-45D9-95F4-0CA0FBA4D35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Course alignment and reading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21AEB3-1F04-4992-9F95-AA07B08ABC38}"/>
              </a:ext>
            </a:extLst>
          </p:cNvPr>
          <p:cNvSpPr>
            <a:spLocks noGrp="1"/>
          </p:cNvSpPr>
          <p:nvPr/>
        </p:nvSpPr>
        <p:spPr>
          <a:xfrm>
            <a:off x="438150" y="1968012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to Think Like a Computer Scientist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3693A7-0FA0-439D-BE11-19FD4FED6A17}"/>
              </a:ext>
            </a:extLst>
          </p:cNvPr>
          <p:cNvSpPr>
            <a:spLocks noGrp="1"/>
          </p:cNvSpPr>
          <p:nvPr/>
        </p:nvSpPr>
        <p:spPr>
          <a:xfrm>
            <a:off x="438150" y="2377587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Learning with Python 3, §§4.1-4.7, 6.1-6.7 and 11.13-11.15.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ECB729-27DF-4DCC-82D5-70CA7E8BF29C}"/>
              </a:ext>
            </a:extLst>
          </p:cNvPr>
          <p:cNvSpPr>
            <a:spLocks noGrp="1"/>
          </p:cNvSpPr>
          <p:nvPr/>
        </p:nvSpPr>
        <p:spPr>
          <a:xfrm>
            <a:off x="438150" y="3168162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Other core books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D3BE4-F1C8-4933-BD96-9C166C8806B8}"/>
              </a:ext>
            </a:extLst>
          </p:cNvPr>
          <p:cNvSpPr>
            <a:spLocks noGrp="1"/>
          </p:cNvSpPr>
          <p:nvPr/>
        </p:nvSpPr>
        <p:spPr>
          <a:xfrm>
            <a:off x="438150" y="3577737"/>
            <a:ext cx="11096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Kalb, Learn to Program with Python 3, Chapter 4. OCR Computer Science, Chapter 56, subroutines and scope. Recursion is a later topic.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CEFC9-F94E-439B-9D2E-629691B1627C}"/>
              </a:ext>
            </a:extLst>
          </p:cNvPr>
          <p:cNvSpPr>
            <a:spLocks noGrp="1"/>
          </p:cNvSpPr>
          <p:nvPr/>
        </p:nvSpPr>
        <p:spPr>
          <a:xfrm>
            <a:off x="438150" y="4663587"/>
            <a:ext cx="1109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the examples and exercises to practise the specified Python skills.</a:t>
            </a:r>
          </a:p>
        </p:txBody>
      </p:sp>
    </p:spTree>
    <p:extLst>
      <p:ext uri="{BB962C8B-B14F-4D97-AF65-F5344CB8AC3E}">
        <p14:creationId xmlns:p14="http://schemas.microsoft.com/office/powerpoint/2010/main" val="214241062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Microsoft Office PowerPoint</Application>
  <PresentationFormat>Widescreen</PresentationFormat>
  <Paragraphs>525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Arial</vt:lpstr>
      <vt:lpstr>DejaVu Sans Mono</vt:lpstr>
      <vt:lpstr>2_Office Theme</vt:lpstr>
      <vt:lpstr>15_Office Theme</vt:lpstr>
      <vt:lpstr>3_Office Theme</vt:lpstr>
      <vt:lpstr>21_Office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Katy Ruth Halpin</dc:creator>
  <cp:lastModifiedBy>Séamus Cummins</cp:lastModifiedBy>
  <cp:revision>9</cp:revision>
  <dcterms:created xsi:type="dcterms:W3CDTF">2022-05-19T09:57:07Z</dcterms:created>
  <dcterms:modified xsi:type="dcterms:W3CDTF">2026-10-22T13:41:16Z</dcterms:modified>
</cp:coreProperties>
</file>