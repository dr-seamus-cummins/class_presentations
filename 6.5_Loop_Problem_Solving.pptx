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1"/>
    <p:sldMasterId id="2147483814" r:id="rId2"/>
    <p:sldMasterId id="2147483822" r:id="rId3"/>
    <p:sldMasterId id="2147483828" r:id="rId4"/>
  </p:sldMasterIdLst>
  <p:notesMasterIdLst>
    <p:notesMasterId r:id="rId4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5F8"/>
    <a:srgbClr val="FFC800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4F9AD7-0636-43FC-942D-C6CC0BC73227}" v="2" dt="2026-10-12T11:12:10.9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36"/>
    <p:restoredTop sz="94716"/>
  </p:normalViewPr>
  <p:slideViewPr>
    <p:cSldViewPr snapToGrid="0" snapToObjects="1">
      <p:cViewPr varScale="1">
        <p:scale>
          <a:sx n="82" d="100"/>
          <a:sy n="82" d="100"/>
        </p:scale>
        <p:origin x="6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8669B-D854-4764-9482-9FA95FFBD9D8}" type="datetimeFigureOut">
              <a:rPr lang="en-IE" smtClean="0"/>
              <a:t>12/10/2026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024BA-8A3D-4078-80EE-F9C62799C05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65311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1BA59F3-AEB3-204E-8300-58EF74F8C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108" y="584846"/>
            <a:ext cx="7904205" cy="1293362"/>
          </a:xfrm>
        </p:spPr>
        <p:txBody>
          <a:bodyPr anchor="t">
            <a:normAutofit/>
          </a:bodyPr>
          <a:lstStyle>
            <a:lvl1pPr algn="l">
              <a:defRPr sz="44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F77F7AA-28BF-274E-AEFB-1D0AD137F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108" y="2135639"/>
            <a:ext cx="7904205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934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1434198"/>
            <a:ext cx="7737389" cy="210382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466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504" y="338139"/>
            <a:ext cx="7657242" cy="214557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504" y="2874106"/>
            <a:ext cx="5622496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2456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0543C47-599B-DE42-8EE6-81B465151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86" y="1514304"/>
            <a:ext cx="7737390" cy="1914695"/>
          </a:xfrm>
        </p:spPr>
        <p:txBody>
          <a:bodyPr>
            <a:normAutofit/>
          </a:bodyPr>
          <a:lstStyle>
            <a:lvl1pPr>
              <a:defRPr sz="54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896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3639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14EE-B654-E64C-B5B5-7F1F189F0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689" y="1548671"/>
            <a:ext cx="10073887" cy="1880329"/>
          </a:xfrm>
        </p:spPr>
        <p:txBody>
          <a:bodyPr anchor="t">
            <a:normAutofit/>
          </a:bodyPr>
          <a:lstStyle>
            <a:lvl1pPr algn="l">
              <a:defRPr sz="44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F341D-9A29-4142-A870-A50D3D604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689" y="3655519"/>
            <a:ext cx="10073887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75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1327306"/>
            <a:ext cx="10311878" cy="932334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2581728"/>
            <a:ext cx="10311878" cy="306316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823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504" y="893033"/>
            <a:ext cx="9011872" cy="214557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504" y="3429000"/>
            <a:ext cx="9011872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3010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10F7-1811-F248-ACDB-8D956755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534826"/>
            <a:ext cx="10692878" cy="9323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F6C81-EA7E-5B48-8E0D-ED145E2BFD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3930" y="1768358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E4CFA-B073-6840-A434-12B36BFC2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55208" y="1788361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171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FC41-D2B3-2241-865F-3F932D6F2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76" y="389509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9F22-E1D8-3C43-B4F5-B34A5C88F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876" y="2011222"/>
            <a:ext cx="5157787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ECD05-BE49-AF44-B530-C776D0552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0876" y="2965165"/>
            <a:ext cx="5157787" cy="33496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95936D-1625-A24C-A1D4-1C0B4EB803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33288" y="2011222"/>
            <a:ext cx="5183188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50112F-DF30-FF48-A146-E87A8CF507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33288" y="2965165"/>
            <a:ext cx="5183188" cy="334962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763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F670-BA49-0942-84B7-8AF0DFA1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34" y="1241962"/>
            <a:ext cx="10311878" cy="9323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9929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38422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14EE-B654-E64C-B5B5-7F1F189F0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465" y="875229"/>
            <a:ext cx="5383427" cy="1293362"/>
          </a:xfrm>
        </p:spPr>
        <p:txBody>
          <a:bodyPr anchor="t">
            <a:normAutofit/>
          </a:bodyPr>
          <a:lstStyle>
            <a:lvl1pPr algn="l">
              <a:buNone/>
              <a:defRPr sz="44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F341D-9A29-4142-A870-A50D3D604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2465" y="2426022"/>
            <a:ext cx="5383427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571724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buNone/>
              <a:defRPr sz="36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1" y="2719301"/>
            <a:ext cx="5562600" cy="2103824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25700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34" y="1166042"/>
            <a:ext cx="5284745" cy="2145570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6434" y="3566083"/>
            <a:ext cx="5284745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804613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F670-BA49-0942-84B7-8AF0DFA1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86" y="1514304"/>
            <a:ext cx="5389606" cy="1914695"/>
          </a:xfrm>
        </p:spPr>
        <p:txBody>
          <a:bodyPr>
            <a:normAutofit/>
          </a:bodyPr>
          <a:lstStyle>
            <a:lvl1pPr>
              <a:buNone/>
              <a:defRPr sz="5400" b="1"/>
            </a:lvl1pPr>
          </a:lstStyle>
          <a:p>
            <a: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738652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9683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14EE-B654-E64C-B5B5-7F1F189F0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689" y="1548671"/>
            <a:ext cx="10073887" cy="1880329"/>
          </a:xfrm>
        </p:spPr>
        <p:txBody>
          <a:bodyPr anchor="t">
            <a:normAutofit/>
          </a:bodyPr>
          <a:lstStyle>
            <a:lvl1pPr algn="l">
              <a:buNone/>
              <a:defRPr sz="44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F341D-9A29-4142-A870-A50D3D604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689" y="3655519"/>
            <a:ext cx="10073887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970308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1327306"/>
            <a:ext cx="10311878" cy="932334"/>
          </a:xfrm>
        </p:spPr>
        <p:txBody>
          <a:bodyPr>
            <a:normAutofit/>
          </a:bodyPr>
          <a:lstStyle>
            <a:lvl1pPr>
              <a:buNone/>
              <a:defRPr sz="36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2581728"/>
            <a:ext cx="10311878" cy="3063167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8034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504" y="893033"/>
            <a:ext cx="9011872" cy="2145570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</a:t>
            </a:r>
            <a:br/>
            <a:r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504" y="3429000"/>
            <a:ext cx="9011872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4928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10F7-1811-F248-ACDB-8D956755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534826"/>
            <a:ext cx="10692878" cy="932334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F6C81-EA7E-5B48-8E0D-ED145E2BF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1768358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E4CFA-B073-6840-A434-12B36BFC25F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855208" y="1788361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300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FC41-D2B3-2241-865F-3F932D6F2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76" y="389509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9F22-E1D8-3C43-B4F5-B34A5C88F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876" y="2011222"/>
            <a:ext cx="5157787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ECD05-BE49-AF44-B530-C776D05525B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00876" y="2965165"/>
            <a:ext cx="5157787" cy="3349625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95936D-1625-A24C-A1D4-1C0B4EB8033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733288" y="2011222"/>
            <a:ext cx="5183188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50112F-DF30-FF48-A146-E87A8CF5070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733288" y="2965165"/>
            <a:ext cx="5183188" cy="3349625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45950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F670-BA49-0942-84B7-8AF0DFA1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34" y="1241962"/>
            <a:ext cx="10311878" cy="932334"/>
          </a:xfrm>
        </p:spPr>
        <p:txBody>
          <a:bodyPr/>
          <a:lstStyle/>
          <a:p>
            <a: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138741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1523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3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9" Type="http://schemas.openxmlformats.org/officeDocument/2006/relationships/image" Target="../media/image6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290986"/>
            <a:ext cx="7737389" cy="9323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930" y="1471269"/>
            <a:ext cx="7737389" cy="21038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4902484" y="3619542"/>
            <a:ext cx="3178835" cy="1101047"/>
          </a:xfrm>
          <a:prstGeom prst="rect">
            <a:avLst/>
          </a:prstGeom>
          <a:solidFill>
            <a:srgbClr val="00324D"/>
          </a:solidFill>
          <a:ln>
            <a:solidFill>
              <a:srgbClr val="0032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4902484" y="3744615"/>
            <a:ext cx="3178835" cy="850900"/>
            <a:chOff x="4902484" y="3927475"/>
            <a:chExt cx="3178835" cy="850900"/>
          </a:xfrm>
        </p:grpSpPr>
        <p:sp>
          <p:nvSpPr>
            <p:cNvPr id="8" name="Rectangle 7"/>
            <p:cNvSpPr/>
            <p:nvPr userDrawn="1"/>
          </p:nvSpPr>
          <p:spPr>
            <a:xfrm>
              <a:off x="4902484" y="3971925"/>
              <a:ext cx="3178835" cy="762000"/>
            </a:xfrm>
            <a:prstGeom prst="rect">
              <a:avLst/>
            </a:prstGeom>
            <a:solidFill>
              <a:srgbClr val="00324D"/>
            </a:solidFill>
            <a:ln>
              <a:solidFill>
                <a:srgbClr val="0032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372" b="7528"/>
            <a:stretch/>
          </p:blipFill>
          <p:spPr>
            <a:xfrm>
              <a:off x="4902484" y="3927475"/>
              <a:ext cx="3178835" cy="850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85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4" r:id="rId4"/>
    <p:sldLayoutId id="214748367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386" y="620170"/>
            <a:ext cx="10311878" cy="9323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3386" y="1840158"/>
            <a:ext cx="10311878" cy="4633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66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1501953"/>
            <a:ext cx="5537886" cy="932334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930" y="2768728"/>
            <a:ext cx="5537887" cy="2103824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309491-1086-4A02-AD5B-663916A0431C}"/>
              </a:ext>
            </a:extLst>
          </p:cNvPr>
          <p:cNvSpPr>
            <a:spLocks noGrp="1"/>
          </p:cNvSpPr>
          <p:nvPr/>
        </p:nvSpPr>
        <p:spPr>
          <a:xfrm>
            <a:off x="343930" y="5101152"/>
            <a:ext cx="3793730" cy="1756848"/>
          </a:xfrm>
          <a:prstGeom prst="rect">
            <a:avLst/>
          </a:prstGeom>
          <a:solidFill>
            <a:srgbClr val="FFC800"/>
          </a:solidFill>
          <a:ln>
            <a:solidFill>
              <a:srgbClr val="FFC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9" name="Picture 4"/>
          <p:cNvPicPr>
            <a:picLocks noChangeAspect="1"/>
          </p:cNvPicPr>
          <p:nvPr/>
        </p:nvPicPr>
        <p:blipFill rotWithShape="1">
          <a:blip r:embed="rId8"/>
          <a:srcRect t="37353" b="10945"/>
          <a:stretch/>
        </p:blipFill>
        <p:spPr>
          <a:xfrm>
            <a:off x="323290" y="5653087"/>
            <a:ext cx="3806463" cy="82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641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962" y="498250"/>
            <a:ext cx="10311878" cy="932334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962" y="1718239"/>
            <a:ext cx="10311878" cy="429241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6128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004E88-105B-4A6C-A131-F794F518A187}"/>
              </a:ext>
            </a:extLst>
          </p:cNvPr>
          <p:cNvSpPr>
            <a:spLocks noGrp="1"/>
          </p:cNvSpPr>
          <p:nvPr/>
        </p:nvSpPr>
        <p:spPr>
          <a:xfrm>
            <a:off x="438150" y="1190625"/>
            <a:ext cx="5286375" cy="2619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90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 loop</a:t>
            </a:r>
            <a:endParaRPr kumimoji="0" sz="4125" b="1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90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problem solving</a:t>
            </a:r>
            <a:endParaRPr kumimoji="0" sz="4125" b="1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7E865D-4F84-4017-9EFB-1E452F3BB231}"/>
              </a:ext>
            </a:extLst>
          </p:cNvPr>
          <p:cNvSpPr>
            <a:spLocks noGrp="1"/>
          </p:cNvSpPr>
          <p:nvPr/>
        </p:nvSpPr>
        <p:spPr>
          <a:xfrm>
            <a:off x="457200" y="4714875"/>
            <a:ext cx="50958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Dr. Séamus Cummins</a:t>
            </a:r>
          </a:p>
        </p:txBody>
      </p:sp>
    </p:spTree>
    <p:extLst>
      <p:ext uri="{BB962C8B-B14F-4D97-AF65-F5344CB8AC3E}">
        <p14:creationId xmlns:p14="http://schemas.microsoft.com/office/powerpoint/2010/main" val="3622550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28C8AFA-12E5-49D8-A056-8F6C5CD80A97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lesson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893D66-780B-4B59-A4E7-83FA8B62AA6F}"/>
              </a:ext>
            </a:extLst>
          </p:cNvPr>
          <p:cNvSpPr>
            <a:spLocks noGrp="1"/>
          </p:cNvSpPr>
          <p:nvPr/>
        </p:nvSpPr>
        <p:spPr>
          <a:xfrm>
            <a:off x="438150" y="160020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After iteration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CD96F7-BE4B-4FBA-89AB-8B74953C9039}"/>
              </a:ext>
            </a:extLst>
          </p:cNvPr>
          <p:cNvSpPr>
            <a:spLocks noGrp="1"/>
          </p:cNvSpPr>
          <p:nvPr/>
        </p:nvSpPr>
        <p:spPr>
          <a:xfrm>
            <a:off x="438150" y="200977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Apply loops to strings, lists, input validation and turtle patterns.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DC94B5-FBAD-4082-9D08-F4A18111DAEC}"/>
              </a:ext>
            </a:extLst>
          </p:cNvPr>
          <p:cNvSpPr>
            <a:spLocks noGrp="1"/>
          </p:cNvSpPr>
          <p:nvPr/>
        </p:nvSpPr>
        <p:spPr>
          <a:xfrm>
            <a:off x="438150" y="280035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Before functions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5B3142-8767-46B8-A94E-38329276B459}"/>
              </a:ext>
            </a:extLst>
          </p:cNvPr>
          <p:cNvSpPr>
            <a:spLocks noGrp="1"/>
          </p:cNvSpPr>
          <p:nvPr/>
        </p:nvSpPr>
        <p:spPr>
          <a:xfrm>
            <a:off x="438150" y="320992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Keep each program small. Notice repeated solutions that could later become functions.</a:t>
            </a:r>
          </a:p>
        </p:txBody>
      </p:sp>
    </p:spTree>
    <p:extLst>
      <p:ext uri="{BB962C8B-B14F-4D97-AF65-F5344CB8AC3E}">
        <p14:creationId xmlns:p14="http://schemas.microsoft.com/office/powerpoint/2010/main" val="1555642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0D25021-9D4F-489D-92BE-74CB741FBF2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Warm-up: the loop facts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AD5A43-22B3-445F-93C5-6A9214BF5F40}"/>
              </a:ext>
            </a:extLst>
          </p:cNvPr>
          <p:cNvSpPr>
            <a:spLocks noGrp="1"/>
          </p:cNvSpPr>
          <p:nvPr/>
        </p:nvSpPr>
        <p:spPr>
          <a:xfrm>
            <a:off x="438150" y="160020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Count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5A25F3-73D4-4C49-B1EF-C73D7A9D8C98}"/>
              </a:ext>
            </a:extLst>
          </p:cNvPr>
          <p:cNvSpPr>
            <a:spLocks noGrp="1"/>
          </p:cNvSpPr>
          <p:nvPr/>
        </p:nvSpPr>
        <p:spPr>
          <a:xfrm>
            <a:off x="438150" y="200977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How many values are in range(2, 9, 2)? What is the final value?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37B856-CDDD-4E57-A785-8DBCC40DEF7D}"/>
              </a:ext>
            </a:extLst>
          </p:cNvPr>
          <p:cNvSpPr>
            <a:spLocks noGrp="1"/>
          </p:cNvSpPr>
          <p:nvPr/>
        </p:nvSpPr>
        <p:spPr>
          <a:xfrm>
            <a:off x="438150" y="280035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Stop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55F53C-F47A-4994-966C-5A167A5B93AD}"/>
              </a:ext>
            </a:extLst>
          </p:cNvPr>
          <p:cNvSpPr>
            <a:spLocks noGrp="1"/>
          </p:cNvSpPr>
          <p:nvPr/>
        </p:nvSpPr>
        <p:spPr>
          <a:xfrm>
            <a:off x="438150" y="320992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Can a while loop run zero times? What changes its condition?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9240A7-B27F-4277-924E-C7CB4E48E3AF}"/>
              </a:ext>
            </a:extLst>
          </p:cNvPr>
          <p:cNvSpPr>
            <a:spLocks noGrp="1"/>
          </p:cNvSpPr>
          <p:nvPr/>
        </p:nvSpPr>
        <p:spPr>
          <a:xfrm>
            <a:off x="438150" y="400050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61C3F7-4001-4852-96BB-7F0B3DCE351E}"/>
              </a:ext>
            </a:extLst>
          </p:cNvPr>
          <p:cNvSpPr>
            <a:spLocks noGrp="1"/>
          </p:cNvSpPr>
          <p:nvPr/>
        </p:nvSpPr>
        <p:spPr>
          <a:xfrm>
            <a:off x="438150" y="441007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What does break leave? What does continue skip?</a:t>
            </a:r>
          </a:p>
        </p:txBody>
      </p:sp>
    </p:spTree>
    <p:extLst>
      <p:ext uri="{BB962C8B-B14F-4D97-AF65-F5344CB8AC3E}">
        <p14:creationId xmlns:p14="http://schemas.microsoft.com/office/powerpoint/2010/main" val="1259599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1704348-A636-4F49-BAA2-33C160563A6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Warm-up answers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CAAB79-5ED4-4F53-BE5F-81D24E81B645}"/>
              </a:ext>
            </a:extLst>
          </p:cNvPr>
          <p:cNvSpPr>
            <a:spLocks noGrp="1"/>
          </p:cNvSpPr>
          <p:nvPr/>
        </p:nvSpPr>
        <p:spPr>
          <a:xfrm>
            <a:off x="438150" y="160020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Count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C92D80-18F4-4FF2-BB4F-1FDE43548010}"/>
              </a:ext>
            </a:extLst>
          </p:cNvPr>
          <p:cNvSpPr>
            <a:spLocks noGrp="1"/>
          </p:cNvSpPr>
          <p:nvPr/>
        </p:nvSpPr>
        <p:spPr>
          <a:xfrm>
            <a:off x="438150" y="200977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Four values: 2, 4, 6, 8. The stop value 9 is excluded.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5810E3-D7EC-4BE5-BD3F-E25D15039EF9}"/>
              </a:ext>
            </a:extLst>
          </p:cNvPr>
          <p:cNvSpPr>
            <a:spLocks noGrp="1"/>
          </p:cNvSpPr>
          <p:nvPr/>
        </p:nvSpPr>
        <p:spPr>
          <a:xfrm>
            <a:off x="438150" y="280035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Stop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5D7989-B9E7-4D5C-8B9D-0C6CA587CC3A}"/>
              </a:ext>
            </a:extLst>
          </p:cNvPr>
          <p:cNvSpPr>
            <a:spLocks noGrp="1"/>
          </p:cNvSpPr>
          <p:nvPr/>
        </p:nvSpPr>
        <p:spPr>
          <a:xfrm>
            <a:off x="438150" y="320992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Yes, when its first test is False. Updates or new input can change the condition.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04A97F-DE4A-440B-824E-6F5DC78C410F}"/>
              </a:ext>
            </a:extLst>
          </p:cNvPr>
          <p:cNvSpPr>
            <a:spLocks noGrp="1"/>
          </p:cNvSpPr>
          <p:nvPr/>
        </p:nvSpPr>
        <p:spPr>
          <a:xfrm>
            <a:off x="438150" y="400050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3B5D79-B37A-44A7-B138-0F3FA3DBB275}"/>
              </a:ext>
            </a:extLst>
          </p:cNvPr>
          <p:cNvSpPr>
            <a:spLocks noGrp="1"/>
          </p:cNvSpPr>
          <p:nvPr/>
        </p:nvSpPr>
        <p:spPr>
          <a:xfrm>
            <a:off x="438150" y="441007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break leaves the nearest loop. continue skips the remaining statements in one pass.</a:t>
            </a:r>
          </a:p>
        </p:txBody>
      </p:sp>
    </p:spTree>
    <p:extLst>
      <p:ext uri="{BB962C8B-B14F-4D97-AF65-F5344CB8AC3E}">
        <p14:creationId xmlns:p14="http://schemas.microsoft.com/office/powerpoint/2010/main" val="3563674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6CECC46-3511-4780-A3BC-DFAD255BB6EE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string can be traversed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3F012F-A6C8-419D-BBBA-DC0D26D09001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38A6DA-A693-4E62-ACE0-8DAA96693BD8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word = "Mars"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letter in word: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print(letter)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EC61A4-0F3D-499C-B98A-701897148879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347633-9AA1-4054-8CD5-FB2583213D7C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M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EF4263-D7DE-4C81-BEE0-61DDDED8F13D}"/>
              </a:ext>
            </a:extLst>
          </p:cNvPr>
          <p:cNvSpPr>
            <a:spLocks noGrp="1"/>
          </p:cNvSpPr>
          <p:nvPr/>
        </p:nvSpPr>
        <p:spPr>
          <a:xfrm>
            <a:off x="7762875" y="33528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Traversal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98BE63-F4FB-4995-92F4-2BA404751477}"/>
              </a:ext>
            </a:extLst>
          </p:cNvPr>
          <p:cNvSpPr>
            <a:spLocks noGrp="1"/>
          </p:cNvSpPr>
          <p:nvPr/>
        </p:nvSpPr>
        <p:spPr>
          <a:xfrm>
            <a:off x="7762875" y="373380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letter receives one character on each pass. Spaces also count as characters.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15D6D3-2E28-44D7-9AC8-BABC1A70D4B4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An empty string gives zero passes.</a:t>
            </a:r>
          </a:p>
        </p:txBody>
      </p:sp>
    </p:spTree>
    <p:extLst>
      <p:ext uri="{BB962C8B-B14F-4D97-AF65-F5344CB8AC3E}">
        <p14:creationId xmlns:p14="http://schemas.microsoft.com/office/powerpoint/2010/main" val="3795746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BED01F-9154-47A2-B84E-BEAEED0C724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Counting a selected character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3EA240-85B2-4468-B077-7D145A47EF25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844BD2-2798-458D-9630-122BDAB48207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text = "Banana".lower()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count = 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letter in text: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if letter == "a":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count += 1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print(count)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4C5E45-4AC9-47B5-B342-48C961AB3FFE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7359BE-FA0E-4227-8BD0-35E7FF5378EC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FB04E6-3D64-46D7-9F02-354E7B6EB74A}"/>
              </a:ext>
            </a:extLst>
          </p:cNvPr>
          <p:cNvSpPr>
            <a:spLocks noGrp="1"/>
          </p:cNvSpPr>
          <p:nvPr/>
        </p:nvSpPr>
        <p:spPr>
          <a:xfrm>
            <a:off x="7762875" y="249555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Roles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4EC147-5578-4201-823E-88A3495C639E}"/>
              </a:ext>
            </a:extLst>
          </p:cNvPr>
          <p:cNvSpPr>
            <a:spLocks noGrp="1"/>
          </p:cNvSpPr>
          <p:nvPr/>
        </p:nvSpPr>
        <p:spPr>
          <a:xfrm>
            <a:off x="7762875" y="28765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loop visits every character. The if decides whether to increment the counter.</a:t>
            </a:r>
          </a:p>
        </p:txBody>
      </p:sp>
    </p:spTree>
    <p:extLst>
      <p:ext uri="{BB962C8B-B14F-4D97-AF65-F5344CB8AC3E}">
        <p14:creationId xmlns:p14="http://schemas.microsoft.com/office/powerpoint/2010/main" val="3818814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E755C9-C15B-4B27-8788-9CABF99E5080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Tracing the character counter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438150" y="1524000"/>
          <a:ext cx="11096625" cy="3571876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026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Character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Matches a?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Count after pass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26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26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26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26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26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26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D8E2FA6-1ADE-43BC-9D58-7DDC11540BA7}"/>
              </a:ext>
            </a:extLst>
          </p:cNvPr>
          <p:cNvSpPr>
            <a:spLocks noGrp="1"/>
          </p:cNvSpPr>
          <p:nvPr/>
        </p:nvSpPr>
        <p:spPr>
          <a:xfrm>
            <a:off x="438150" y="5391150"/>
            <a:ext cx="110966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Initialise the counter once, before traversal.</a:t>
            </a:r>
          </a:p>
        </p:txBody>
      </p:sp>
    </p:spTree>
    <p:extLst>
      <p:ext uri="{BB962C8B-B14F-4D97-AF65-F5344CB8AC3E}">
        <p14:creationId xmlns:p14="http://schemas.microsoft.com/office/powerpoint/2010/main" val="978072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5974851-731C-4C05-8DBD-DD9B833C421D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Broken code: resetting the count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915FFD-F253-4E88-973A-E7A4169C0374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BROKEN 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6914E9-8D44-4052-B19C-D38E76A37242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text = "banana"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letter in text: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count = 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if letter == "a":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count += 1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print(count)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B8BE64-4EBB-40A5-BA55-4B540FA45751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Expected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1645C0-4861-4426-A761-985CD6449DE8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E60A2C-8249-4C8E-972A-9E6C8D54A7EE}"/>
              </a:ext>
            </a:extLst>
          </p:cNvPr>
          <p:cNvSpPr>
            <a:spLocks noGrp="1"/>
          </p:cNvSpPr>
          <p:nvPr/>
        </p:nvSpPr>
        <p:spPr>
          <a:xfrm>
            <a:off x="7762875" y="249555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Your task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9FF653-0450-4478-8570-9ECAF38CEFAD}"/>
              </a:ext>
            </a:extLst>
          </p:cNvPr>
          <p:cNvSpPr>
            <a:spLocks noGrp="1"/>
          </p:cNvSpPr>
          <p:nvPr/>
        </p:nvSpPr>
        <p:spPr>
          <a:xfrm>
            <a:off x="7762875" y="28765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Predict the actual result. Move one line and test an empty string.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68E70B-CF1F-4AD7-BA32-747E809AD4A8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correct repair must also work when the loop has no passes.</a:t>
            </a:r>
          </a:p>
        </p:txBody>
      </p:sp>
    </p:spTree>
    <p:extLst>
      <p:ext uri="{BB962C8B-B14F-4D97-AF65-F5344CB8AC3E}">
        <p14:creationId xmlns:p14="http://schemas.microsoft.com/office/powerpoint/2010/main" val="1638980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DCBF757-5297-4F92-92FE-A186BCCAB976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Repair: one initialisation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E5328C-7EAC-4F65-9C75-CC7A2C4C285E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89CA47-654E-4A78-95FC-8352AE1319C9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text = "banana"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count = 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letter in text: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if letter == "a":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count += 1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print(count)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A6A8FC-CBBB-459B-9F50-0BEF4D6353D6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D1E765-D316-480F-BEA3-579C0CA9A6FC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785E52-63FF-415C-9945-B2D92BD84A77}"/>
              </a:ext>
            </a:extLst>
          </p:cNvPr>
          <p:cNvSpPr>
            <a:spLocks noGrp="1"/>
          </p:cNvSpPr>
          <p:nvPr/>
        </p:nvSpPr>
        <p:spPr>
          <a:xfrm>
            <a:off x="7762875" y="249555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Empty input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63A65C-0B66-4E20-821C-B686CA8BEE0D}"/>
              </a:ext>
            </a:extLst>
          </p:cNvPr>
          <p:cNvSpPr>
            <a:spLocks noGrp="1"/>
          </p:cNvSpPr>
          <p:nvPr/>
        </p:nvSpPr>
        <p:spPr>
          <a:xfrm>
            <a:off x="7762875" y="287655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With text = "", count stays 0 and print still works.</a:t>
            </a:r>
          </a:p>
        </p:txBody>
      </p:sp>
    </p:spTree>
    <p:extLst>
      <p:ext uri="{BB962C8B-B14F-4D97-AF65-F5344CB8AC3E}">
        <p14:creationId xmlns:p14="http://schemas.microsoft.com/office/powerpoint/2010/main" val="2466277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AEC4574-791F-4FF3-9A50-9CD1F1DA054D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Membership checks several alternatives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606CF9-DFB1-42DA-B03B-055A8CE4400E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EA4B1B-9EE9-4AD0-ADFE-D2B4739BED55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letter = "e"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print(letter in "aeiou")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print("z" in "aeiou")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print("ar" in "Mars")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40AAF0-E7C0-409B-9C31-9DE200176CF6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A6327C-31D2-4374-9E0C-7502A057BE9B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True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False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436F51-E78A-4CFE-B9AA-148864F1E303}"/>
              </a:ext>
            </a:extLst>
          </p:cNvPr>
          <p:cNvSpPr>
            <a:spLocks noGrp="1"/>
          </p:cNvSpPr>
          <p:nvPr/>
        </p:nvSpPr>
        <p:spPr>
          <a:xfrm>
            <a:off x="7762875" y="306705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Meaning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C794B4-25EA-44FB-B9DC-3DA90645A6C9}"/>
              </a:ext>
            </a:extLst>
          </p:cNvPr>
          <p:cNvSpPr>
            <a:spLocks noGrp="1"/>
          </p:cNvSpPr>
          <p:nvPr/>
        </p:nvSpPr>
        <p:spPr>
          <a:xfrm>
            <a:off x="7762875" y="34480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For strings, in checks whether a substring occurs. A loop variable here holds one character.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100178-35EE-4CDB-A978-379253DEE511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For this lesson, vowels mean the English letters a, e, i, o and u.</a:t>
            </a:r>
          </a:p>
        </p:txBody>
      </p:sp>
    </p:spTree>
    <p:extLst>
      <p:ext uri="{BB962C8B-B14F-4D97-AF65-F5344CB8AC3E}">
        <p14:creationId xmlns:p14="http://schemas.microsoft.com/office/powerpoint/2010/main" val="1056414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04537EA-F4B3-4CC7-9285-5A1FE76102B3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Task 1: count vowels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81D4D1-0BA6-4E34-826C-82A926B9CD34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12-MINUTE TASK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E28A19-DC7C-4679-9253-7D599F4B584E}"/>
              </a:ext>
            </a:extLst>
          </p:cNvPr>
          <p:cNvSpPr>
            <a:spLocks noGrp="1"/>
          </p:cNvSpPr>
          <p:nvPr/>
        </p:nvSpPr>
        <p:spPr>
          <a:xfrm>
            <a:off x="438150" y="1838325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Your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8FCA94-60B4-4715-AEC0-1222C8F36ABA}"/>
              </a:ext>
            </a:extLst>
          </p:cNvPr>
          <p:cNvSpPr>
            <a:spLocks noGrp="1"/>
          </p:cNvSpPr>
          <p:nvPr/>
        </p:nvSpPr>
        <p:spPr>
          <a:xfrm>
            <a:off x="438150" y="2247900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Ask for a phrase. Count vowels regardless of capital letters. Ignore spaces and punctuation.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8A5BD8-3F62-4347-B401-C502166FAA66}"/>
              </a:ext>
            </a:extLst>
          </p:cNvPr>
          <p:cNvSpPr>
            <a:spLocks noGrp="1"/>
          </p:cNvSpPr>
          <p:nvPr/>
        </p:nvSpPr>
        <p:spPr>
          <a:xfrm>
            <a:off x="438150" y="3038475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Required checks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464632-3F80-4BEA-8EF1-B257D10C62EE}"/>
              </a:ext>
            </a:extLst>
          </p:cNvPr>
          <p:cNvSpPr>
            <a:spLocks noGrp="1"/>
          </p:cNvSpPr>
          <p:nvPr/>
        </p:nvSpPr>
        <p:spPr>
          <a:xfrm>
            <a:off x="438150" y="3448050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"Education" gives 5. "Sky!" gives 0. Empty input gives 0.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4B5493-F5FB-4A4B-9BAB-3C915061517A}"/>
              </a:ext>
            </a:extLst>
          </p:cNvPr>
          <p:cNvSpPr>
            <a:spLocks noGrp="1"/>
          </p:cNvSpPr>
          <p:nvPr/>
        </p:nvSpPr>
        <p:spPr>
          <a:xfrm>
            <a:off x="438150" y="4238625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Plan and explain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380209-FD90-4C0B-92F3-99300572AD64}"/>
              </a:ext>
            </a:extLst>
          </p:cNvPr>
          <p:cNvSpPr>
            <a:spLocks noGrp="1"/>
          </p:cNvSpPr>
          <p:nvPr/>
        </p:nvSpPr>
        <p:spPr>
          <a:xfrm>
            <a:off x="438150" y="4648200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Use lower, a for loop, membership and a counter.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5C6E84-9DC9-4D36-8F17-6768DFFFE6E2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0966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Work independently, then compare the reasoning with a partner.</a:t>
            </a:r>
          </a:p>
        </p:txBody>
      </p:sp>
    </p:spTree>
    <p:extLst>
      <p:ext uri="{BB962C8B-B14F-4D97-AF65-F5344CB8AC3E}">
        <p14:creationId xmlns:p14="http://schemas.microsoft.com/office/powerpoint/2010/main" val="1924793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5A36750-FBFB-4CCB-89A6-FB9B27B177D6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Task 1 solution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F17983-6F46-4576-B7CD-1B8446F5545A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0BA90A-7F32-42F4-8DAC-819C36C920D4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text = input("Phrase: ").lower()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vowels = 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letter in text: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if letter in "aeiou":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vowels += 1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print("Vowels:", vowels)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FAC3CB-35EA-45EC-A525-1226168FA91D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Example input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24ED45-79B5-48AD-AA38-2ACC3EB35164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Education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2F936D-DC2F-409C-9C5B-C287480B111A}"/>
              </a:ext>
            </a:extLst>
          </p:cNvPr>
          <p:cNvSpPr>
            <a:spLocks noGrp="1"/>
          </p:cNvSpPr>
          <p:nvPr/>
        </p:nvSpPr>
        <p:spPr>
          <a:xfrm>
            <a:off x="7762875" y="249555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6B60A4-63D0-44B1-9468-1276066F22B4}"/>
              </a:ext>
            </a:extLst>
          </p:cNvPr>
          <p:cNvSpPr>
            <a:spLocks noGrp="1"/>
          </p:cNvSpPr>
          <p:nvPr/>
        </p:nvSpPr>
        <p:spPr>
          <a:xfrm>
            <a:off x="7762875" y="2876550"/>
            <a:ext cx="3857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Vowels: 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111E54-72A0-4F2B-ABC2-99FC54D78B8A}"/>
              </a:ext>
            </a:extLst>
          </p:cNvPr>
          <p:cNvSpPr>
            <a:spLocks noGrp="1"/>
          </p:cNvSpPr>
          <p:nvPr/>
        </p:nvSpPr>
        <p:spPr>
          <a:xfrm>
            <a:off x="7762875" y="33147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82C592-AE69-451A-9FD2-CBD1A12ABB8F}"/>
              </a:ext>
            </a:extLst>
          </p:cNvPr>
          <p:cNvSpPr>
            <a:spLocks noGrp="1"/>
          </p:cNvSpPr>
          <p:nvPr/>
        </p:nvSpPr>
        <p:spPr>
          <a:xfrm>
            <a:off x="7762875" y="36957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non-vowel makes no change to the count.</a:t>
            </a:r>
          </a:p>
        </p:txBody>
      </p:sp>
    </p:spTree>
    <p:extLst>
      <p:ext uri="{BB962C8B-B14F-4D97-AF65-F5344CB8AC3E}">
        <p14:creationId xmlns:p14="http://schemas.microsoft.com/office/powerpoint/2010/main" val="3918140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BFAB54E-B600-4591-B43B-0F1757413478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Building a new string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8E6D1A-06DC-45C2-8EF0-49B0E34EDA73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2ED0B6-6C0B-4D06-BCB9-DBD89CA7565D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text = "meet me"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result = ""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letter in text: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if letter == " ":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result += "_"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else: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result += letter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print(result)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7623ED-FEDA-46A3-8E40-84780FC74EF3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646BEA-C6B3-47A6-8DF6-A72F9946B7B0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meet_me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10D545-EAE8-43E3-AE0F-7A5E9E653000}"/>
              </a:ext>
            </a:extLst>
          </p:cNvPr>
          <p:cNvSpPr>
            <a:spLocks noGrp="1"/>
          </p:cNvSpPr>
          <p:nvPr/>
        </p:nvSpPr>
        <p:spPr>
          <a:xfrm>
            <a:off x="7762875" y="249555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Accumulator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E498E9-03F3-45E0-BE25-317C0248588E}"/>
              </a:ext>
            </a:extLst>
          </p:cNvPr>
          <p:cNvSpPr>
            <a:spLocks noGrp="1"/>
          </p:cNvSpPr>
          <p:nvPr/>
        </p:nvSpPr>
        <p:spPr>
          <a:xfrm>
            <a:off x="7762875" y="28765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result keeps the text built so far. Each pass adds one character.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95F0D4-9889-4C28-A0A0-4B5B142A13CE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original string stays unchanged.</a:t>
            </a:r>
          </a:p>
        </p:txBody>
      </p:sp>
    </p:spTree>
    <p:extLst>
      <p:ext uri="{BB962C8B-B14F-4D97-AF65-F5344CB8AC3E}">
        <p14:creationId xmlns:p14="http://schemas.microsoft.com/office/powerpoint/2010/main" val="4122451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74947FD-DF30-49C3-84FA-066460B818FD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Task 2: hide the vowels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8E31B4-7A1F-4691-959C-7702796F1B5C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10-MINUTE TASK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6A1E21-8297-403D-AA90-2433AD4448D7}"/>
              </a:ext>
            </a:extLst>
          </p:cNvPr>
          <p:cNvSpPr>
            <a:spLocks noGrp="1"/>
          </p:cNvSpPr>
          <p:nvPr/>
        </p:nvSpPr>
        <p:spPr>
          <a:xfrm>
            <a:off x="438150" y="1838325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Your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D052D5-C95C-494A-8A7C-3C2BE5668DC0}"/>
              </a:ext>
            </a:extLst>
          </p:cNvPr>
          <p:cNvSpPr>
            <a:spLocks noGrp="1"/>
          </p:cNvSpPr>
          <p:nvPr/>
        </p:nvSpPr>
        <p:spPr>
          <a:xfrm>
            <a:off x="438150" y="2247900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Build a new version of a phrase with each vowel replaced by *. Preserve every other character and its case.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E65DE9-37CA-4E65-8EA1-A42C73E8A4B8}"/>
              </a:ext>
            </a:extLst>
          </p:cNvPr>
          <p:cNvSpPr>
            <a:spLocks noGrp="1"/>
          </p:cNvSpPr>
          <p:nvPr/>
        </p:nvSpPr>
        <p:spPr>
          <a:xfrm>
            <a:off x="438150" y="3038475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Required checks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D21299-4C2D-46C4-8D87-40A58BCA179B}"/>
              </a:ext>
            </a:extLst>
          </p:cNvPr>
          <p:cNvSpPr>
            <a:spLocks noGrp="1"/>
          </p:cNvSpPr>
          <p:nvPr/>
        </p:nvSpPr>
        <p:spPr>
          <a:xfrm>
            <a:off x="438150" y="3448050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"Hello Mars!" becomes "H*ll* M*rs!". "AE" becomes "**". Empty input stays empty.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5D89A8-2887-4ED6-B620-4F13AC568123}"/>
              </a:ext>
            </a:extLst>
          </p:cNvPr>
          <p:cNvSpPr>
            <a:spLocks noGrp="1"/>
          </p:cNvSpPr>
          <p:nvPr/>
        </p:nvSpPr>
        <p:spPr>
          <a:xfrm>
            <a:off x="438150" y="4238625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Plan and explain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D9A0E8-FB98-4872-AA70-E561B54FCE8B}"/>
              </a:ext>
            </a:extLst>
          </p:cNvPr>
          <p:cNvSpPr>
            <a:spLocks noGrp="1"/>
          </p:cNvSpPr>
          <p:nvPr/>
        </p:nvSpPr>
        <p:spPr>
          <a:xfrm>
            <a:off x="438150" y="4648200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Test letter.lower() for membership, but append the original letter when it is not a vowel.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F1286E-CF86-46BA-8C57-735FF19B31E1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0966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Work independently, then compare the reasoning with a partner.</a:t>
            </a:r>
          </a:p>
        </p:txBody>
      </p:sp>
    </p:spTree>
    <p:extLst>
      <p:ext uri="{BB962C8B-B14F-4D97-AF65-F5344CB8AC3E}">
        <p14:creationId xmlns:p14="http://schemas.microsoft.com/office/powerpoint/2010/main" val="2354601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430D53-C076-4087-B779-B74A61305A06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Task 2 solution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963EC9-C0AA-4460-8D12-B1E5723020B9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447004-64E1-4544-A8CD-09EFC1F0A07D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text = input("Phrase: 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result = ""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letter in text: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if letter.lower() in "aeiou":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result += "*"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else: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result += letter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print(result)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12260C-433A-4E14-8F86-727B8AE6DFC9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96154E-6A68-4004-BB03-73DFB6A77FDD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Hello Mars!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0FF02D-1EB8-43D7-804E-1468FDF4E358}"/>
              </a:ext>
            </a:extLst>
          </p:cNvPr>
          <p:cNvSpPr>
            <a:spLocks noGrp="1"/>
          </p:cNvSpPr>
          <p:nvPr/>
        </p:nvSpPr>
        <p:spPr>
          <a:xfrm>
            <a:off x="7762875" y="249555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7AADD3-B3D1-4B0E-BAC9-310074096E51}"/>
              </a:ext>
            </a:extLst>
          </p:cNvPr>
          <p:cNvSpPr>
            <a:spLocks noGrp="1"/>
          </p:cNvSpPr>
          <p:nvPr/>
        </p:nvSpPr>
        <p:spPr>
          <a:xfrm>
            <a:off x="7762875" y="2876550"/>
            <a:ext cx="3857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H*ll* M*rs!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88F65F-9282-4B83-96DD-B85C25AE8AE7}"/>
              </a:ext>
            </a:extLst>
          </p:cNvPr>
          <p:cNvSpPr>
            <a:spLocks noGrp="1"/>
          </p:cNvSpPr>
          <p:nvPr/>
        </p:nvSpPr>
        <p:spPr>
          <a:xfrm>
            <a:off x="7762875" y="33147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Preserved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6415A7-92D7-4744-9AA8-BEAD67AA60C5}"/>
              </a:ext>
            </a:extLst>
          </p:cNvPr>
          <p:cNvSpPr>
            <a:spLocks noGrp="1"/>
          </p:cNvSpPr>
          <p:nvPr/>
        </p:nvSpPr>
        <p:spPr>
          <a:xfrm>
            <a:off x="7762875" y="36957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Uppercase consonants, spaces and punctuation.</a:t>
            </a:r>
          </a:p>
        </p:txBody>
      </p:sp>
    </p:spTree>
    <p:extLst>
      <p:ext uri="{BB962C8B-B14F-4D97-AF65-F5344CB8AC3E}">
        <p14:creationId xmlns:p14="http://schemas.microsoft.com/office/powerpoint/2010/main" val="2174669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012863-6778-43B2-9DE6-023F41F9E2CE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list stores separate values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C8F53E-BE0A-415A-97F6-C43BD83454AD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5DE41-BD1D-40C7-9E7F-9F94B14EB346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scores = [12, 7, 19, 7]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print(len(scores))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print(scores[0])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scores.append(10)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print(scores)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ED4B8C-D96E-4048-9701-160299969368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793424-EA6E-488A-9BB4-FFC24A1ABF2E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4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12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[12, 7, 19, 7, 10]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746287-7CA3-47C3-A4B6-0B90F7861EC3}"/>
              </a:ext>
            </a:extLst>
          </p:cNvPr>
          <p:cNvSpPr>
            <a:spLocks noGrp="1"/>
          </p:cNvSpPr>
          <p:nvPr/>
        </p:nvSpPr>
        <p:spPr>
          <a:xfrm>
            <a:off x="7762875" y="306705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Mutation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232208-04EF-4F0C-803B-5B0C03354F50}"/>
              </a:ext>
            </a:extLst>
          </p:cNvPr>
          <p:cNvSpPr>
            <a:spLocks noGrp="1"/>
          </p:cNvSpPr>
          <p:nvPr/>
        </p:nvSpPr>
        <p:spPr>
          <a:xfrm>
            <a:off x="7762875" y="34480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append changes the existing list by adding one item at the end.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F424BD-0839-4E14-84CD-5316EA67F821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list may contain repeated values.</a:t>
            </a:r>
          </a:p>
        </p:txBody>
      </p:sp>
    </p:spTree>
    <p:extLst>
      <p:ext uri="{BB962C8B-B14F-4D97-AF65-F5344CB8AC3E}">
        <p14:creationId xmlns:p14="http://schemas.microsoft.com/office/powerpoint/2010/main" val="1987430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F08D17D-5E63-4228-80BB-6565B5B056CF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Filtering into a new list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83EF9-1CE8-49DD-A785-E0C196A1AB25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DE7BC9-AECD-4598-AAB9-B00D2EF56762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scores = [42, 80, 50, 19]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passed = []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score in scores: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if score &gt;= 50: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passed.append(score)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print(passed)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993AF9-FFA7-4DE6-9AF6-951D94DCB97A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ECA15E-0360-477D-8996-CDB21ECBB2F2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[80, 50]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A0AEA1-B2B8-4128-BECD-FCFFFD85C5C4}"/>
              </a:ext>
            </a:extLst>
          </p:cNvPr>
          <p:cNvSpPr>
            <a:spLocks noGrp="1"/>
          </p:cNvSpPr>
          <p:nvPr/>
        </p:nvSpPr>
        <p:spPr>
          <a:xfrm>
            <a:off x="7762875" y="249555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Filter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0FD02E-B9E8-4B4B-BDEE-FB25FBD33AFD}"/>
              </a:ext>
            </a:extLst>
          </p:cNvPr>
          <p:cNvSpPr>
            <a:spLocks noGrp="1"/>
          </p:cNvSpPr>
          <p:nvPr/>
        </p:nvSpPr>
        <p:spPr>
          <a:xfrm>
            <a:off x="7762875" y="287655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Visit every item. Keep the items that satisfy the condition.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8DA0B6-81AC-44F0-99BF-A3BBB9D0462F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original scores list remains unchanged.</a:t>
            </a:r>
          </a:p>
        </p:txBody>
      </p:sp>
    </p:spTree>
    <p:extLst>
      <p:ext uri="{BB962C8B-B14F-4D97-AF65-F5344CB8AC3E}">
        <p14:creationId xmlns:p14="http://schemas.microsoft.com/office/powerpoint/2010/main" val="15049087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84B19E8-FCC8-415A-8BA4-44819F34F04B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Broken code: append returns None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9437F6-B091-4BF0-BD4A-B040440925DD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BROKEN 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6888AA-9F92-4C9A-BEC8-552058A17467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passed = []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passed = passed.append(80)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print(passed)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DC36AE-47BC-4C2C-8ACA-E320D47965BB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C8286F-2747-49D6-B454-1FFA2759734E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None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AE7A0B-8230-4C90-AECD-D92260AFD576}"/>
              </a:ext>
            </a:extLst>
          </p:cNvPr>
          <p:cNvSpPr>
            <a:spLocks noGrp="1"/>
          </p:cNvSpPr>
          <p:nvPr/>
        </p:nvSpPr>
        <p:spPr>
          <a:xfrm>
            <a:off x="7762875" y="249555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Your task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37AFDC-C6EE-4937-9436-38745D346B8B}"/>
              </a:ext>
            </a:extLst>
          </p:cNvPr>
          <p:cNvSpPr>
            <a:spLocks noGrp="1"/>
          </p:cNvSpPr>
          <p:nvPr/>
        </p:nvSpPr>
        <p:spPr>
          <a:xfrm>
            <a:off x="7762875" y="28765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item was added, but the assignment lost the list reference. Repair the statement.</a:t>
            </a:r>
          </a:p>
        </p:txBody>
      </p:sp>
    </p:spTree>
    <p:extLst>
      <p:ext uri="{BB962C8B-B14F-4D97-AF65-F5344CB8AC3E}">
        <p14:creationId xmlns:p14="http://schemas.microsoft.com/office/powerpoint/2010/main" val="2846657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A66E8B6-67AC-449F-8FE3-D18FF456821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Repair: append as a statement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BC35C5-05E9-405D-937C-06B750B02275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2EB070-A00A-4A7F-B6F5-6F58FC5E6755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passed = []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passed.append(80)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print(passed)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D50A53-ABA1-42C9-8E32-C9CDC8594398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89BB9E-EF35-44B2-9F67-B3B6F0CBA75D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[80]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D05BD3-4EFE-4AAA-892C-5580E652365A}"/>
              </a:ext>
            </a:extLst>
          </p:cNvPr>
          <p:cNvSpPr>
            <a:spLocks noGrp="1"/>
          </p:cNvSpPr>
          <p:nvPr/>
        </p:nvSpPr>
        <p:spPr>
          <a:xfrm>
            <a:off x="7762875" y="249555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Reason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99D54A-F317-4445-BDEC-0C8DB7BA98ED}"/>
              </a:ext>
            </a:extLst>
          </p:cNvPr>
          <p:cNvSpPr>
            <a:spLocks noGrp="1"/>
          </p:cNvSpPr>
          <p:nvPr/>
        </p:nvSpPr>
        <p:spPr>
          <a:xfrm>
            <a:off x="7762875" y="28765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append mutates the list and returns None. Do not assign its return value to passed.</a:t>
            </a:r>
          </a:p>
        </p:txBody>
      </p:sp>
    </p:spTree>
    <p:extLst>
      <p:ext uri="{BB962C8B-B14F-4D97-AF65-F5344CB8AC3E}">
        <p14:creationId xmlns:p14="http://schemas.microsoft.com/office/powerpoint/2010/main" val="34643355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680BB6F-D977-4B7B-983E-444461E58A6B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search flag remembers success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419D23-88BA-4A63-B692-B9EA9825ACBC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E3AE13-4CF9-4BB3-96ED-914BFA350F47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names = ["Ada", "Maya", "Omar"]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target = "Maya"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found = False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name in names: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if name == target: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found = True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break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print(found)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585988-80B9-43DE-8A38-AD9D3487C598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DA73A3-CD2B-4219-8ED6-F4965B10F4C1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BB8503-6EA3-4437-80C5-0EDF9F7D024C}"/>
              </a:ext>
            </a:extLst>
          </p:cNvPr>
          <p:cNvSpPr>
            <a:spLocks noGrp="1"/>
          </p:cNvSpPr>
          <p:nvPr/>
        </p:nvSpPr>
        <p:spPr>
          <a:xfrm>
            <a:off x="7762875" y="249555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Early exit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CA3FEF-413F-43A8-869B-C5C1086730FA}"/>
              </a:ext>
            </a:extLst>
          </p:cNvPr>
          <p:cNvSpPr>
            <a:spLocks noGrp="1"/>
          </p:cNvSpPr>
          <p:nvPr/>
        </p:nvSpPr>
        <p:spPr>
          <a:xfrm>
            <a:off x="7762875" y="28765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Once a match is found, the answer cannot change. break avoids more comparisons.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16AF67-0654-450F-9A91-75F73E1DCBD3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No match, including an empty list, leaves found as False.</a:t>
            </a:r>
          </a:p>
        </p:txBody>
      </p:sp>
    </p:spTree>
    <p:extLst>
      <p:ext uri="{BB962C8B-B14F-4D97-AF65-F5344CB8AC3E}">
        <p14:creationId xmlns:p14="http://schemas.microsoft.com/office/powerpoint/2010/main" val="337676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FAD4CD6-252E-4C39-96F5-2FF3EE2E5B28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Broken code: an answer per item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159068-140A-485B-B6FF-549387A7D119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BROKEN 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EB02B7-1F0E-4834-ADA4-91A56607BD31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names = ["Ada", "Maya", "Omar"]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target = "Maya"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name in names: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if name == target: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print("Found")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else: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print("Not found")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EF19EF-AC5B-4791-8252-481482C46A96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Actual 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5102B2-375A-4286-9359-8EC4180FC0D9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Not found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Found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Not found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FE35AA-D0BC-4802-B563-7AF324258D47}"/>
              </a:ext>
            </a:extLst>
          </p:cNvPr>
          <p:cNvSpPr>
            <a:spLocks noGrp="1"/>
          </p:cNvSpPr>
          <p:nvPr/>
        </p:nvSpPr>
        <p:spPr>
          <a:xfrm>
            <a:off x="7762875" y="306705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Required result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645F79-9A7D-49D6-AB84-F59EE44FCAD6}"/>
              </a:ext>
            </a:extLst>
          </p:cNvPr>
          <p:cNvSpPr>
            <a:spLocks noGrp="1"/>
          </p:cNvSpPr>
          <p:nvPr/>
        </p:nvSpPr>
        <p:spPr>
          <a:xfrm>
            <a:off x="7762875" y="34480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One final answer for the whole search. Explain why each non-match proves too little.</a:t>
            </a:r>
          </a:p>
        </p:txBody>
      </p:sp>
    </p:spTree>
    <p:extLst>
      <p:ext uri="{BB962C8B-B14F-4D97-AF65-F5344CB8AC3E}">
        <p14:creationId xmlns:p14="http://schemas.microsoft.com/office/powerpoint/2010/main" val="1276509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8BD4F0-4FD1-4D37-889F-4599B5E7A981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Repair: report after searching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61D03B-1F5F-4BD0-AB1C-4F82E43C11B1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42FFA8-8F8D-42B2-8100-7C4D44E1913C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names = ["Ada", "Maya", "Omar"]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target = "Maya"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found = False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name in names: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if name == target: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found = True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break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print("Found" if found else "Not found")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091DAF-CD65-4957-AD2D-E08722865F3A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5C1C4B-65D5-42B0-BF65-6AA4EE5CFA25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Found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C3C48D-C0FE-426A-9C30-3D6BBB03DDDA}"/>
              </a:ext>
            </a:extLst>
          </p:cNvPr>
          <p:cNvSpPr>
            <a:spLocks noGrp="1"/>
          </p:cNvSpPr>
          <p:nvPr/>
        </p:nvSpPr>
        <p:spPr>
          <a:xfrm>
            <a:off x="7762875" y="249555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New expression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37BA5A-8E97-49CF-B9CC-B0E27CAC5124}"/>
              </a:ext>
            </a:extLst>
          </p:cNvPr>
          <p:cNvSpPr>
            <a:spLocks noGrp="1"/>
          </p:cNvSpPr>
          <p:nvPr/>
        </p:nvSpPr>
        <p:spPr>
          <a:xfrm>
            <a:off x="7762875" y="28765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if condition else B chooses one value. Here it selects the final message.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74BED2-CDE1-46B2-A5A0-670D51D48B0C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print statement runs once, after the loop.</a:t>
            </a:r>
          </a:p>
        </p:txBody>
      </p:sp>
    </p:spTree>
    <p:extLst>
      <p:ext uri="{BB962C8B-B14F-4D97-AF65-F5344CB8AC3E}">
        <p14:creationId xmlns:p14="http://schemas.microsoft.com/office/powerpoint/2010/main" val="39250899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0ABD855-2583-4F0C-8A01-23108898F62D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Finding the largest value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DCC1B2-99C6-418C-A0E8-E4C3E8ED9D09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02F7F9-04A6-45A3-ADCD-2DCE2EC1EC36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values = [-7, -2, -9]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largest = values[0]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value in values: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if value &gt; largest: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largest = value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print(largest)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5395C6-0DE1-4AD6-80E7-611272286379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DD8646-D6CC-4767-90C4-B0CAC2CC6598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-2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296407-7CDB-44B5-835F-6F65BFC06BDB}"/>
              </a:ext>
            </a:extLst>
          </p:cNvPr>
          <p:cNvSpPr>
            <a:spLocks noGrp="1"/>
          </p:cNvSpPr>
          <p:nvPr/>
        </p:nvSpPr>
        <p:spPr>
          <a:xfrm>
            <a:off x="7762875" y="249555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Precondition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84DBAC-2338-4632-9CAF-87C65409530A}"/>
              </a:ext>
            </a:extLst>
          </p:cNvPr>
          <p:cNvSpPr>
            <a:spLocks noGrp="1"/>
          </p:cNvSpPr>
          <p:nvPr/>
        </p:nvSpPr>
        <p:spPr>
          <a:xfrm>
            <a:off x="7762875" y="28765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values must contain at least one number. Start with a real item, not an invented 0.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437CAF-A1D9-401A-A49E-09B725A1FC40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Every pass preserves the largest value seen so far.</a:t>
            </a:r>
          </a:p>
        </p:txBody>
      </p:sp>
    </p:spTree>
    <p:extLst>
      <p:ext uri="{BB962C8B-B14F-4D97-AF65-F5344CB8AC3E}">
        <p14:creationId xmlns:p14="http://schemas.microsoft.com/office/powerpoint/2010/main" val="17411200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4FB47BF-8469-4EFC-BB7D-FC1DAAAA45AF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Tracing a maximum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438150" y="1524000"/>
          <a:ext cx="11096625" cy="3571875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item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Largest before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Largest after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Initialise from first item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Not assigned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-7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-7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-7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-7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-2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-7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-2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-9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E10873B-FCE4-4917-A355-46D3BF3BCF57}"/>
              </a:ext>
            </a:extLst>
          </p:cNvPr>
          <p:cNvSpPr>
            <a:spLocks noGrp="1"/>
          </p:cNvSpPr>
          <p:nvPr/>
        </p:nvSpPr>
        <p:spPr>
          <a:xfrm>
            <a:off x="438150" y="5391150"/>
            <a:ext cx="110966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Starting at 0 would incorrectly return 0 for this all-negative list.</a:t>
            </a:r>
          </a:p>
        </p:txBody>
      </p:sp>
    </p:spTree>
    <p:extLst>
      <p:ext uri="{BB962C8B-B14F-4D97-AF65-F5344CB8AC3E}">
        <p14:creationId xmlns:p14="http://schemas.microsoft.com/office/powerpoint/2010/main" val="13875607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E02810F-54F0-4659-830B-115AC346ED2C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Task 3: filter temperatures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668CDB-E23F-4EAC-8A29-5EF20751D44A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12-MINUTE TASK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DF29AF-546A-4098-990C-1E90072B79B3}"/>
              </a:ext>
            </a:extLst>
          </p:cNvPr>
          <p:cNvSpPr>
            <a:spLocks noGrp="1"/>
          </p:cNvSpPr>
          <p:nvPr/>
        </p:nvSpPr>
        <p:spPr>
          <a:xfrm>
            <a:off x="438150" y="1838325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Your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234CF0-CC3A-4DC1-9F4E-F379083E4EA7}"/>
              </a:ext>
            </a:extLst>
          </p:cNvPr>
          <p:cNvSpPr>
            <a:spLocks noGrp="1"/>
          </p:cNvSpPr>
          <p:nvPr/>
        </p:nvSpPr>
        <p:spPr>
          <a:xfrm>
            <a:off x="438150" y="2247900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For temperatures = [-3, 0, 8, -1, 12], build a list of values below 0 and print its length.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A8BA19-8B1D-45F2-BE9C-23C6D8BCBCE3}"/>
              </a:ext>
            </a:extLst>
          </p:cNvPr>
          <p:cNvSpPr>
            <a:spLocks noGrp="1"/>
          </p:cNvSpPr>
          <p:nvPr/>
        </p:nvSpPr>
        <p:spPr>
          <a:xfrm>
            <a:off x="438150" y="3038475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Required checks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78442C-4244-4090-B890-A7D58CABB128}"/>
              </a:ext>
            </a:extLst>
          </p:cNvPr>
          <p:cNvSpPr>
            <a:spLocks noGrp="1"/>
          </p:cNvSpPr>
          <p:nvPr/>
        </p:nvSpPr>
        <p:spPr>
          <a:xfrm>
            <a:off x="438150" y="3448050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Expected list: [-3, -1], count 2. Test an empty list and a list containing only 0.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80E2BC-D884-4067-A706-4047D572664E}"/>
              </a:ext>
            </a:extLst>
          </p:cNvPr>
          <p:cNvSpPr>
            <a:spLocks noGrp="1"/>
          </p:cNvSpPr>
          <p:nvPr/>
        </p:nvSpPr>
        <p:spPr>
          <a:xfrm>
            <a:off x="438150" y="4238625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Plan and explain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B6D459-BAA0-4491-B91E-D6A35780BB97}"/>
              </a:ext>
            </a:extLst>
          </p:cNvPr>
          <p:cNvSpPr>
            <a:spLocks noGrp="1"/>
          </p:cNvSpPr>
          <p:nvPr/>
        </p:nvSpPr>
        <p:spPr>
          <a:xfrm>
            <a:off x="438150" y="4648200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Build a new list while visiting the original. Avoid deleting items during traversal.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CB8F9B-C57A-4130-BFE4-8D4C22C36517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0966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Work independently, then compare the reasoning with a partner.</a:t>
            </a:r>
          </a:p>
        </p:txBody>
      </p:sp>
    </p:spTree>
    <p:extLst>
      <p:ext uri="{BB962C8B-B14F-4D97-AF65-F5344CB8AC3E}">
        <p14:creationId xmlns:p14="http://schemas.microsoft.com/office/powerpoint/2010/main" val="40613175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E0045BE-00ED-4439-8AB1-B7FE6C8E7AEA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Task 3 solution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F3E9FF-0382-42DB-9C00-C47E52CBC14C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8D84BE-9960-47FF-9568-A1E37F5EB047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temperatures = [-3, 0, 8, -1, 12]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freezing = []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value in temperatures: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if value &lt; 0: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freezing.append(value)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print(freezing)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print(len(freezing))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B04CF3-5A14-4627-93A9-BC94FDB49704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DCD5D2-4076-42FE-A26E-D3EE66039CEB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[-3, -1]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E782D4-D181-4BDD-A67F-F94C2CC53A4C}"/>
              </a:ext>
            </a:extLst>
          </p:cNvPr>
          <p:cNvSpPr>
            <a:spLocks noGrp="1"/>
          </p:cNvSpPr>
          <p:nvPr/>
        </p:nvSpPr>
        <p:spPr>
          <a:xfrm>
            <a:off x="7762875" y="27813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Boundary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B18195-E8B9-4EF5-A764-30B99C3F8A49}"/>
              </a:ext>
            </a:extLst>
          </p:cNvPr>
          <p:cNvSpPr>
            <a:spLocks noGrp="1"/>
          </p:cNvSpPr>
          <p:nvPr/>
        </p:nvSpPr>
        <p:spPr>
          <a:xfrm>
            <a:off x="7762875" y="31623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0 is excluded because the rule says below 0.</a:t>
            </a:r>
          </a:p>
        </p:txBody>
      </p:sp>
    </p:spTree>
    <p:extLst>
      <p:ext uri="{BB962C8B-B14F-4D97-AF65-F5344CB8AC3E}">
        <p14:creationId xmlns:p14="http://schemas.microsoft.com/office/powerpoint/2010/main" val="20651367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098533B-9A41-4BD4-8BDF-B44EDD6CE3B3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Validation has two questions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E2C2A1-3782-40A8-8BE9-9C89E2F16DC8}"/>
              </a:ext>
            </a:extLst>
          </p:cNvPr>
          <p:cNvSpPr>
            <a:spLocks noGrp="1"/>
          </p:cNvSpPr>
          <p:nvPr/>
        </p:nvSpPr>
        <p:spPr>
          <a:xfrm>
            <a:off x="438150" y="160020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Can it convert?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EA59D9-C620-4CAF-B899-7192FE8484BB}"/>
              </a:ext>
            </a:extLst>
          </p:cNvPr>
          <p:cNvSpPr>
            <a:spLocks noGrp="1"/>
          </p:cNvSpPr>
          <p:nvPr/>
        </p:nvSpPr>
        <p:spPr>
          <a:xfrm>
            <a:off x="438150" y="200977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int("hello") raises ValueError. Handle this with try/except.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CDE4D1-EE2E-4CBF-A35E-E9FFA3E0F2C6}"/>
              </a:ext>
            </a:extLst>
          </p:cNvPr>
          <p:cNvSpPr>
            <a:spLocks noGrp="1"/>
          </p:cNvSpPr>
          <p:nvPr/>
        </p:nvSpPr>
        <p:spPr>
          <a:xfrm>
            <a:off x="438150" y="280035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Is it allowed?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D7B9F1-FC7A-4B57-B709-6F3A77D9B99C}"/>
              </a:ext>
            </a:extLst>
          </p:cNvPr>
          <p:cNvSpPr>
            <a:spLocks noGrp="1"/>
          </p:cNvSpPr>
          <p:nvPr/>
        </p:nvSpPr>
        <p:spPr>
          <a:xfrm>
            <a:off x="438150" y="320992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int("150") succeeds, but a score of 150 is outside 0 to 100.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D66570-6DA1-492D-8AEF-B0E580C00790}"/>
              </a:ext>
            </a:extLst>
          </p:cNvPr>
          <p:cNvSpPr>
            <a:spLocks noGrp="1"/>
          </p:cNvSpPr>
          <p:nvPr/>
        </p:nvSpPr>
        <p:spPr>
          <a:xfrm>
            <a:off x="438150" y="400050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When to repeat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03416C-E065-4938-AA9E-EC7EAFD4E917}"/>
              </a:ext>
            </a:extLst>
          </p:cNvPr>
          <p:cNvSpPr>
            <a:spLocks noGrp="1"/>
          </p:cNvSpPr>
          <p:nvPr/>
        </p:nvSpPr>
        <p:spPr>
          <a:xfrm>
            <a:off x="438150" y="441007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Keep asking while the entry is invalid. Stop only after a valid score.</a:t>
            </a:r>
          </a:p>
        </p:txBody>
      </p:sp>
    </p:spTree>
    <p:extLst>
      <p:ext uri="{BB962C8B-B14F-4D97-AF65-F5344CB8AC3E}">
        <p14:creationId xmlns:p14="http://schemas.microsoft.com/office/powerpoint/2010/main" val="17325922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41767A9-DCFA-4E12-98E6-E2BAAE65FD7F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loop that accepts a valid score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0BADB4-3E75-440E-B649-4FFD71CA5D8B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F792B2-0D35-4D04-99C7-15F88C5D3993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while True: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try: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score = int(input("Score 0-100: "))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except ValueError: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print("Enter an integer")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continue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if 0 &lt;= score &lt;= 100: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break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print("Outside range")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print("Accepted:", score)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E620C7-151B-4753-83C5-229754B16620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Try in order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9F8C6C-1E4F-424C-8B67-54BB66984B89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hello, 101, 80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240A17-1EAB-4DDA-B373-27136D173FAB}"/>
              </a:ext>
            </a:extLst>
          </p:cNvPr>
          <p:cNvSpPr>
            <a:spLocks noGrp="1"/>
          </p:cNvSpPr>
          <p:nvPr/>
        </p:nvSpPr>
        <p:spPr>
          <a:xfrm>
            <a:off x="7762875" y="249555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07C483-FBAA-4945-8DC1-C8ACABA10E80}"/>
              </a:ext>
            </a:extLst>
          </p:cNvPr>
          <p:cNvSpPr>
            <a:spLocks noGrp="1"/>
          </p:cNvSpPr>
          <p:nvPr/>
        </p:nvSpPr>
        <p:spPr>
          <a:xfrm>
            <a:off x="7762875" y="28765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Enter an integer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Outside range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Accepted: 80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11EE9C-2744-4D46-98FA-83501A986602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continue retries after conversion failure. break ends the loop after valid input.</a:t>
            </a:r>
          </a:p>
        </p:txBody>
      </p:sp>
    </p:spTree>
    <p:extLst>
      <p:ext uri="{BB962C8B-B14F-4D97-AF65-F5344CB8AC3E}">
        <p14:creationId xmlns:p14="http://schemas.microsoft.com/office/powerpoint/2010/main" val="9573676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1D4A6A-7EFC-4624-8483-E2A7103C5471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Tests for the input loop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438150" y="1524000"/>
          <a:ext cx="11096625" cy="3571875"/>
        </p:xfrm>
        <a:graphic>
          <a:graphicData uri="http://schemas.openxmlformats.org/drawingml/2006/table">
            <a:tbl>
              <a:tblPr/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9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Entries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Expected behaviour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hello, then 0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Conversion message, then accept 0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-1, then 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Range message, then accept 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101, then 99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Range message, then accept 99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Accept immediately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5F1DDCF-A1F3-4D79-9ABC-20B65A4999D2}"/>
              </a:ext>
            </a:extLst>
          </p:cNvPr>
          <p:cNvSpPr>
            <a:spLocks noGrp="1"/>
          </p:cNvSpPr>
          <p:nvPr/>
        </p:nvSpPr>
        <p:spPr>
          <a:xfrm>
            <a:off x="438150" y="5391150"/>
            <a:ext cx="110966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Test both included boundaries and values just outside them.</a:t>
            </a:r>
          </a:p>
        </p:txBody>
      </p:sp>
    </p:spTree>
    <p:extLst>
      <p:ext uri="{BB962C8B-B14F-4D97-AF65-F5344CB8AC3E}">
        <p14:creationId xmlns:p14="http://schemas.microsoft.com/office/powerpoint/2010/main" val="30637437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AC20AF-314F-4726-8E14-51F65E82ADA1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sentinel must be checked first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41D624-09D0-4899-8C43-61EEFCE4BF9C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C643B9-D800-4745-8FDD-11DB43E802CC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total = 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while True: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value = int(input("Number (-1 stops): "))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if value == -1: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break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total += value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print("Total:", total)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7E5B7-6AE2-43CB-ADEF-B664AB7C9421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Input contract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61422B-FD5E-45D2-9A42-7CA21CF23B9D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Enter integers. -1 is reserved for stopping and cannot be data.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B33BE9-456A-498B-8203-8F0D0352279C}"/>
              </a:ext>
            </a:extLst>
          </p:cNvPr>
          <p:cNvSpPr>
            <a:spLocks noGrp="1"/>
          </p:cNvSpPr>
          <p:nvPr/>
        </p:nvSpPr>
        <p:spPr>
          <a:xfrm>
            <a:off x="7762875" y="306705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0EB7DC-966E-4241-AE9A-94B9E546FFC2}"/>
              </a:ext>
            </a:extLst>
          </p:cNvPr>
          <p:cNvSpPr>
            <a:spLocks noGrp="1"/>
          </p:cNvSpPr>
          <p:nvPr/>
        </p:nvSpPr>
        <p:spPr>
          <a:xfrm>
            <a:off x="7762875" y="344805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Inputs 4, 7, -1 produce Total: 11.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35B375-BEAA-42FA-94F5-BE273ACEDD6F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Checking the sentinel before addition keeps it out of the total.</a:t>
            </a:r>
          </a:p>
        </p:txBody>
      </p:sp>
    </p:spTree>
    <p:extLst>
      <p:ext uri="{BB962C8B-B14F-4D97-AF65-F5344CB8AC3E}">
        <p14:creationId xmlns:p14="http://schemas.microsoft.com/office/powerpoint/2010/main" val="16788236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F05CDB2-B54D-4676-BD53-93EA25C90D3A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Broken code: the stop value is added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C3F744-AD07-40C0-8DBA-6D7D18FC7DB9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BROKEN 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178FE2-78F3-4C56-8EAC-92FE6AC37F5F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total = 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while True: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value = int(input("Number (-1 stops): "))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total += value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if value == -1: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break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print(total)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0DB478-DECD-4AA6-80DC-B96C25952D03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EB84AF-A976-4766-BDAD-2CC1AF382D31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4, 7, -1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D1FEAD-C4E2-4862-B01D-AF51AFF804DE}"/>
              </a:ext>
            </a:extLst>
          </p:cNvPr>
          <p:cNvSpPr>
            <a:spLocks noGrp="1"/>
          </p:cNvSpPr>
          <p:nvPr/>
        </p:nvSpPr>
        <p:spPr>
          <a:xfrm>
            <a:off x="7762875" y="249555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DB41C3-D4C3-4A31-ABA1-B9B7E8EECBFE}"/>
              </a:ext>
            </a:extLst>
          </p:cNvPr>
          <p:cNvSpPr>
            <a:spLocks noGrp="1"/>
          </p:cNvSpPr>
          <p:nvPr/>
        </p:nvSpPr>
        <p:spPr>
          <a:xfrm>
            <a:off x="7762875" y="28765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Predict the wrong result. Move the addition after the stopping test.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1331B7-3B44-4E28-AAA4-7F613FA4A2EA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Repair output: 11. Immediate -1 should give 0.</a:t>
            </a:r>
          </a:p>
        </p:txBody>
      </p:sp>
    </p:spTree>
    <p:extLst>
      <p:ext uri="{BB962C8B-B14F-4D97-AF65-F5344CB8AC3E}">
        <p14:creationId xmlns:p14="http://schemas.microsoft.com/office/powerpoint/2010/main" val="39375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BD62C8D-0130-4DFB-B3CE-D94F330FF5AD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Sentinel repair and test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93068A-DDFC-478E-91FE-793EED18159F}"/>
              </a:ext>
            </a:extLst>
          </p:cNvPr>
          <p:cNvSpPr>
            <a:spLocks noGrp="1"/>
          </p:cNvSpPr>
          <p:nvPr/>
        </p:nvSpPr>
        <p:spPr>
          <a:xfrm>
            <a:off x="438150" y="160020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Correct order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E10E73-2E04-4670-B462-30EE0A49C5C7}"/>
              </a:ext>
            </a:extLst>
          </p:cNvPr>
          <p:cNvSpPr>
            <a:spLocks noGrp="1"/>
          </p:cNvSpPr>
          <p:nvPr/>
        </p:nvSpPr>
        <p:spPr>
          <a:xfrm>
            <a:off x="438150" y="200977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Read value. Test for -1. Break if matched. Otherwise add value.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7431D9-2779-41E9-8859-5277314E7D6D}"/>
              </a:ext>
            </a:extLst>
          </p:cNvPr>
          <p:cNvSpPr>
            <a:spLocks noGrp="1"/>
          </p:cNvSpPr>
          <p:nvPr/>
        </p:nvSpPr>
        <p:spPr>
          <a:xfrm>
            <a:off x="438150" y="280035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fault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DFDFEA-E0F6-4382-BBFA-7D8198E42924}"/>
              </a:ext>
            </a:extLst>
          </p:cNvPr>
          <p:cNvSpPr>
            <a:spLocks noGrp="1"/>
          </p:cNvSpPr>
          <p:nvPr/>
        </p:nvSpPr>
        <p:spPr>
          <a:xfrm>
            <a:off x="438150" y="320992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broken program adds -1 before exiting, so it reports 10 instead of 11.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3074B9-FB91-4AA2-BD24-337AA4F2079A}"/>
              </a:ext>
            </a:extLst>
          </p:cNvPr>
          <p:cNvSpPr>
            <a:spLocks noGrp="1"/>
          </p:cNvSpPr>
          <p:nvPr/>
        </p:nvSpPr>
        <p:spPr>
          <a:xfrm>
            <a:off x="438150" y="400050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Immediate stop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0ED353-E684-407E-BD21-BA2BCAFB77A4}"/>
              </a:ext>
            </a:extLst>
          </p:cNvPr>
          <p:cNvSpPr>
            <a:spLocks noGrp="1"/>
          </p:cNvSpPr>
          <p:nvPr/>
        </p:nvSpPr>
        <p:spPr>
          <a:xfrm>
            <a:off x="438150" y="441007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correct version reports 0 because no data value was processed.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B85A89-962E-4F68-B8D9-86C5E21A3ECB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0966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complete corrected code is on the preceding sentinel example slide.</a:t>
            </a:r>
          </a:p>
        </p:txBody>
      </p:sp>
    </p:spTree>
    <p:extLst>
      <p:ext uri="{BB962C8B-B14F-4D97-AF65-F5344CB8AC3E}">
        <p14:creationId xmlns:p14="http://schemas.microsoft.com/office/powerpoint/2010/main" val="26146583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1DD2499-18D5-4CD7-9001-D6EF715D18F6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Two loops can describe coordinates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A7E1D0-7703-4DF1-BBD8-4DF7E882CEA0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528AE0-B885-4B80-AE24-B3C4769D5DA7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row in range(2):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for column in range(3):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x = column * 60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y = row * 60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print(x, y)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A9376E-14AE-45C5-849F-B7E734B2B31F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499E5F-8A15-494F-8DFA-5E03C9094CF1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1790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0 0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60 0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120 0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0 60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60 60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120 60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2EE4F3-C375-4868-95C4-7D2DDE954E7F}"/>
              </a:ext>
            </a:extLst>
          </p:cNvPr>
          <p:cNvSpPr>
            <a:spLocks noGrp="1"/>
          </p:cNvSpPr>
          <p:nvPr/>
        </p:nvSpPr>
        <p:spPr>
          <a:xfrm>
            <a:off x="7762875" y="39243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Count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794526-5815-4001-A19B-5A37987B0659}"/>
              </a:ext>
            </a:extLst>
          </p:cNvPr>
          <p:cNvSpPr>
            <a:spLocks noGrp="1"/>
          </p:cNvSpPr>
          <p:nvPr/>
        </p:nvSpPr>
        <p:spPr>
          <a:xfrm>
            <a:off x="7762875" y="43053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 rows × 3 columns = 6 positions.</a:t>
            </a:r>
          </a:p>
        </p:txBody>
      </p:sp>
    </p:spTree>
    <p:extLst>
      <p:ext uri="{BB962C8B-B14F-4D97-AF65-F5344CB8AC3E}">
        <p14:creationId xmlns:p14="http://schemas.microsoft.com/office/powerpoint/2010/main" val="23887498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DC55CF3-F40E-47BE-B100-2788B6106518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turtle setup for this lecture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E83A35-82A0-4550-98A0-40CBF9980B82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B020DB-B31C-4F2D-8484-DC9FEB90066D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import turtle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screen = turtle.Screen()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screen.setup(800, 650)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 = turtle.Turtle()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t.speed(0)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# Drawing code goes here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turtle.done()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F03C7C-25D6-475B-A2A5-545CDDAB8368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Complete files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2EAAC5-C15C-44C8-88C3-17F5622F85F4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code pack includes the setup with each drawing example.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715559-92C5-434A-B54F-0227C9D53500}"/>
              </a:ext>
            </a:extLst>
          </p:cNvPr>
          <p:cNvSpPr>
            <a:spLocks noGrp="1"/>
          </p:cNvSpPr>
          <p:nvPr/>
        </p:nvSpPr>
        <p:spPr>
          <a:xfrm>
            <a:off x="7762875" y="27813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Movement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ECB70E-8527-4413-A767-218E92CBF2CF}"/>
              </a:ext>
            </a:extLst>
          </p:cNvPr>
          <p:cNvSpPr>
            <a:spLocks noGrp="1"/>
          </p:cNvSpPr>
          <p:nvPr/>
        </p:nvSpPr>
        <p:spPr>
          <a:xfrm>
            <a:off x="7762875" y="31623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Use penup while moving to a new drawing position.</a:t>
            </a:r>
          </a:p>
        </p:txBody>
      </p:sp>
    </p:spTree>
    <p:extLst>
      <p:ext uri="{BB962C8B-B14F-4D97-AF65-F5344CB8AC3E}">
        <p14:creationId xmlns:p14="http://schemas.microsoft.com/office/powerpoint/2010/main" val="12832071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9F9AA21-BDC6-4AB8-AC45-5C20BBCD0531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grid of turtle dots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7D3848-A1B3-4297-AF96-CAF3A1061FA5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34A431-92A2-43DD-9906-955D10D0E20B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t.penup()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row in range(3):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for column in range(5):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x = -120 + column * 60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y = -60 + row * 60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t.goto(x, y)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t.dot(20, "blue")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26736" y="1466850"/>
            <a:ext cx="3682278" cy="30003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DF498CB-A08C-471F-ACC1-D78DDD3793D7}"/>
              </a:ext>
            </a:extLst>
          </p:cNvPr>
          <p:cNvSpPr>
            <a:spLocks noGrp="1"/>
          </p:cNvSpPr>
          <p:nvPr/>
        </p:nvSpPr>
        <p:spPr>
          <a:xfrm>
            <a:off x="7762875" y="4552950"/>
            <a:ext cx="3886200" cy="1323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15 blue dots in 3 rows of 5. The centres are 60 units apart. dot draws even when the pen is up.</a:t>
            </a:r>
          </a:p>
        </p:txBody>
      </p:sp>
    </p:spTree>
    <p:extLst>
      <p:ext uri="{BB962C8B-B14F-4D97-AF65-F5344CB8AC3E}">
        <p14:creationId xmlns:p14="http://schemas.microsoft.com/office/powerpoint/2010/main" val="32209489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4D54B40-CBC7-4D38-91C2-B337B00EF61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Task 4: a coloured dot grid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341B19-2B62-43B4-8682-5DF8BA8C4BBD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12-MINUTE TASK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B210E4-71D5-4621-964B-CD151F1E7617}"/>
              </a:ext>
            </a:extLst>
          </p:cNvPr>
          <p:cNvSpPr>
            <a:spLocks noGrp="1"/>
          </p:cNvSpPr>
          <p:nvPr/>
        </p:nvSpPr>
        <p:spPr>
          <a:xfrm>
            <a:off x="438150" y="1838325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Your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C50C25-8105-42A3-8139-61FDB79DBF18}"/>
              </a:ext>
            </a:extLst>
          </p:cNvPr>
          <p:cNvSpPr>
            <a:spLocks noGrp="1"/>
          </p:cNvSpPr>
          <p:nvPr/>
        </p:nvSpPr>
        <p:spPr>
          <a:xfrm>
            <a:off x="438150" y="2247900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Draw 4 rows of 6 dots, spaced 50 units apart. Start at (-125, -75). Even-numbered rows are blue, odd-numbered rows are red.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109FEE-8361-4A67-9476-D8057B9FFB8D}"/>
              </a:ext>
            </a:extLst>
          </p:cNvPr>
          <p:cNvSpPr>
            <a:spLocks noGrp="1"/>
          </p:cNvSpPr>
          <p:nvPr/>
        </p:nvSpPr>
        <p:spPr>
          <a:xfrm>
            <a:off x="438150" y="3038475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Required checks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DA0D27-B616-4978-B1C7-239C2A29B4BB}"/>
              </a:ext>
            </a:extLst>
          </p:cNvPr>
          <p:cNvSpPr>
            <a:spLocks noGrp="1"/>
          </p:cNvSpPr>
          <p:nvPr/>
        </p:nvSpPr>
        <p:spPr>
          <a:xfrm>
            <a:off x="438150" y="3448050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24 dots. Rows 0 and 2 blue. Rows 1 and 3 red. No joining lines.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53894E-F8D0-436D-BFE8-84FA969D1CB4}"/>
              </a:ext>
            </a:extLst>
          </p:cNvPr>
          <p:cNvSpPr>
            <a:spLocks noGrp="1"/>
          </p:cNvSpPr>
          <p:nvPr/>
        </p:nvSpPr>
        <p:spPr>
          <a:xfrm>
            <a:off x="438150" y="4238625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Plan and explain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CA5226-EEAD-436D-B062-28945FC8559B}"/>
              </a:ext>
            </a:extLst>
          </p:cNvPr>
          <p:cNvSpPr>
            <a:spLocks noGrp="1"/>
          </p:cNvSpPr>
          <p:nvPr/>
        </p:nvSpPr>
        <p:spPr>
          <a:xfrm>
            <a:off x="438150" y="4648200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Use row % 2 to select the colour and nested loops for the coordinates.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1C1A41-9307-40E2-A163-65624A1C4DBC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0966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Work independently, then compare the reasoning with a partner.</a:t>
            </a:r>
          </a:p>
        </p:txBody>
      </p:sp>
    </p:spTree>
    <p:extLst>
      <p:ext uri="{BB962C8B-B14F-4D97-AF65-F5344CB8AC3E}">
        <p14:creationId xmlns:p14="http://schemas.microsoft.com/office/powerpoint/2010/main" val="26016415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B7EFEFE-89E5-4341-8B91-6EF91BBA349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Task 4 solution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5C0217-68BD-44A9-B897-93F6C258AF01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E05B60-878F-4298-B799-6BDDFB3421DC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t.penup()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row in range(4):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if row % 2 == 0: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colour = "blue"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else: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colour = "red"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for column in range(6):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x = -125 + column * 50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y = -75 + row * 50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t.goto(x, y)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t.dot(20, colour)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26736" y="1466850"/>
            <a:ext cx="3682278" cy="30003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4B64B5A-5459-4254-819E-ADC550DA59D7}"/>
              </a:ext>
            </a:extLst>
          </p:cNvPr>
          <p:cNvSpPr>
            <a:spLocks noGrp="1"/>
          </p:cNvSpPr>
          <p:nvPr/>
        </p:nvSpPr>
        <p:spPr>
          <a:xfrm>
            <a:off x="7762875" y="4552950"/>
            <a:ext cx="3886200" cy="1323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4 outer passes, 24 inner passes, 24 dots. Final position: (125, 75). Heading remains 0 degrees.</a:t>
            </a:r>
          </a:p>
        </p:txBody>
      </p:sp>
    </p:spTree>
    <p:extLst>
      <p:ext uri="{BB962C8B-B14F-4D97-AF65-F5344CB8AC3E}">
        <p14:creationId xmlns:p14="http://schemas.microsoft.com/office/powerpoint/2010/main" val="8574780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9E8E8C-AB74-4450-8DDA-1A5E87BEC618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Exit questions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F18633-BED0-4A16-92C0-20DE0107EC69}"/>
              </a:ext>
            </a:extLst>
          </p:cNvPr>
          <p:cNvSpPr>
            <a:spLocks noGrp="1"/>
          </p:cNvSpPr>
          <p:nvPr/>
        </p:nvSpPr>
        <p:spPr>
          <a:xfrm>
            <a:off x="438150" y="160020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Strings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3F1EB0-836F-4C9C-8A4A-39CA68760A42}"/>
              </a:ext>
            </a:extLst>
          </p:cNvPr>
          <p:cNvSpPr>
            <a:spLocks noGrp="1"/>
          </p:cNvSpPr>
          <p:nvPr/>
        </p:nvSpPr>
        <p:spPr>
          <a:xfrm>
            <a:off x="438150" y="200977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Why build a new string? What happens to a counter on empty input?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10D74F-CD14-4AAE-AA7B-CEE1067B4906}"/>
              </a:ext>
            </a:extLst>
          </p:cNvPr>
          <p:cNvSpPr>
            <a:spLocks noGrp="1"/>
          </p:cNvSpPr>
          <p:nvPr/>
        </p:nvSpPr>
        <p:spPr>
          <a:xfrm>
            <a:off x="438150" y="280035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Lists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DC5032-8953-4738-A94A-734D91A91701}"/>
              </a:ext>
            </a:extLst>
          </p:cNvPr>
          <p:cNvSpPr>
            <a:spLocks noGrp="1"/>
          </p:cNvSpPr>
          <p:nvPr/>
        </p:nvSpPr>
        <p:spPr>
          <a:xfrm>
            <a:off x="438150" y="320992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Why does maximum = 0 fail for an all-negative list?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44526A-A897-4812-B5D0-1BBB9E0BB448}"/>
              </a:ext>
            </a:extLst>
          </p:cNvPr>
          <p:cNvSpPr>
            <a:spLocks noGrp="1"/>
          </p:cNvSpPr>
          <p:nvPr/>
        </p:nvSpPr>
        <p:spPr>
          <a:xfrm>
            <a:off x="438150" y="400050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33BA2B-6536-45F7-BAE6-FC3EF181DA55}"/>
              </a:ext>
            </a:extLst>
          </p:cNvPr>
          <p:cNvSpPr>
            <a:spLocks noGrp="1"/>
          </p:cNvSpPr>
          <p:nvPr/>
        </p:nvSpPr>
        <p:spPr>
          <a:xfrm>
            <a:off x="438150" y="441007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Where must the sentinel test go? What does continue do after ValueError?</a:t>
            </a:r>
          </a:p>
        </p:txBody>
      </p:sp>
    </p:spTree>
    <p:extLst>
      <p:ext uri="{BB962C8B-B14F-4D97-AF65-F5344CB8AC3E}">
        <p14:creationId xmlns:p14="http://schemas.microsoft.com/office/powerpoint/2010/main" val="6082997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16AFA65-54D7-4983-AA70-1992F306A95E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Exit answers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108E55-CD1A-4E8B-AC6E-12930F37AB3E}"/>
              </a:ext>
            </a:extLst>
          </p:cNvPr>
          <p:cNvSpPr>
            <a:spLocks noGrp="1"/>
          </p:cNvSpPr>
          <p:nvPr/>
        </p:nvSpPr>
        <p:spPr>
          <a:xfrm>
            <a:off x="438150" y="160020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Strings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8AED3D-606F-434C-B9CF-9F74C7D9D4F5}"/>
              </a:ext>
            </a:extLst>
          </p:cNvPr>
          <p:cNvSpPr>
            <a:spLocks noGrp="1"/>
          </p:cNvSpPr>
          <p:nvPr/>
        </p:nvSpPr>
        <p:spPr>
          <a:xfrm>
            <a:off x="438150" y="200977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Strings are immutable. A counter initialised before the loop remains 0 on empty input.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11A60B-8156-46B7-8AEE-CA2DB1F36D38}"/>
              </a:ext>
            </a:extLst>
          </p:cNvPr>
          <p:cNvSpPr>
            <a:spLocks noGrp="1"/>
          </p:cNvSpPr>
          <p:nvPr/>
        </p:nvSpPr>
        <p:spPr>
          <a:xfrm>
            <a:off x="438150" y="280035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Lists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DCC1C1-1F16-4180-9929-FCA57CBA9AA0}"/>
              </a:ext>
            </a:extLst>
          </p:cNvPr>
          <p:cNvSpPr>
            <a:spLocks noGrp="1"/>
          </p:cNvSpPr>
          <p:nvPr/>
        </p:nvSpPr>
        <p:spPr>
          <a:xfrm>
            <a:off x="438150" y="320992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0 is larger than every negative item. Start from a real item in a nonempty list.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83FD40-A375-4E4C-A3A1-9D8F651DE3E1}"/>
              </a:ext>
            </a:extLst>
          </p:cNvPr>
          <p:cNvSpPr>
            <a:spLocks noGrp="1"/>
          </p:cNvSpPr>
          <p:nvPr/>
        </p:nvSpPr>
        <p:spPr>
          <a:xfrm>
            <a:off x="438150" y="400050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CDE4D1-99F3-4BD5-A891-F7DD43258D26}"/>
              </a:ext>
            </a:extLst>
          </p:cNvPr>
          <p:cNvSpPr>
            <a:spLocks noGrp="1"/>
          </p:cNvSpPr>
          <p:nvPr/>
        </p:nvSpPr>
        <p:spPr>
          <a:xfrm>
            <a:off x="438150" y="441007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Test before adding the sentinel. continue begins another input attempt.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E85503-FABF-4DA1-9DE0-80B4A9C4BDD4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0966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Next: package a useful calculation or drawing into a named function.</a:t>
            </a:r>
          </a:p>
        </p:txBody>
      </p:sp>
    </p:spTree>
    <p:extLst>
      <p:ext uri="{BB962C8B-B14F-4D97-AF65-F5344CB8AC3E}">
        <p14:creationId xmlns:p14="http://schemas.microsoft.com/office/powerpoint/2010/main" val="7762075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7D6E3F-67E1-47BC-B313-62C371C2902F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Course alignment and reading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D3687A-6568-4AF9-B29A-4C166852DACF}"/>
              </a:ext>
            </a:extLst>
          </p:cNvPr>
          <p:cNvSpPr>
            <a:spLocks noGrp="1"/>
          </p:cNvSpPr>
          <p:nvPr/>
        </p:nvSpPr>
        <p:spPr>
          <a:xfrm>
            <a:off x="438150" y="1897673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How to Think Like a Computer Scientist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0660BB-3951-4FE5-A127-BCE5B6B531EC}"/>
              </a:ext>
            </a:extLst>
          </p:cNvPr>
          <p:cNvSpPr>
            <a:spLocks noGrp="1"/>
          </p:cNvSpPr>
          <p:nvPr/>
        </p:nvSpPr>
        <p:spPr>
          <a:xfrm>
            <a:off x="438150" y="2307248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Learning with Python 3, Chapter 7, §§8.5, 8.9 and 8.11, and Chapter 11.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CC27FD-5774-490C-A0F4-733D28BB9531}"/>
              </a:ext>
            </a:extLst>
          </p:cNvPr>
          <p:cNvSpPr>
            <a:spLocks noGrp="1"/>
          </p:cNvSpPr>
          <p:nvPr/>
        </p:nvSpPr>
        <p:spPr>
          <a:xfrm>
            <a:off x="438150" y="3097823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Other core books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D10F74-6C01-443C-8E5B-263F53D43B73}"/>
              </a:ext>
            </a:extLst>
          </p:cNvPr>
          <p:cNvSpPr>
            <a:spLocks noGrp="1"/>
          </p:cNvSpPr>
          <p:nvPr/>
        </p:nvSpPr>
        <p:spPr>
          <a:xfrm>
            <a:off x="438150" y="3507398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Kalb, Learn to Program with Python 3, Chapters 6, 7 and 8. OCR Computer Science, Chapter 55.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0FC7A7-7A79-4EE6-95EE-878BC6698FFA}"/>
              </a:ext>
            </a:extLst>
          </p:cNvPr>
          <p:cNvSpPr>
            <a:spLocks noGrp="1"/>
          </p:cNvSpPr>
          <p:nvPr/>
        </p:nvSpPr>
        <p:spPr>
          <a:xfrm>
            <a:off x="438150" y="4593248"/>
            <a:ext cx="110966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Use the examples and exercises to practise the specified Python skills.</a:t>
            </a:r>
          </a:p>
        </p:txBody>
      </p:sp>
    </p:spTree>
    <p:extLst>
      <p:ext uri="{BB962C8B-B14F-4D97-AF65-F5344CB8AC3E}">
        <p14:creationId xmlns:p14="http://schemas.microsoft.com/office/powerpoint/2010/main" val="1491181029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2596</Words>
  <Application>Microsoft Office PowerPoint</Application>
  <PresentationFormat>Widescreen</PresentationFormat>
  <Paragraphs>473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Aptos</vt:lpstr>
      <vt:lpstr>Arial</vt:lpstr>
      <vt:lpstr>DejaVu Sans Mono</vt:lpstr>
      <vt:lpstr>2_Office Theme</vt:lpstr>
      <vt:lpstr>15_Office Theme</vt:lpstr>
      <vt:lpstr>3_Office Theme</vt:lpstr>
      <vt:lpstr>21_Office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Katy Ruth Halpin</dc:creator>
  <cp:lastModifiedBy>Séamus Cummins</cp:lastModifiedBy>
  <cp:revision>9</cp:revision>
  <dcterms:created xsi:type="dcterms:W3CDTF">2022-05-19T09:57:07Z</dcterms:created>
  <dcterms:modified xsi:type="dcterms:W3CDTF">2026-10-12T11:12:29Z</dcterms:modified>
</cp:coreProperties>
</file>