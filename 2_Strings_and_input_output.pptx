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  <p:sldMasterId id="2147483814" r:id="rId2"/>
    <p:sldMasterId id="2147483899" r:id="rId3"/>
    <p:sldMasterId id="2147483905" r:id="rId4"/>
  </p:sldMasterIdLst>
  <p:notesMasterIdLst>
    <p:notesMasterId r:id="rId23"/>
  </p:notesMasterIdLst>
  <p:sldIdLst>
    <p:sldId id="277" r:id="rId5"/>
    <p:sldId id="280" r:id="rId6"/>
    <p:sldId id="258" r:id="rId7"/>
    <p:sldId id="259" r:id="rId8"/>
    <p:sldId id="260" r:id="rId9"/>
    <p:sldId id="261" r:id="rId10"/>
    <p:sldId id="262" r:id="rId11"/>
    <p:sldId id="263" r:id="rId12"/>
    <p:sldId id="278" r:id="rId13"/>
    <p:sldId id="279" r:id="rId14"/>
    <p:sldId id="264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5F8"/>
    <a:srgbClr val="FFC800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4F9AD7-0636-43FC-942D-C6CC0BC73227}" v="2" dt="2026-10-06T08:04:50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36"/>
    <p:restoredTop sz="94716"/>
  </p:normalViewPr>
  <p:slideViewPr>
    <p:cSldViewPr snapToGrid="0" snapToObjects="1">
      <p:cViewPr varScale="1">
        <p:scale>
          <a:sx n="82" d="100"/>
          <a:sy n="82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amus Cummins" userId="9cbc4947-2644-4ffd-8985-8dfea9f9d8f2" providerId="ADAL" clId="{52D3679E-C8EB-4FED-9467-7F6E2156AACE}"/>
    <pc:docChg chg="custSel modSld">
      <pc:chgData name="Séamus Cummins" userId="9cbc4947-2644-4ffd-8985-8dfea9f9d8f2" providerId="ADAL" clId="{52D3679E-C8EB-4FED-9467-7F6E2156AACE}" dt="2026-10-06T14:15:24.043" v="3" actId="478"/>
      <pc:docMkLst>
        <pc:docMk/>
      </pc:docMkLst>
      <pc:sldChg chg="delSp modSp mod">
        <pc:chgData name="Séamus Cummins" userId="9cbc4947-2644-4ffd-8985-8dfea9f9d8f2" providerId="ADAL" clId="{52D3679E-C8EB-4FED-9467-7F6E2156AACE}" dt="2026-10-06T14:15:24.043" v="3" actId="478"/>
        <pc:sldMkLst>
          <pc:docMk/>
          <pc:sldMk cId="42050300" sldId="272"/>
        </pc:sldMkLst>
        <pc:spChg chg="del">
          <ac:chgData name="Séamus Cummins" userId="9cbc4947-2644-4ffd-8985-8dfea9f9d8f2" providerId="ADAL" clId="{52D3679E-C8EB-4FED-9467-7F6E2156AACE}" dt="2026-10-06T14:15:24.043" v="3" actId="478"/>
          <ac:spMkLst>
            <pc:docMk/>
            <pc:sldMk cId="42050300" sldId="272"/>
            <ac:spMk id="7" creationId="{7CE2E804-3786-4086-98E4-40A7FD56D344}"/>
          </ac:spMkLst>
        </pc:spChg>
        <pc:spChg chg="del mod">
          <ac:chgData name="Séamus Cummins" userId="9cbc4947-2644-4ffd-8985-8dfea9f9d8f2" providerId="ADAL" clId="{52D3679E-C8EB-4FED-9467-7F6E2156AACE}" dt="2026-10-06T14:15:22.851" v="2" actId="478"/>
          <ac:spMkLst>
            <pc:docMk/>
            <pc:sldMk cId="42050300" sldId="272"/>
            <ac:spMk id="8" creationId="{044000D3-83EE-417A-89AD-3508F5E8535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8669B-D854-4764-9482-9FA95FFBD9D8}" type="datetimeFigureOut">
              <a:rPr lang="en-IE" smtClean="0"/>
              <a:t>06/10/2026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024BA-8A3D-4078-80EE-F9C62799C0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531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lt"/>
              <a:cs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BA59F3-AEB3-204E-8300-58EF74F8C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108" y="584846"/>
            <a:ext cx="7904205" cy="1293362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F77F7AA-28BF-274E-AEFB-1D0AD137F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108" y="2135639"/>
            <a:ext cx="7904205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3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434198"/>
            <a:ext cx="7737389" cy="21038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66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04" y="338139"/>
            <a:ext cx="765724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2874106"/>
            <a:ext cx="5622496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2456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0543C47-599B-DE42-8EE6-81B465151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7737390" cy="1914695"/>
          </a:xfrm>
        </p:spPr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89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63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5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2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301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71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76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92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842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465" y="875229"/>
            <a:ext cx="5383427" cy="1293362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465" y="2426022"/>
            <a:ext cx="538342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99319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1" y="2719301"/>
            <a:ext cx="5562600" cy="2103824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9332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34" y="1166042"/>
            <a:ext cx="5284745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434" y="3566083"/>
            <a:ext cx="5284745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1653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5389606" cy="1914695"/>
          </a:xfrm>
        </p:spPr>
        <p:txBody>
          <a:bodyPr>
            <a:normAutofit/>
          </a:bodyPr>
          <a:lstStyle>
            <a:lvl1pPr>
              <a:buNone/>
              <a:defRPr sz="5400" b="1"/>
            </a:lvl1pPr>
          </a:lstStyle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7219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1489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013047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95624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</a:t>
            </a:r>
            <a:br/>
            <a:r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51189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24005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3013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01127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75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6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290986"/>
            <a:ext cx="7737389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1471269"/>
            <a:ext cx="7737389" cy="2103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4902484" y="3619542"/>
            <a:ext cx="3178835" cy="1101047"/>
          </a:xfrm>
          <a:prstGeom prst="rect">
            <a:avLst/>
          </a:prstGeom>
          <a:solidFill>
            <a:srgbClr val="00324D"/>
          </a:solidFill>
          <a:ln>
            <a:solidFill>
              <a:srgbClr val="0032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4902484" y="3744615"/>
            <a:ext cx="3178835" cy="850900"/>
            <a:chOff x="4902484" y="3927475"/>
            <a:chExt cx="3178835" cy="850900"/>
          </a:xfrm>
        </p:grpSpPr>
        <p:sp>
          <p:nvSpPr>
            <p:cNvPr id="8" name="Rectangle 7"/>
            <p:cNvSpPr/>
            <p:nvPr userDrawn="1"/>
          </p:nvSpPr>
          <p:spPr>
            <a:xfrm>
              <a:off x="4902484" y="3971925"/>
              <a:ext cx="3178835" cy="762000"/>
            </a:xfrm>
            <a:prstGeom prst="rect">
              <a:avLst/>
            </a:prstGeom>
            <a:solidFill>
              <a:srgbClr val="00324D"/>
            </a:solidFill>
            <a:ln>
              <a:solidFill>
                <a:srgbClr val="0032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372" b="7528"/>
            <a:stretch/>
          </p:blipFill>
          <p:spPr>
            <a:xfrm>
              <a:off x="4902484" y="3927475"/>
              <a:ext cx="3178835" cy="850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85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4" r:id="rId4"/>
    <p:sldLayoutId id="214748367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6" y="620170"/>
            <a:ext cx="10311878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386" y="1840158"/>
            <a:ext cx="10311878" cy="4633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6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501953"/>
            <a:ext cx="5537886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2768728"/>
            <a:ext cx="5537887" cy="210382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928266-E523-4698-81D5-EC76309FBE61}"/>
              </a:ext>
            </a:extLst>
          </p:cNvPr>
          <p:cNvSpPr>
            <a:spLocks noGrp="1"/>
          </p:cNvSpPr>
          <p:nvPr/>
        </p:nvSpPr>
        <p:spPr>
          <a:xfrm>
            <a:off x="343930" y="5101152"/>
            <a:ext cx="3793730" cy="1756848"/>
          </a:xfrm>
          <a:prstGeom prst="rect">
            <a:avLst/>
          </a:prstGeom>
          <a:solidFill>
            <a:srgbClr val="FFC800"/>
          </a:solidFill>
          <a:ln>
            <a:solidFill>
              <a:srgbClr val="FFC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 rotWithShape="1">
          <a:blip r:embed="rId8"/>
          <a:srcRect t="37353" b="10945"/>
          <a:stretch/>
        </p:blipFill>
        <p:spPr>
          <a:xfrm>
            <a:off x="323290" y="5653087"/>
            <a:ext cx="3806463" cy="82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0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962" y="498250"/>
            <a:ext cx="10311878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962" y="1718239"/>
            <a:ext cx="10311878" cy="429241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10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004E88-105B-4A6C-A131-F794F518A187}"/>
              </a:ext>
            </a:extLst>
          </p:cNvPr>
          <p:cNvSpPr>
            <a:spLocks noGrp="1"/>
          </p:cNvSpPr>
          <p:nvPr/>
        </p:nvSpPr>
        <p:spPr>
          <a:xfrm>
            <a:off x="457200" y="1190625"/>
            <a:ext cx="523875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1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412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 </a:t>
            </a:r>
            <a:r>
              <a:rPr kumimoji="0" lang="en-IE" sz="440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Strings and input/output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1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endParaRPr kumimoji="0" sz="4125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7E865D-4F84-4017-9EFB-1E452F3BB231}"/>
              </a:ext>
            </a:extLst>
          </p:cNvPr>
          <p:cNvSpPr>
            <a:spLocks noGrp="1"/>
          </p:cNvSpPr>
          <p:nvPr/>
        </p:nvSpPr>
        <p:spPr>
          <a:xfrm>
            <a:off x="457200" y="4714875"/>
            <a:ext cx="50958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</a:t>
            </a:r>
            <a:r>
              <a:rPr kumimoji="0" lang="en-GB" sz="20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.</a:t>
            </a: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Séamus Cummins</a:t>
            </a:r>
          </a:p>
        </p:txBody>
      </p:sp>
    </p:spTree>
    <p:extLst>
      <p:ext uri="{BB962C8B-B14F-4D97-AF65-F5344CB8AC3E}">
        <p14:creationId xmlns:p14="http://schemas.microsoft.com/office/powerpoint/2010/main" val="362255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FA2114-49A3-48EC-9485-5D6CBAB9BC54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Choose meaningful names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5"/>
        </p:xfrm>
        <a:graphic>
          <a:graphicData uri="http://schemas.openxmlformats.org/drawingml/2006/table">
            <a:tbl>
              <a:tblPr/>
              <a:tblGrid>
                <a:gridCol w="44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Good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Avoid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total_marks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x (unclear purpose)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student_count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2students (invalid)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unit_price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unit price (invalid)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final_score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print (hides a function)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C935F30-15BA-44C4-A18F-B0E8B0AD4609}"/>
              </a:ext>
            </a:extLst>
          </p:cNvPr>
          <p:cNvSpPr>
            <a:spLocks noGrp="1"/>
          </p:cNvSpPr>
          <p:nvPr/>
        </p:nvSpPr>
        <p:spPr>
          <a:xfrm>
            <a:off x="438150" y="5314950"/>
            <a:ext cx="1109662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lowercase words joined by underscores.</a:t>
            </a:r>
          </a:p>
        </p:txBody>
      </p:sp>
    </p:spTree>
    <p:extLst>
      <p:ext uri="{BB962C8B-B14F-4D97-AF65-F5344CB8AC3E}">
        <p14:creationId xmlns:p14="http://schemas.microsoft.com/office/powerpoint/2010/main" val="813555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D2ABAA2-FBEE-440D-B083-62111298F26D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string returned by input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772A4-900A-4A88-87E2-EA492C8228F0}"/>
              </a:ext>
            </a:extLst>
          </p:cNvPr>
          <p:cNvSpPr>
            <a:spLocks noGrp="1"/>
          </p:cNvSpPr>
          <p:nvPr/>
        </p:nvSpPr>
        <p:spPr>
          <a:xfrm>
            <a:off x="438150" y="1581150"/>
            <a:ext cx="7019925" cy="417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name = input("Your name: 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print("Welcome", name)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print(type(name))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len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(name))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F31D1C-5054-40EA-8F58-F9340885AA89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6766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If the user enters Maya, name refers to the string "Maya". The output includes Welcome Maya, the type str and length 4.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Entering 123 does not make name an integer. It remains the three-character string "123".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prompt itself is not part of the returned value. The newline submitted by pressing Enter is not included.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42E0948-6129-40A5-97FD-ED61D2FAD33E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Conversion before arithmetic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8C25A8-FA5A-49DA-A2FB-80BF393D85FF}"/>
              </a:ext>
            </a:extLst>
          </p:cNvPr>
          <p:cNvSpPr>
            <a:spLocks noGrp="1"/>
          </p:cNvSpPr>
          <p:nvPr/>
        </p:nvSpPr>
        <p:spPr>
          <a:xfrm>
            <a:off x="438150" y="1581150"/>
            <a:ext cx="7019925" cy="417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days_text = input("Days of travel: 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days = int(days_text)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hours = days * 24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print("Travel time:", hours, "hours")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25656F-8FA2-4171-B4B9-BA6A139B0568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6766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input 3,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days_text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is "3", days is 3 and hours is 72.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int parses a valid whole-number string. float parses a suitable decimal-number string. A conversion can fail if the text does not represent the requested type.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int for counts and float for measurements that may have fractional parts. Choose the type from the problem.</a:t>
            </a:r>
          </a:p>
        </p:txBody>
      </p:sp>
    </p:spTree>
    <p:extLst>
      <p:ext uri="{BB962C8B-B14F-4D97-AF65-F5344CB8AC3E}">
        <p14:creationId xmlns:p14="http://schemas.microsoft.com/office/powerpoint/2010/main" val="133901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1F64F8F-0D3F-462D-BA19-6FD3868CADF0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Conversion examples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43050"/>
          <a:ext cx="11096625" cy="35242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Expression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int("12")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Valid integer text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float("12.5")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Valid decimal 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str(12)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"12"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String representation of the value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int("12.5")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ValueError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The text is not an integer literal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int(12.9)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Conversion of a float truncates toward zero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47BFB1F-77A2-41C8-8606-828D263206A0}"/>
              </a:ext>
            </a:extLst>
          </p:cNvPr>
          <p:cNvSpPr>
            <a:spLocks noGrp="1"/>
          </p:cNvSpPr>
          <p:nvPr/>
        </p:nvSpPr>
        <p:spPr>
          <a:xfrm>
            <a:off x="438150" y="5238750"/>
            <a:ext cx="11096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Converting a float to int is not a substitute for checking whether the original input should have been a whole number.</a:t>
            </a:r>
          </a:p>
        </p:txBody>
      </p:sp>
    </p:spTree>
    <p:extLst>
      <p:ext uri="{BB962C8B-B14F-4D97-AF65-F5344CB8AC3E}">
        <p14:creationId xmlns:p14="http://schemas.microsoft.com/office/powerpoint/2010/main" val="3530382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4129E7-BBB6-481E-AC2A-735B1E1EF035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String operations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7502DC-2FDE-47F8-A580-ED8E2667C6CA}"/>
              </a:ext>
            </a:extLst>
          </p:cNvPr>
          <p:cNvSpPr>
            <a:spLocks noGrp="1"/>
          </p:cNvSpPr>
          <p:nvPr/>
        </p:nvSpPr>
        <p:spPr>
          <a:xfrm>
            <a:off x="438150" y="1581150"/>
            <a:ext cx="7019925" cy="417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player = "Maya"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print("Hello " + player)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print("Ha" * 3)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print(player[0])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print(player[-1])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print(player[:2])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print(len(player))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C6253F-B028-4A70-BB90-1E232EEA6233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6766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Outputs: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Hello Maya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HaHaHa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Ma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Concatenation joins strings. Repetition copies a string. Indexing selects one character. A slice selects a range and excludes the stop index. Python indexes the first character at position 0.</a:t>
            </a:r>
          </a:p>
        </p:txBody>
      </p:sp>
    </p:spTree>
    <p:extLst>
      <p:ext uri="{BB962C8B-B14F-4D97-AF65-F5344CB8AC3E}">
        <p14:creationId xmlns:p14="http://schemas.microsoft.com/office/powerpoint/2010/main" val="420944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B900E8-E4DD-4902-9771-65A484A0FA69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Indexing and slicing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43050"/>
          <a:ext cx="11096625" cy="35242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Expression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player[1]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Index 1 is the second character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player[1:3]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Includes indices 1 and 2, excludes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player[:2]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Ma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Starts at the beginning, stops before 2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player[2:]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Starts at index 2 and continues to the 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player[4]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IndexError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There is no character at index 4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8D7FA33-FA4B-4497-ACBB-AB084C7FC7DA}"/>
              </a:ext>
            </a:extLst>
          </p:cNvPr>
          <p:cNvSpPr>
            <a:spLocks noGrp="1"/>
          </p:cNvSpPr>
          <p:nvPr/>
        </p:nvSpPr>
        <p:spPr>
          <a:xfrm>
            <a:off x="438150" y="5238750"/>
            <a:ext cx="11096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slice can safely extend beyond the end of a string. A single index must identify an existing character.</a:t>
            </a:r>
          </a:p>
        </p:txBody>
      </p:sp>
    </p:spTree>
    <p:extLst>
      <p:ext uri="{BB962C8B-B14F-4D97-AF65-F5344CB8AC3E}">
        <p14:creationId xmlns:p14="http://schemas.microsoft.com/office/powerpoint/2010/main" val="2801686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B3016D3-588F-4A15-861A-2D271D2121CC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String methods and immutability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E3A777-4CFA-4AFD-A3CC-7F810E3ACB05}"/>
              </a:ext>
            </a:extLst>
          </p:cNvPr>
          <p:cNvSpPr>
            <a:spLocks noGrp="1"/>
          </p:cNvSpPr>
          <p:nvPr/>
        </p:nvSpPr>
        <p:spPr>
          <a:xfrm>
            <a:off x="438150" y="1581150"/>
            <a:ext cx="7019925" cy="417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message = "  Example Ready  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clean = message.strip()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print(clean)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print(clean.upper())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print(clean.lower())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print(message)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EAB792-26FE-49EE-94B8-67F0A5D3CBDD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6766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strip removes surrounding whitespace. upper and lower change case in the returned string.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Strings are immutable. These operations do not alter the original string object. The final print still contains the original leading and trailing spaces.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Assign the returned value if you want a name to refer to the cleaned version.</a:t>
            </a:r>
          </a:p>
        </p:txBody>
      </p:sp>
    </p:spTree>
    <p:extLst>
      <p:ext uri="{BB962C8B-B14F-4D97-AF65-F5344CB8AC3E}">
        <p14:creationId xmlns:p14="http://schemas.microsoft.com/office/powerpoint/2010/main" val="130181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4E92C5C-10FE-4DD5-895F-765FC6D06D58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Format values with an f-string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E3AD1F-1F3A-4636-BEF8-4F9B0EC6C8F3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8669CB-BA6F-4F44-BBA3-5866B64D4FF5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7277100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2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name = "Ada"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2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 = 17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2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print(f"{name}: {score} points")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99C1EE-BFE7-44A1-ABDD-611474FC4D48}"/>
              </a:ext>
            </a:extLst>
          </p:cNvPr>
          <p:cNvSpPr>
            <a:spLocks noGrp="1"/>
          </p:cNvSpPr>
          <p:nvPr/>
        </p:nvSpPr>
        <p:spPr>
          <a:xfrm>
            <a:off x="8115300" y="148590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E1E3C5-A6F5-46C9-AEC2-D92D4F6BC8A5}"/>
              </a:ext>
            </a:extLst>
          </p:cNvPr>
          <p:cNvSpPr>
            <a:spLocks noGrp="1"/>
          </p:cNvSpPr>
          <p:nvPr/>
        </p:nvSpPr>
        <p:spPr>
          <a:xfrm>
            <a:off x="8115300" y="1885950"/>
            <a:ext cx="3429000" cy="3114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Ada: 17 points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C8D753-CD7E-4302-A1C0-0A928885CF88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 f-string inserts values inside {...}.</a:t>
            </a:r>
          </a:p>
        </p:txBody>
      </p:sp>
    </p:spTree>
    <p:extLst>
      <p:ext uri="{BB962C8B-B14F-4D97-AF65-F5344CB8AC3E}">
        <p14:creationId xmlns:p14="http://schemas.microsoft.com/office/powerpoint/2010/main" val="656004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AAC38F-E49E-4BE1-B012-705FFAE0F57C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Display two decimal places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13B4E7-88CA-4D29-85C8-B8DDF421BACE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51B3C3-6D9B-4A35-A802-2E254C6814A7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7277100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2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price = 2.5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2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print(f"Price: €{price:.2f}")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F1D7C1-512A-417F-93A5-5F45D8978174}"/>
              </a:ext>
            </a:extLst>
          </p:cNvPr>
          <p:cNvSpPr>
            <a:spLocks noGrp="1"/>
          </p:cNvSpPr>
          <p:nvPr/>
        </p:nvSpPr>
        <p:spPr>
          <a:xfrm>
            <a:off x="8115300" y="148590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D8210-5FD7-408B-AD58-93DCA53914B9}"/>
              </a:ext>
            </a:extLst>
          </p:cNvPr>
          <p:cNvSpPr>
            <a:spLocks noGrp="1"/>
          </p:cNvSpPr>
          <p:nvPr/>
        </p:nvSpPr>
        <p:spPr>
          <a:xfrm>
            <a:off x="8115300" y="1885950"/>
            <a:ext cx="3429000" cy="3114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Price: €2.50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84F3D0-D80D-4517-A38B-44AC3645C8B5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.2f formats the displayed number.</a:t>
            </a:r>
          </a:p>
        </p:txBody>
      </p:sp>
    </p:spTree>
    <p:extLst>
      <p:ext uri="{BB962C8B-B14F-4D97-AF65-F5344CB8AC3E}">
        <p14:creationId xmlns:p14="http://schemas.microsoft.com/office/powerpoint/2010/main" val="3234565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3B6DEC4-5A94-4434-806B-5E4D9CF8981E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 formatting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20A3EE-E28B-4DE5-9E46-1931E8971C32}"/>
              </a:ext>
            </a:extLst>
          </p:cNvPr>
          <p:cNvSpPr>
            <a:spLocks noGrp="1"/>
          </p:cNvSpPr>
          <p:nvPr/>
        </p:nvSpPr>
        <p:spPr>
          <a:xfrm>
            <a:off x="438150" y="1581150"/>
            <a:ext cx="7019925" cy="417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player = "Maya"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 = 174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price = 2.5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print(player + " entered " + str(score))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print(f"{player} entered {score}")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print(f"Ticket price: {price:.2f}")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E8222D-507C-4745-9A7F-5E419F3522E8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6766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Concatenation needs strings on both sides, so str(score) converts the integer into a string representation.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 f-string places expressions inside braces. The format specification :.2f displays two digits after the decimal point.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Formatting changes presentation. It does not change the value stored in price. F-strings extend the older textbook examples.</a:t>
            </a:r>
          </a:p>
        </p:txBody>
      </p:sp>
    </p:spTree>
    <p:extLst>
      <p:ext uri="{BB962C8B-B14F-4D97-AF65-F5344CB8AC3E}">
        <p14:creationId xmlns:p14="http://schemas.microsoft.com/office/powerpoint/2010/main" val="1481300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37CB123-1E63-43C1-B223-2B0F63F8AAC5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Tracing input-derived values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43050"/>
          <a:ext cx="11096625" cy="3524248"/>
        </p:xfrm>
        <a:graphic>
          <a:graphicData uri="http://schemas.openxmlformats.org/drawingml/2006/table">
            <a:tbl>
              <a:tblPr/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46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Executed statement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days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hours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days = 2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not yet defined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hours = days * 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days = days + 1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print(hours)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hours = days * 24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print(hours)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7927290-DC6D-4A3E-BC96-A942AD367CFB}"/>
              </a:ext>
            </a:extLst>
          </p:cNvPr>
          <p:cNvSpPr>
            <a:spLocks noGrp="1"/>
          </p:cNvSpPr>
          <p:nvPr/>
        </p:nvSpPr>
        <p:spPr>
          <a:xfrm>
            <a:off x="438150" y="5238750"/>
            <a:ext cx="11096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Updating days does not retroactively update hours. The second calculation explicitly computes a new result.</a:t>
            </a:r>
          </a:p>
        </p:txBody>
      </p:sp>
    </p:spTree>
    <p:extLst>
      <p:ext uri="{BB962C8B-B14F-4D97-AF65-F5344CB8AC3E}">
        <p14:creationId xmlns:p14="http://schemas.microsoft.com/office/powerpoint/2010/main" val="1884976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C2EB57-31AB-499A-A4FB-0914E44CEA46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Swapping values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A768FD-B96B-4483-AF41-BE3E9919A99E}"/>
              </a:ext>
            </a:extLst>
          </p:cNvPr>
          <p:cNvSpPr>
            <a:spLocks noGrp="1"/>
          </p:cNvSpPr>
          <p:nvPr/>
        </p:nvSpPr>
        <p:spPr>
          <a:xfrm>
            <a:off x="438150" y="1581150"/>
            <a:ext cx="7019925" cy="417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left = "oxygen"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right = "water"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temporary = left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left = right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right = temporary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print(left, right)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4FE129-E0E2-4959-AE92-444354F20881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6766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Expected output: water oxygen.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temporary variable keeps the original left value before left changes. Without it, left = right followed by right = left makes both names refer to "water".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 also supports left, right = right, left. The explicit temporary version makes the state changes easier to trace at this stage.</a:t>
            </a:r>
          </a:p>
        </p:txBody>
      </p:sp>
    </p:spTree>
    <p:extLst>
      <p:ext uri="{BB962C8B-B14F-4D97-AF65-F5344CB8AC3E}">
        <p14:creationId xmlns:p14="http://schemas.microsoft.com/office/powerpoint/2010/main" val="55413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B0EB60-FFF9-4121-8960-B57E35040B10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Text normalisation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CC599F-A6D7-466C-8FC3-925A01E7B699}"/>
              </a:ext>
            </a:extLst>
          </p:cNvPr>
          <p:cNvSpPr>
            <a:spLocks noGrp="1"/>
          </p:cNvSpPr>
          <p:nvPr/>
        </p:nvSpPr>
        <p:spPr>
          <a:xfrm>
            <a:off x="438150" y="1581150"/>
            <a:ext cx="7019925" cy="417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name = input("Name: ").strip()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city = input("City: ").strip().upper()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print(f"{name} lives in {city}.")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CE39C8-815F-4329-B994-A620709377FE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6766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Method calls apply to the string returned by input. strip removes surrounding whitespace. upper produces uppercase text.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input Maya and Dublin, the message is Maya lives in DUBLIN.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Normalise case only when the problem permits it. Names and identifiers may need their original case preserved.</a:t>
            </a:r>
          </a:p>
        </p:txBody>
      </p:sp>
    </p:spTree>
    <p:extLst>
      <p:ext uri="{BB962C8B-B14F-4D97-AF65-F5344CB8AC3E}">
        <p14:creationId xmlns:p14="http://schemas.microsoft.com/office/powerpoint/2010/main" val="1189444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985B58-4267-4821-80F1-2B4F59A7BBB6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complete input and output example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3B0F5C-AF38-41A7-BFC0-6B47B02A6501}"/>
              </a:ext>
            </a:extLst>
          </p:cNvPr>
          <p:cNvSpPr>
            <a:spLocks noGrp="1"/>
          </p:cNvSpPr>
          <p:nvPr/>
        </p:nvSpPr>
        <p:spPr>
          <a:xfrm>
            <a:off x="438150" y="1581150"/>
            <a:ext cx="7019925" cy="417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name = input("Name: ").strip()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minutes = int(input("Minutes: "))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hours = minutes // 60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remaining = minutes % 60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print(f"{name}: {hours} h {remaining} min")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93A07D-1508-4D27-89E1-C37FEDA59DF7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6766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name Maya and minutes 135, the output is Maya: 2 h 15 min.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 returns text. int converts the numeric input. The two arithmetic operations produce hours and remaining minutes.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Entering a word for minutes raises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ValueError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in this minimal example.</a:t>
            </a:r>
          </a:p>
        </p:txBody>
      </p:sp>
    </p:spTree>
    <p:extLst>
      <p:ext uri="{BB962C8B-B14F-4D97-AF65-F5344CB8AC3E}">
        <p14:creationId xmlns:p14="http://schemas.microsoft.com/office/powerpoint/2010/main" val="306211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06B4D6-8A9A-41DF-9D92-4CCAC5B2A65A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Worked string questions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AD600D-2A2E-4FA4-8BA6-7401D2A6ABC7}"/>
              </a:ext>
            </a:extLst>
          </p:cNvPr>
          <p:cNvSpPr>
            <a:spLocks noGrp="1"/>
          </p:cNvSpPr>
          <p:nvPr/>
        </p:nvSpPr>
        <p:spPr>
          <a:xfrm>
            <a:off x="438150" y="1485900"/>
            <a:ext cx="53054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3A5550-2BF0-4EF9-B5D7-29C86E9B1BA3}"/>
              </a:ext>
            </a:extLst>
          </p:cNvPr>
          <p:cNvSpPr>
            <a:spLocks noGrp="1"/>
          </p:cNvSpPr>
          <p:nvPr/>
        </p:nvSpPr>
        <p:spPr>
          <a:xfrm>
            <a:off x="6305550" y="1485900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Worked reasoning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1FE999-1D53-41E8-ACD4-41855F84B525}"/>
              </a:ext>
            </a:extLst>
          </p:cNvPr>
          <p:cNvSpPr>
            <a:spLocks noGrp="1"/>
          </p:cNvSpPr>
          <p:nvPr/>
        </p:nvSpPr>
        <p:spPr>
          <a:xfrm>
            <a:off x="438150" y="1943100"/>
            <a:ext cx="5267325" cy="38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text = "Python", predict text[0], text[-1], text[1:4] and len(text).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50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 does text[6] fail while text[:20] succeeds?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6C1A2D-4B94-4B31-813F-A2407955B998}"/>
              </a:ext>
            </a:extLst>
          </p:cNvPr>
          <p:cNvSpPr>
            <a:spLocks noGrp="1"/>
          </p:cNvSpPr>
          <p:nvPr/>
        </p:nvSpPr>
        <p:spPr>
          <a:xfrm>
            <a:off x="6305550" y="1943100"/>
            <a:ext cx="5238750" cy="38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results are P, n, </a:t>
            </a:r>
            <a:r>
              <a:rPr kumimoji="0" sz="1950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yth</a:t>
            </a: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and 6.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5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Index 6 does not identify a character. The valid nonnegative indices are 0 through 5.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5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slice can extend beyond the end and returns the available characters. Its stop position is exclusive.</a:t>
            </a:r>
          </a:p>
        </p:txBody>
      </p:sp>
    </p:spTree>
    <p:extLst>
      <p:ext uri="{BB962C8B-B14F-4D97-AF65-F5344CB8AC3E}">
        <p14:creationId xmlns:p14="http://schemas.microsoft.com/office/powerpoint/2010/main" val="378198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16E133-20EA-4BFE-ACC5-68E5525D97EC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Review questions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0E44BC-3A87-460A-BD71-CA92EA9CE984}"/>
              </a:ext>
            </a:extLst>
          </p:cNvPr>
          <p:cNvSpPr>
            <a:spLocks noGrp="1"/>
          </p:cNvSpPr>
          <p:nvPr/>
        </p:nvSpPr>
        <p:spPr>
          <a:xfrm>
            <a:off x="438150" y="1504950"/>
            <a:ext cx="5238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490BE-1D96-4318-AED5-715F22268292}"/>
              </a:ext>
            </a:extLst>
          </p:cNvPr>
          <p:cNvSpPr>
            <a:spLocks noGrp="1"/>
          </p:cNvSpPr>
          <p:nvPr/>
        </p:nvSpPr>
        <p:spPr>
          <a:xfrm>
            <a:off x="438150" y="2000250"/>
            <a:ext cx="5267325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1. </a:t>
            </a: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Explain the return type of input.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endParaRPr kumimoji="0" sz="195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2. </a:t>
            </a: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Predict an index and a slice.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endParaRPr kumimoji="0" sz="195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3. </a:t>
            </a: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Distinguish conversion from formatting.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endParaRPr kumimoji="0" sz="195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4. </a:t>
            </a: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Explain why strip does not change the original string.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982145-8FEC-4C1C-8295-39E293682EAE}"/>
              </a:ext>
            </a:extLst>
          </p:cNvPr>
          <p:cNvSpPr>
            <a:spLocks noGrp="1"/>
          </p:cNvSpPr>
          <p:nvPr/>
        </p:nvSpPr>
        <p:spPr>
          <a:xfrm>
            <a:off x="6305550" y="1504950"/>
            <a:ext cx="5238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Key points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EEFDB-022A-4292-A960-1FAEEC13AB26}"/>
              </a:ext>
            </a:extLst>
          </p:cNvPr>
          <p:cNvSpPr>
            <a:spLocks noGrp="1"/>
          </p:cNvSpPr>
          <p:nvPr/>
        </p:nvSpPr>
        <p:spPr>
          <a:xfrm>
            <a:off x="6305550" y="2000250"/>
            <a:ext cx="52387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1. </a:t>
            </a: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 returns a string.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endParaRPr kumimoji="0" sz="195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2. </a:t>
            </a: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 index selects one character, while a slice selects a range.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endParaRPr kumimoji="0" sz="195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3. </a:t>
            </a: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Conversion produces a value of another type. Formatting produces display text.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endParaRPr kumimoji="0" sz="195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4. </a:t>
            </a: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Strings are immutable, so methods return new values.</a:t>
            </a:r>
          </a:p>
        </p:txBody>
      </p:sp>
    </p:spTree>
    <p:extLst>
      <p:ext uri="{BB962C8B-B14F-4D97-AF65-F5344CB8AC3E}">
        <p14:creationId xmlns:p14="http://schemas.microsoft.com/office/powerpoint/2010/main" val="2194988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FFBB72-9C14-40FC-8A25-A413B2D72A44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Reading and further practice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70A17E-C9E5-457C-8902-983CD700205B}"/>
              </a:ext>
            </a:extLst>
          </p:cNvPr>
          <p:cNvSpPr>
            <a:spLocks noGrp="1"/>
          </p:cNvSpPr>
          <p:nvPr/>
        </p:nvSpPr>
        <p:spPr>
          <a:xfrm>
            <a:off x="438150" y="15240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Book sections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77D57A-3EF3-471B-BB06-2667E0630896}"/>
              </a:ext>
            </a:extLst>
          </p:cNvPr>
          <p:cNvSpPr>
            <a:spLocks noGrp="1"/>
          </p:cNvSpPr>
          <p:nvPr/>
        </p:nvSpPr>
        <p:spPr>
          <a:xfrm>
            <a:off x="438150" y="2019300"/>
            <a:ext cx="11096625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Think ch. 2, especially §§2.7 and 2.10; Kalb ch. 3 and ch. 8 selected; OCR ch. 53.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5ADC20-17F6-4745-982C-C701C8958504}"/>
              </a:ext>
            </a:extLst>
          </p:cNvPr>
          <p:cNvSpPr>
            <a:spLocks noGrp="1"/>
          </p:cNvSpPr>
          <p:nvPr/>
        </p:nvSpPr>
        <p:spPr>
          <a:xfrm>
            <a:off x="438150" y="31146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136137-E773-4126-8B40-EC2A97F51DBC}"/>
              </a:ext>
            </a:extLst>
          </p:cNvPr>
          <p:cNvSpPr>
            <a:spLocks noGrp="1"/>
          </p:cNvSpPr>
          <p:nvPr/>
        </p:nvSpPr>
        <p:spPr>
          <a:xfrm>
            <a:off x="438150" y="3648075"/>
            <a:ext cx="523875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Explain the main terms in your own words.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Trace a short example on paper.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Check one boundary or unusual case.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Explain the cause of a common error.</a:t>
            </a:r>
          </a:p>
        </p:txBody>
      </p:sp>
    </p:spTree>
    <p:extLst>
      <p:ext uri="{BB962C8B-B14F-4D97-AF65-F5344CB8AC3E}">
        <p14:creationId xmlns:p14="http://schemas.microsoft.com/office/powerpoint/2010/main" val="4205030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1369</Words>
  <Application>Microsoft Office PowerPoint</Application>
  <PresentationFormat>Widescreen</PresentationFormat>
  <Paragraphs>224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DejaVu Sans Mono</vt:lpstr>
      <vt:lpstr>2_Office Theme</vt:lpstr>
      <vt:lpstr>15_Office Theme</vt:lpstr>
      <vt:lpstr>3_Office Theme</vt:lpstr>
      <vt:lpstr>21_Office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Katy Ruth Halpin</dc:creator>
  <cp:lastModifiedBy>Séamus Cummins</cp:lastModifiedBy>
  <cp:revision>9</cp:revision>
  <dcterms:created xsi:type="dcterms:W3CDTF">2022-05-19T09:57:07Z</dcterms:created>
  <dcterms:modified xsi:type="dcterms:W3CDTF">2026-10-06T14:15:26Z</dcterms:modified>
</cp:coreProperties>
</file>