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  <p:sldMasterId id="2147483814" r:id="rId2"/>
    <p:sldMasterId id="2147483822" r:id="rId3"/>
    <p:sldMasterId id="2147483828" r:id="rId4"/>
    <p:sldMasterId id="2147483836" r:id="rId5"/>
  </p:sldMasterIdLst>
  <p:notesMasterIdLst>
    <p:notesMasterId r:id="rId74"/>
  </p:notesMasterIdLst>
  <p:sldIdLst>
    <p:sldId id="324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5F8"/>
    <a:srgbClr val="FFC800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A9961-E26F-46EB-9D7B-7BD135F4F58D}" v="3" dt="2026-10-13T08:16:31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6"/>
    <p:restoredTop sz="94716"/>
  </p:normalViewPr>
  <p:slideViewPr>
    <p:cSldViewPr snapToGrid="0" snapToObjects="1">
      <p:cViewPr varScale="1">
        <p:scale>
          <a:sx n="82" d="100"/>
          <a:sy n="82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viewProps" Target="viewProp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amus Cummins" userId="9cbc4947-2644-4ffd-8985-8dfea9f9d8f2" providerId="ADAL" clId="{C69B4531-7F76-4897-B54E-AABC889E6EB9}"/>
    <pc:docChg chg="delSld modSld">
      <pc:chgData name="Séamus Cummins" userId="9cbc4947-2644-4ffd-8985-8dfea9f9d8f2" providerId="ADAL" clId="{C69B4531-7F76-4897-B54E-AABC889E6EB9}" dt="2026-10-12T08:58:09.212" v="10"/>
      <pc:docMkLst>
        <pc:docMk/>
      </pc:docMkLst>
      <pc:sldChg chg="modSp mod">
        <pc:chgData name="Séamus Cummins" userId="9cbc4947-2644-4ffd-8985-8dfea9f9d8f2" providerId="ADAL" clId="{C69B4531-7F76-4897-B54E-AABC889E6EB9}" dt="2026-10-12T08:56:59.469" v="7" actId="20577"/>
        <pc:sldMkLst>
          <pc:docMk/>
          <pc:sldMk cId="483756112" sldId="256"/>
        </pc:sldMkLst>
        <pc:spChg chg="mod">
          <ac:chgData name="Séamus Cummins" userId="9cbc4947-2644-4ffd-8985-8dfea9f9d8f2" providerId="ADAL" clId="{C69B4531-7F76-4897-B54E-AABC889E6EB9}" dt="2026-10-12T08:56:59.469" v="7" actId="20577"/>
          <ac:spMkLst>
            <pc:docMk/>
            <pc:sldMk cId="483756112" sldId="256"/>
            <ac:spMk id="3" creationId="{215A815D-7188-4106-86E1-F409E875FC42}"/>
          </ac:spMkLst>
        </pc:spChg>
      </pc:sldChg>
      <pc:sldChg chg="modAnim">
        <pc:chgData name="Séamus Cummins" userId="9cbc4947-2644-4ffd-8985-8dfea9f9d8f2" providerId="ADAL" clId="{C69B4531-7F76-4897-B54E-AABC889E6EB9}" dt="2026-10-12T08:54:03.769" v="0"/>
        <pc:sldMkLst>
          <pc:docMk/>
          <pc:sldMk cId="1727056466" sldId="266"/>
        </pc:sldMkLst>
      </pc:sldChg>
      <pc:sldChg chg="modAnim">
        <pc:chgData name="Séamus Cummins" userId="9cbc4947-2644-4ffd-8985-8dfea9f9d8f2" providerId="ADAL" clId="{C69B4531-7F76-4897-B54E-AABC889E6EB9}" dt="2026-10-12T08:54:20.337" v="1"/>
        <pc:sldMkLst>
          <pc:docMk/>
          <pc:sldMk cId="1322506481" sldId="267"/>
        </pc:sldMkLst>
      </pc:sldChg>
      <pc:sldChg chg="modAnim">
        <pc:chgData name="Séamus Cummins" userId="9cbc4947-2644-4ffd-8985-8dfea9f9d8f2" providerId="ADAL" clId="{C69B4531-7F76-4897-B54E-AABC889E6EB9}" dt="2026-10-12T08:56:02.401" v="3"/>
        <pc:sldMkLst>
          <pc:docMk/>
          <pc:sldMk cId="804718600" sldId="273"/>
        </pc:sldMkLst>
      </pc:sldChg>
      <pc:sldChg chg="modAnim">
        <pc:chgData name="Séamus Cummins" userId="9cbc4947-2644-4ffd-8985-8dfea9f9d8f2" providerId="ADAL" clId="{C69B4531-7F76-4897-B54E-AABC889E6EB9}" dt="2026-10-12T08:56:17.157" v="5"/>
        <pc:sldMkLst>
          <pc:docMk/>
          <pc:sldMk cId="2750130733" sldId="274"/>
        </pc:sldMkLst>
      </pc:sldChg>
      <pc:sldChg chg="modAnim">
        <pc:chgData name="Séamus Cummins" userId="9cbc4947-2644-4ffd-8985-8dfea9f9d8f2" providerId="ADAL" clId="{C69B4531-7F76-4897-B54E-AABC889E6EB9}" dt="2026-10-12T08:58:09.212" v="10"/>
        <pc:sldMkLst>
          <pc:docMk/>
          <pc:sldMk cId="607921987" sldId="279"/>
        </pc:sldMkLst>
      </pc:sldChg>
      <pc:sldChg chg="del">
        <pc:chgData name="Séamus Cummins" userId="9cbc4947-2644-4ffd-8985-8dfea9f9d8f2" providerId="ADAL" clId="{C69B4531-7F76-4897-B54E-AABC889E6EB9}" dt="2026-10-12T08:56:51.620" v="6" actId="2696"/>
        <pc:sldMkLst>
          <pc:docMk/>
          <pc:sldMk cId="4265387564" sldId="280"/>
        </pc:sldMkLst>
      </pc:sldChg>
    </pc:docChg>
  </pc:docChgLst>
  <pc:docChgLst>
    <pc:chgData name="Séamus Cummins" userId="9cbc4947-2644-4ffd-8985-8dfea9f9d8f2" providerId="ADAL" clId="{52D3679E-C8EB-4FED-9467-7F6E2156AACE}"/>
    <pc:docChg chg="custSel modSld">
      <pc:chgData name="Séamus Cummins" userId="9cbc4947-2644-4ffd-8985-8dfea9f9d8f2" providerId="ADAL" clId="{52D3679E-C8EB-4FED-9467-7F6E2156AACE}" dt="2026-10-13T09:31:37.762" v="12" actId="478"/>
      <pc:docMkLst>
        <pc:docMk/>
      </pc:docMkLst>
      <pc:sldChg chg="delSp mod">
        <pc:chgData name="Séamus Cummins" userId="9cbc4947-2644-4ffd-8985-8dfea9f9d8f2" providerId="ADAL" clId="{52D3679E-C8EB-4FED-9467-7F6E2156AACE}" dt="2026-10-12T07:35:05.617" v="0" actId="478"/>
        <pc:sldMkLst>
          <pc:docMk/>
          <pc:sldMk cId="483756112" sldId="256"/>
        </pc:sldMkLst>
        <pc:spChg chg="del">
          <ac:chgData name="Séamus Cummins" userId="9cbc4947-2644-4ffd-8985-8dfea9f9d8f2" providerId="ADAL" clId="{52D3679E-C8EB-4FED-9467-7F6E2156AACE}" dt="2026-10-12T07:35:05.617" v="0" actId="478"/>
          <ac:spMkLst>
            <pc:docMk/>
            <pc:sldMk cId="483756112" sldId="256"/>
            <ac:spMk id="2" creationId="{9B43B2D0-8024-4BEE-89A3-0DA0739E45C8}"/>
          </ac:spMkLst>
        </pc:spChg>
      </pc:sldChg>
      <pc:sldChg chg="delSp mod">
        <pc:chgData name="Séamus Cummins" userId="9cbc4947-2644-4ffd-8985-8dfea9f9d8f2" providerId="ADAL" clId="{52D3679E-C8EB-4FED-9467-7F6E2156AACE}" dt="2026-10-12T07:35:29.772" v="4" actId="478"/>
        <pc:sldMkLst>
          <pc:docMk/>
          <pc:sldMk cId="2728547799" sldId="269"/>
        </pc:sldMkLst>
        <pc:spChg chg="del">
          <ac:chgData name="Séamus Cummins" userId="9cbc4947-2644-4ffd-8985-8dfea9f9d8f2" providerId="ADAL" clId="{52D3679E-C8EB-4FED-9467-7F6E2156AACE}" dt="2026-10-12T07:35:29.772" v="4" actId="478"/>
          <ac:spMkLst>
            <pc:docMk/>
            <pc:sldMk cId="2728547799" sldId="269"/>
            <ac:spMk id="6" creationId="{D7B01902-5656-4922-B7F0-579BBC326102}"/>
          </ac:spMkLst>
        </pc:spChg>
      </pc:sldChg>
      <pc:sldChg chg="delSp mod">
        <pc:chgData name="Séamus Cummins" userId="9cbc4947-2644-4ffd-8985-8dfea9f9d8f2" providerId="ADAL" clId="{52D3679E-C8EB-4FED-9467-7F6E2156AACE}" dt="2026-10-12T07:35:28.098" v="3" actId="478"/>
        <pc:sldMkLst>
          <pc:docMk/>
          <pc:sldMk cId="1549282642" sldId="270"/>
        </pc:sldMkLst>
        <pc:spChg chg="del">
          <ac:chgData name="Séamus Cummins" userId="9cbc4947-2644-4ffd-8985-8dfea9f9d8f2" providerId="ADAL" clId="{52D3679E-C8EB-4FED-9467-7F6E2156AACE}" dt="2026-10-12T07:35:28.098" v="3" actId="478"/>
          <ac:spMkLst>
            <pc:docMk/>
            <pc:sldMk cId="1549282642" sldId="270"/>
            <ac:spMk id="6" creationId="{B96B263E-8659-4568-B8CD-61987151E86E}"/>
          </ac:spMkLst>
        </pc:spChg>
      </pc:sldChg>
      <pc:sldChg chg="delSp mod">
        <pc:chgData name="Séamus Cummins" userId="9cbc4947-2644-4ffd-8985-8dfea9f9d8f2" providerId="ADAL" clId="{52D3679E-C8EB-4FED-9467-7F6E2156AACE}" dt="2026-10-12T07:35:25.331" v="2" actId="478"/>
        <pc:sldMkLst>
          <pc:docMk/>
          <pc:sldMk cId="2139961195" sldId="272"/>
        </pc:sldMkLst>
        <pc:spChg chg="del">
          <ac:chgData name="Séamus Cummins" userId="9cbc4947-2644-4ffd-8985-8dfea9f9d8f2" providerId="ADAL" clId="{52D3679E-C8EB-4FED-9467-7F6E2156AACE}" dt="2026-10-12T07:35:25.331" v="2" actId="478"/>
          <ac:spMkLst>
            <pc:docMk/>
            <pc:sldMk cId="2139961195" sldId="272"/>
            <ac:spMk id="6" creationId="{90EC4B84-A45A-4B6A-A52D-DD58A536F11E}"/>
          </ac:spMkLst>
        </pc:spChg>
      </pc:sldChg>
      <pc:sldChg chg="delSp mod">
        <pc:chgData name="Séamus Cummins" userId="9cbc4947-2644-4ffd-8985-8dfea9f9d8f2" providerId="ADAL" clId="{52D3679E-C8EB-4FED-9467-7F6E2156AACE}" dt="2026-10-12T07:35:23.084" v="1" actId="478"/>
        <pc:sldMkLst>
          <pc:docMk/>
          <pc:sldMk cId="804718600" sldId="273"/>
        </pc:sldMkLst>
        <pc:spChg chg="del">
          <ac:chgData name="Séamus Cummins" userId="9cbc4947-2644-4ffd-8985-8dfea9f9d8f2" providerId="ADAL" clId="{52D3679E-C8EB-4FED-9467-7F6E2156AACE}" dt="2026-10-12T07:35:23.084" v="1" actId="478"/>
          <ac:spMkLst>
            <pc:docMk/>
            <pc:sldMk cId="804718600" sldId="273"/>
            <ac:spMk id="6" creationId="{6EF43371-6E34-4649-9DE0-BC77F51C5A79}"/>
          </ac:spMkLst>
        </pc:spChg>
      </pc:sldChg>
      <pc:sldChg chg="delSp mod">
        <pc:chgData name="Séamus Cummins" userId="9cbc4947-2644-4ffd-8985-8dfea9f9d8f2" providerId="ADAL" clId="{52D3679E-C8EB-4FED-9467-7F6E2156AACE}" dt="2026-10-12T07:35:37.371" v="5" actId="478"/>
        <pc:sldMkLst>
          <pc:docMk/>
          <pc:sldMk cId="2750130733" sldId="274"/>
        </pc:sldMkLst>
        <pc:spChg chg="del">
          <ac:chgData name="Séamus Cummins" userId="9cbc4947-2644-4ffd-8985-8dfea9f9d8f2" providerId="ADAL" clId="{52D3679E-C8EB-4FED-9467-7F6E2156AACE}" dt="2026-10-12T07:35:37.371" v="5" actId="478"/>
          <ac:spMkLst>
            <pc:docMk/>
            <pc:sldMk cId="2750130733" sldId="274"/>
            <ac:spMk id="6" creationId="{18ADD805-BC9D-4FD3-BEB9-AA00F252B872}"/>
          </ac:spMkLst>
        </pc:spChg>
      </pc:sldChg>
      <pc:sldChg chg="modAnim">
        <pc:chgData name="Séamus Cummins" userId="9cbc4947-2644-4ffd-8985-8dfea9f9d8f2" providerId="ADAL" clId="{52D3679E-C8EB-4FED-9467-7F6E2156AACE}" dt="2026-10-13T08:16:31.383" v="11"/>
        <pc:sldMkLst>
          <pc:docMk/>
          <pc:sldMk cId="3277882008" sldId="321"/>
        </pc:sldMkLst>
      </pc:sldChg>
      <pc:sldChg chg="delSp modSp mod">
        <pc:chgData name="Séamus Cummins" userId="9cbc4947-2644-4ffd-8985-8dfea9f9d8f2" providerId="ADAL" clId="{52D3679E-C8EB-4FED-9467-7F6E2156AACE}" dt="2026-10-13T09:31:37.762" v="12" actId="478"/>
        <pc:sldMkLst>
          <pc:docMk/>
          <pc:sldMk cId="755706712" sldId="323"/>
        </pc:sldMkLst>
        <pc:spChg chg="del">
          <ac:chgData name="Séamus Cummins" userId="9cbc4947-2644-4ffd-8985-8dfea9f9d8f2" providerId="ADAL" clId="{52D3679E-C8EB-4FED-9467-7F6E2156AACE}" dt="2026-10-13T08:15:54.833" v="7" actId="478"/>
          <ac:spMkLst>
            <pc:docMk/>
            <pc:sldMk cId="755706712" sldId="323"/>
            <ac:spMk id="3" creationId="{DA52C856-4CB1-416C-AF7F-3FECD0EFAADD}"/>
          </ac:spMkLst>
        </pc:spChg>
        <pc:spChg chg="del">
          <ac:chgData name="Séamus Cummins" userId="9cbc4947-2644-4ffd-8985-8dfea9f9d8f2" providerId="ADAL" clId="{52D3679E-C8EB-4FED-9467-7F6E2156AACE}" dt="2026-10-13T08:15:53.469" v="6" actId="478"/>
          <ac:spMkLst>
            <pc:docMk/>
            <pc:sldMk cId="755706712" sldId="323"/>
            <ac:spMk id="4" creationId="{06775566-C3AE-491A-900A-CAA5728FF206}"/>
          </ac:spMkLst>
        </pc:spChg>
        <pc:spChg chg="mod">
          <ac:chgData name="Séamus Cummins" userId="9cbc4947-2644-4ffd-8985-8dfea9f9d8f2" providerId="ADAL" clId="{52D3679E-C8EB-4FED-9467-7F6E2156AACE}" dt="2026-10-13T08:16:01.232" v="8" actId="1076"/>
          <ac:spMkLst>
            <pc:docMk/>
            <pc:sldMk cId="755706712" sldId="323"/>
            <ac:spMk id="5" creationId="{643EA659-F8B7-4B4C-AD8A-F8EE7DB9424F}"/>
          </ac:spMkLst>
        </pc:spChg>
        <pc:spChg chg="mod">
          <ac:chgData name="Séamus Cummins" userId="9cbc4947-2644-4ffd-8985-8dfea9f9d8f2" providerId="ADAL" clId="{52D3679E-C8EB-4FED-9467-7F6E2156AACE}" dt="2026-10-13T08:16:01.232" v="8" actId="1076"/>
          <ac:spMkLst>
            <pc:docMk/>
            <pc:sldMk cId="755706712" sldId="323"/>
            <ac:spMk id="6" creationId="{B7BCEAD9-F112-42CE-AAA8-310484CC73AD}"/>
          </ac:spMkLst>
        </pc:spChg>
        <pc:spChg chg="mod">
          <ac:chgData name="Séamus Cummins" userId="9cbc4947-2644-4ffd-8985-8dfea9f9d8f2" providerId="ADAL" clId="{52D3679E-C8EB-4FED-9467-7F6E2156AACE}" dt="2026-10-13T08:16:01.232" v="8" actId="1076"/>
          <ac:spMkLst>
            <pc:docMk/>
            <pc:sldMk cId="755706712" sldId="323"/>
            <ac:spMk id="7" creationId="{45D78135-3543-4669-8AB8-0F66CE5A5DF4}"/>
          </ac:spMkLst>
        </pc:spChg>
        <pc:spChg chg="mod">
          <ac:chgData name="Séamus Cummins" userId="9cbc4947-2644-4ffd-8985-8dfea9f9d8f2" providerId="ADAL" clId="{52D3679E-C8EB-4FED-9467-7F6E2156AACE}" dt="2026-10-13T08:16:01.232" v="8" actId="1076"/>
          <ac:spMkLst>
            <pc:docMk/>
            <pc:sldMk cId="755706712" sldId="323"/>
            <ac:spMk id="8" creationId="{18DB1254-2D2A-40F6-BF8C-56AC2D448D08}"/>
          </ac:spMkLst>
        </pc:spChg>
        <pc:spChg chg="del mod">
          <ac:chgData name="Séamus Cummins" userId="9cbc4947-2644-4ffd-8985-8dfea9f9d8f2" providerId="ADAL" clId="{52D3679E-C8EB-4FED-9467-7F6E2156AACE}" dt="2026-10-13T09:31:37.762" v="12" actId="478"/>
          <ac:spMkLst>
            <pc:docMk/>
            <pc:sldMk cId="755706712" sldId="323"/>
            <ac:spMk id="9" creationId="{A89BDE90-7A9E-4E5F-B14C-02FF37AD8C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8669B-D854-4764-9482-9FA95FFBD9D8}" type="datetimeFigureOut">
              <a:rPr lang="en-IE" smtClean="0"/>
              <a:t>13/10/2026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024BA-8A3D-4078-80EE-F9C62799C05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531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lt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BA59F3-AEB3-204E-8300-58EF74F8C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08" y="584846"/>
            <a:ext cx="7904205" cy="1293362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77F7AA-28BF-274E-AEFB-1D0AD137F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08" y="2135639"/>
            <a:ext cx="7904205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434198"/>
            <a:ext cx="7737389" cy="21038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6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04" y="338139"/>
            <a:ext cx="765724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2874106"/>
            <a:ext cx="5622496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24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543C47-599B-DE42-8EE6-81B46515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7737390" cy="1914695"/>
          </a:xfrm>
        </p:spPr>
        <p:txBody>
          <a:bodyPr>
            <a:normAutofit/>
          </a:bodyPr>
          <a:lstStyle>
            <a:lvl1pPr>
              <a:defRPr sz="5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9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301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7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92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842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465" y="875229"/>
            <a:ext cx="5383427" cy="1293362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465" y="2426022"/>
            <a:ext cx="538342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24642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1" y="2719301"/>
            <a:ext cx="5562600" cy="210382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2663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34" y="1166042"/>
            <a:ext cx="5284745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434" y="3566083"/>
            <a:ext cx="5284745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6238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1514304"/>
            <a:ext cx="5389606" cy="1914695"/>
          </a:xfrm>
        </p:spPr>
        <p:txBody>
          <a:bodyPr>
            <a:normAutofit/>
          </a:bodyPr>
          <a:lstStyle>
            <a:lvl1pPr>
              <a:buNone/>
              <a:defRPr sz="5400" b="1"/>
            </a:lvl1pPr>
          </a:lstStyle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1577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235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71276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1249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24934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9459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64259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68132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84373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14EE-B654-E64C-B5B5-7F1F189F0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689" y="1548671"/>
            <a:ext cx="10073887" cy="1880329"/>
          </a:xfrm>
        </p:spPr>
        <p:txBody>
          <a:bodyPr anchor="t">
            <a:normAutofit/>
          </a:bodyPr>
          <a:lstStyle>
            <a:lvl1pPr algn="l">
              <a:buNone/>
              <a:defRPr sz="44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F341D-9A29-4142-A870-A50D3D604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89" y="3655519"/>
            <a:ext cx="10073887" cy="12933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07938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3594-CC13-C247-9823-B0FF3777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327306"/>
            <a:ext cx="10311878" cy="932334"/>
          </a:xfrm>
        </p:spPr>
        <p:txBody>
          <a:bodyPr>
            <a:normAutofit/>
          </a:bodyPr>
          <a:lstStyle>
            <a:lvl1pPr>
              <a:buNone/>
              <a:defRPr sz="36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D9D01-EE28-4C44-8372-476E83E3B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2581728"/>
            <a:ext cx="10311878" cy="3063167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00550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400F-6EC7-9E48-A2FF-08DF030F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04" y="893033"/>
            <a:ext cx="9011872" cy="2145570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</a:t>
            </a:r>
            <a:br/>
            <a:r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11897-C713-A142-980E-DDF6224A7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04" y="3429000"/>
            <a:ext cx="9011872" cy="10677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51129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10F7-1811-F248-ACDB-8D956755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534826"/>
            <a:ext cx="10692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F6C81-EA7E-5B48-8E0D-ED145E2B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30" y="1768358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E4CFA-B073-6840-A434-12B36BFC25F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55208" y="1788361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6053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C41-D2B3-2241-865F-3F932D6F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6" y="389509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9F22-E1D8-3C43-B4F5-B34A5C88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876" y="2011222"/>
            <a:ext cx="5157787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ECD05-BE49-AF44-B530-C776D05525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00876" y="2965165"/>
            <a:ext cx="5157787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5936D-1625-A24C-A1D4-1C0B4EB8033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733288" y="2011222"/>
            <a:ext cx="5183188" cy="7490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0112F-DF30-FF48-A146-E87A8CF507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733288" y="2965165"/>
            <a:ext cx="5183188" cy="3349625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33035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F670-BA49-0942-84B7-8AF0DFA1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34" y="1241962"/>
            <a:ext cx="10311878" cy="932334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0227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71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6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7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290986"/>
            <a:ext cx="7737389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1471269"/>
            <a:ext cx="7737389" cy="210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4902484" y="3619542"/>
            <a:ext cx="3178835" cy="1101047"/>
          </a:xfrm>
          <a:prstGeom prst="rect">
            <a:avLst/>
          </a:prstGeom>
          <a:solidFill>
            <a:srgbClr val="00324D"/>
          </a:solidFill>
          <a:ln>
            <a:solidFill>
              <a:srgbClr val="0032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4902484" y="3744615"/>
            <a:ext cx="3178835" cy="850900"/>
            <a:chOff x="4902484" y="3927475"/>
            <a:chExt cx="3178835" cy="850900"/>
          </a:xfrm>
        </p:grpSpPr>
        <p:sp>
          <p:nvSpPr>
            <p:cNvPr id="8" name="Rectangle 7"/>
            <p:cNvSpPr/>
            <p:nvPr userDrawn="1"/>
          </p:nvSpPr>
          <p:spPr>
            <a:xfrm>
              <a:off x="4902484" y="3971925"/>
              <a:ext cx="3178835" cy="762000"/>
            </a:xfrm>
            <a:prstGeom prst="rect">
              <a:avLst/>
            </a:prstGeom>
            <a:solidFill>
              <a:srgbClr val="00324D"/>
            </a:solidFill>
            <a:ln>
              <a:solidFill>
                <a:srgbClr val="0032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372" b="7528"/>
            <a:stretch/>
          </p:blipFill>
          <p:spPr>
            <a:xfrm>
              <a:off x="4902484" y="3927475"/>
              <a:ext cx="3178835" cy="850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8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4" r:id="rId4"/>
    <p:sldLayoutId id="214748367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386" y="620170"/>
            <a:ext cx="10311878" cy="932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386" y="1840158"/>
            <a:ext cx="10311878" cy="4633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6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501953"/>
            <a:ext cx="5537886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930" y="2768728"/>
            <a:ext cx="5537887" cy="210382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09491-1086-4A02-AD5B-663916A0431C}"/>
              </a:ext>
            </a:extLst>
          </p:cNvPr>
          <p:cNvSpPr>
            <a:spLocks noGrp="1"/>
          </p:cNvSpPr>
          <p:nvPr/>
        </p:nvSpPr>
        <p:spPr>
          <a:xfrm>
            <a:off x="343930" y="5101152"/>
            <a:ext cx="3793730" cy="1756848"/>
          </a:xfrm>
          <a:prstGeom prst="rect">
            <a:avLst/>
          </a:prstGeom>
          <a:solidFill>
            <a:srgbClr val="FFC800"/>
          </a:solidFill>
          <a:ln>
            <a:solidFill>
              <a:srgbClr val="FFC8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4"/>
          <p:cNvPicPr>
            <a:picLocks noChangeAspect="1"/>
          </p:cNvPicPr>
          <p:nvPr/>
        </p:nvPicPr>
        <p:blipFill rotWithShape="1">
          <a:blip r:embed="rId8"/>
          <a:srcRect t="37353" b="10945"/>
          <a:stretch/>
        </p:blipFill>
        <p:spPr>
          <a:xfrm>
            <a:off x="323290" y="5653087"/>
            <a:ext cx="3806463" cy="82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001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8016A-3457-B442-B964-5BE9F993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962" y="498250"/>
            <a:ext cx="10311878" cy="93233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CB214-2F93-F640-8DC4-3981CCF9A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962" y="1718239"/>
            <a:ext cx="10311878" cy="429241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523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004E88-105B-4A6C-A131-F794F518A187}"/>
              </a:ext>
            </a:extLst>
          </p:cNvPr>
          <p:cNvSpPr>
            <a:spLocks noGrp="1"/>
          </p:cNvSpPr>
          <p:nvPr/>
        </p:nvSpPr>
        <p:spPr>
          <a:xfrm>
            <a:off x="457200" y="1190625"/>
            <a:ext cx="5238750" cy="1762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25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lang="en-US" sz="4125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Iteration</a:t>
            </a:r>
            <a:endParaRPr kumimoji="0" sz="4125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7E865D-4F84-4017-9EFB-1E452F3BB231}"/>
              </a:ext>
            </a:extLst>
          </p:cNvPr>
          <p:cNvSpPr>
            <a:spLocks noGrp="1"/>
          </p:cNvSpPr>
          <p:nvPr/>
        </p:nvSpPr>
        <p:spPr>
          <a:xfrm>
            <a:off x="457200" y="4714875"/>
            <a:ext cx="50958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</a:t>
            </a:r>
            <a:r>
              <a:rPr kumimoji="0" lang="en-GB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362255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578DD7-7085-4685-8E56-28F37BB9FB9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Iteration with Python and turtles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5A815D-7188-4106-86E1-F409E875FC42}"/>
              </a:ext>
            </a:extLst>
          </p:cNvPr>
          <p:cNvSpPr>
            <a:spLocks noGrp="1"/>
          </p:cNvSpPr>
          <p:nvPr/>
        </p:nvSpPr>
        <p:spPr>
          <a:xfrm>
            <a:off x="438150" y="1647825"/>
            <a:ext cx="10953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550" b="1" i="0" u="none" strike="noStrike" kern="1200" cap="none" spc="0" normalizeH="0" baseline="0" noProof="0" dirty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examples, debugging and practice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999D4-A054-4D4D-AEA5-E4DAC4053856}"/>
              </a:ext>
            </a:extLst>
          </p:cNvPr>
          <p:cNvSpPr>
            <a:spLocks noGrp="1"/>
          </p:cNvSpPr>
          <p:nvPr/>
        </p:nvSpPr>
        <p:spPr>
          <a:xfrm>
            <a:off x="438150" y="2762250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7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for and while loops and explain how they stop.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2EA3A3-8DD8-46ED-9530-9F1347A4CA8D}"/>
              </a:ext>
            </a:extLst>
          </p:cNvPr>
          <p:cNvSpPr>
            <a:spLocks noGrp="1"/>
          </p:cNvSpPr>
          <p:nvPr/>
        </p:nvSpPr>
        <p:spPr>
          <a:xfrm>
            <a:off x="438150" y="3838575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7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Build totals, draw patterns and repair broken code.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4D1DAB-106F-4F0B-B7FB-B8585D66E1D2}"/>
              </a:ext>
            </a:extLst>
          </p:cNvPr>
          <p:cNvSpPr>
            <a:spLocks noGrp="1"/>
          </p:cNvSpPr>
          <p:nvPr/>
        </p:nvSpPr>
        <p:spPr>
          <a:xfrm>
            <a:off x="438150" y="55054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7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NCUK IFY Computer Science    Dr Séamus Cummins</a:t>
            </a:r>
          </a:p>
        </p:txBody>
      </p:sp>
    </p:spTree>
    <p:extLst>
      <p:ext uri="{BB962C8B-B14F-4D97-AF65-F5344CB8AC3E}">
        <p14:creationId xmlns:p14="http://schemas.microsoft.com/office/powerpoint/2010/main" val="48375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14C12E-F338-4850-86A7-2A1142326B2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</a:t>
            </a:r>
            <a:r>
              <a:rPr kumimoji="0" lang="en-US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lesson outline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8810625" cy="2317752"/>
        </p:xfrm>
        <a:graphic>
          <a:graphicData uri="http://schemas.openxmlformats.org/drawingml/2006/table">
            <a:tbl>
              <a:tblPr/>
              <a:tblGrid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Focus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Practice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for, range and lists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Turtle shapes and a times table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Changing values and while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Totals, sentinels and spirals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Nested loops and loop control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Debugging and a turtle pattern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06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4AE326-B6B2-4815-86C9-4926149422D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Iteration repeats a block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DF553B-0416-4C3B-A0F6-CAD8528B1296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One iteration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7DCD65-223C-44BF-BBAF-26E5582D3804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One pass through the repeated instructions.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C3201-22BD-42D2-A020-0FE92EBAB8BE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CB18C3-D163-48A7-94DE-DF420F02C372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Takes each item from an iterable, such as a list or range.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33D709-0911-4788-AEDF-8E5622E86F6C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3839D3-7656-49E0-8806-D43BDA7C76A8}"/>
              </a:ext>
            </a:extLst>
          </p:cNvPr>
          <p:cNvSpPr>
            <a:spLocks noGrp="1"/>
          </p:cNvSpPr>
          <p:nvPr/>
        </p:nvSpPr>
        <p:spPr>
          <a:xfrm>
            <a:off x="438150" y="44291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Tests a condition before each pass and repeats while it is True.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7152C8-32BB-4B6B-B508-1B00D43051FC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every loop, identify what repeats, what changes and why it stops.</a:t>
            </a:r>
          </a:p>
        </p:txBody>
      </p:sp>
    </p:spTree>
    <p:extLst>
      <p:ext uri="{BB962C8B-B14F-4D97-AF65-F5344CB8AC3E}">
        <p14:creationId xmlns:p14="http://schemas.microsoft.com/office/powerpoint/2010/main" val="262683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4640F3-89EA-4150-AB85-329B2EA1426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first for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124F60-D58B-4462-A356-41FBA145A894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873DD-C36E-4131-A031-945CD746CB97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turn in range(3):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print("Hello")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print("Finished")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1F98F7-EC56-4A59-8B35-B2C074BD2D54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35B4CB-4190-4843-82E5-BBE4F4536D7D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Finished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E7991A-8F01-4BCF-B122-E0F51FF6E6B0}"/>
              </a:ext>
            </a:extLst>
          </p:cNvPr>
          <p:cNvSpPr>
            <a:spLocks noGrp="1"/>
          </p:cNvSpPr>
          <p:nvPr/>
        </p:nvSpPr>
        <p:spPr>
          <a:xfrm>
            <a:off x="7762875" y="3409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D90D22-810D-4AD7-AED7-429521EB1083}"/>
              </a:ext>
            </a:extLst>
          </p:cNvPr>
          <p:cNvSpPr>
            <a:spLocks noGrp="1"/>
          </p:cNvSpPr>
          <p:nvPr/>
        </p:nvSpPr>
        <p:spPr>
          <a:xfrm>
            <a:off x="7762875" y="37909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indented print repeats three times. The final print runs once.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309CC7-0871-4050-A9DF-5D01E6D7C4F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colon begins the block. Use consistent indentation, normally four spaces.</a:t>
            </a:r>
          </a:p>
        </p:txBody>
      </p:sp>
    </p:spTree>
    <p:extLst>
      <p:ext uri="{BB962C8B-B14F-4D97-AF65-F5344CB8AC3E}">
        <p14:creationId xmlns:p14="http://schemas.microsoft.com/office/powerpoint/2010/main" val="1555642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18A9C26-858C-47D5-9201-368E2099FDA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loop variable changes automatically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A0359-8CBE-4D6B-B007-9909C39514E9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D29C36-5D52-4366-9DA9-95259AE14AB5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turn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print("Turn", turn)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31685-DB8D-4CE2-8F60-9262C477E3F0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7B7D2-F55C-463F-902D-6B3009339530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Turn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Turn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Turn 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Turn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31B6B-9EE4-4DCB-AA33-FCB4D2FC10AF}"/>
              </a:ext>
            </a:extLst>
          </p:cNvPr>
          <p:cNvSpPr>
            <a:spLocks noGrp="1"/>
          </p:cNvSpPr>
          <p:nvPr/>
        </p:nvSpPr>
        <p:spPr>
          <a:xfrm>
            <a:off x="7762875" y="3409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loop variable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B1E77C-67C2-4127-9944-27EE497958F6}"/>
              </a:ext>
            </a:extLst>
          </p:cNvPr>
          <p:cNvSpPr>
            <a:spLocks noGrp="1"/>
          </p:cNvSpPr>
          <p:nvPr/>
        </p:nvSpPr>
        <p:spPr>
          <a:xfrm>
            <a:off x="7762875" y="37909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assigns the next value to turn before running the body.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DAC052-C943-4C64-9A83-60349197949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range(4) supplies four values. The first value is 0.</a:t>
            </a:r>
          </a:p>
        </p:txBody>
      </p:sp>
    </p:spTree>
    <p:extLst>
      <p:ext uri="{BB962C8B-B14F-4D97-AF65-F5344CB8AC3E}">
        <p14:creationId xmlns:p14="http://schemas.microsoft.com/office/powerpoint/2010/main" val="3146747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BDCC5D-09AC-4010-969B-634D081E151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range: start, stop and step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8"/>
        </p:xfrm>
        <a:graphic>
          <a:graphicData uri="http://schemas.openxmlformats.org/drawingml/2006/table">
            <a:tbl>
              <a:tblPr/>
              <a:tblGrid>
                <a:gridCol w="433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Expression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range(4)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0, 1, 2, 3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range(1, 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1, 2, 3, 4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range(2, 9, 2)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2, 4, 6, 8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range(5, 0, -1)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5, 4, 3, 2, 1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range(3, 3)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 values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1956411-CBB5-4807-9124-FA43E33E6B52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Start is included. Stop is excluded. Arguments must be integers and step cannot be 0.</a:t>
            </a:r>
          </a:p>
        </p:txBody>
      </p:sp>
    </p:spTree>
    <p:extLst>
      <p:ext uri="{BB962C8B-B14F-4D97-AF65-F5344CB8AC3E}">
        <p14:creationId xmlns:p14="http://schemas.microsoft.com/office/powerpoint/2010/main" val="2301200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88449C2-81CA-40CC-9811-B4ADE697796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Counting backwards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57FE6D-262B-43C5-BC92-B3932E15C8ED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47ACE-705A-4CA0-B219-1D8BA17B6371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count in range(5, 0, -1):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print(count)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print("Launch!")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3674AC-7C1C-4403-BE8E-1F151ACD35C1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DD88F-4CED-4621-B604-1A90A2B9B3B1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79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Launch!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07328-BB81-418D-A148-6CDE0DA20864}"/>
              </a:ext>
            </a:extLst>
          </p:cNvPr>
          <p:cNvSpPr>
            <a:spLocks noGrp="1"/>
          </p:cNvSpPr>
          <p:nvPr/>
        </p:nvSpPr>
        <p:spPr>
          <a:xfrm>
            <a:off x="7762875" y="3981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step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0EB326-56C3-4157-8E2C-4593C612A6B4}"/>
              </a:ext>
            </a:extLst>
          </p:cNvPr>
          <p:cNvSpPr>
            <a:spLocks noGrp="1"/>
          </p:cNvSpPr>
          <p:nvPr/>
        </p:nvSpPr>
        <p:spPr>
          <a:xfrm>
            <a:off x="7762875" y="43624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-1 decreases the value. range(5, 0) is empty: its default step is +1.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73A2A8-F205-47BC-B91F-500437A79E1E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step must move towards the stopping boundary.</a:t>
            </a:r>
          </a:p>
        </p:txBody>
      </p:sp>
    </p:spTree>
    <p:extLst>
      <p:ext uri="{BB962C8B-B14F-4D97-AF65-F5344CB8AC3E}">
        <p14:creationId xmlns:p14="http://schemas.microsoft.com/office/powerpoint/2010/main" val="3922118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AD33659-5F62-45DE-A50D-59F77D37FAF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 1: a missing repetition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3D339-56C8-4794-9B20-6674AD9E6633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64F15-9BC2-4939-854E-9E5BC4481D29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number in range(1, 6):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print(number)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EC266-88C1-4390-9817-E0362A76A7A7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behaviour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99E3D8-D138-4572-8CC9-EF1E7CC37188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Print the numbers 1 through 6, including 6.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F1A34A-ED1F-4870-9914-7745BD4FEDB1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315C6A-0E1F-4085-9617-CD3ADBE7260C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 the actual output. Identify the smallest correction.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B41CAF-6974-4BA3-B80F-40978FA8A54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the first value, last value and number of iterations before running.</a:t>
            </a:r>
          </a:p>
        </p:txBody>
      </p:sp>
    </p:spTree>
    <p:extLst>
      <p:ext uri="{BB962C8B-B14F-4D97-AF65-F5344CB8AC3E}">
        <p14:creationId xmlns:p14="http://schemas.microsoft.com/office/powerpoint/2010/main" val="2897442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0BC125-5C5A-45C1-A3F0-BBCB4609D91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 1: the stop must be beyond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AA24A6-07B4-474B-A555-3ED36525E6F4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74D474-5A46-4B78-AFAB-7CB474ED8A8A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number in range(1, 7):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print(number)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83F524-13D9-41E1-9A1A-C2D2FA0691DB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563ED-6636-4AF3-961B-52A3C5F202AE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79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12CFD4-E667-4C02-8F08-D51EBD130660}"/>
              </a:ext>
            </a:extLst>
          </p:cNvPr>
          <p:cNvSpPr>
            <a:spLocks noGrp="1"/>
          </p:cNvSpPr>
          <p:nvPr/>
        </p:nvSpPr>
        <p:spPr>
          <a:xfrm>
            <a:off x="7762875" y="3981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Cause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E6C4B7-9017-4346-B7D4-38F575B5E152}"/>
              </a:ext>
            </a:extLst>
          </p:cNvPr>
          <p:cNvSpPr>
            <a:spLocks noGrp="1"/>
          </p:cNvSpPr>
          <p:nvPr/>
        </p:nvSpPr>
        <p:spPr>
          <a:xfrm>
            <a:off x="7762875" y="43624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range(1, 6) stops before 6. range(1, 7) gives six values.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99EA24-190F-4D47-BCDF-F1F9169F7D32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off-by-one error gives one too many or one too few iterations.</a:t>
            </a:r>
          </a:p>
        </p:txBody>
      </p:sp>
    </p:spTree>
    <p:extLst>
      <p:ext uri="{BB962C8B-B14F-4D97-AF65-F5344CB8AC3E}">
        <p14:creationId xmlns:p14="http://schemas.microsoft.com/office/powerpoint/2010/main" val="3218004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CA798A7-7A2D-4774-8917-2195FF2BF0D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Lists store values in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5F4CAA-5D9A-4D24-BE41-86BDFAE33C7D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CCF2A1-BE8D-41A7-A48A-DAC077F8ACDF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names = ["Comet", "Meteor", "Nova"]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print(names[0])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print(names[-1])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names[1] = "Orbit"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names.append("Luna")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print(len(names))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15EDC-2DDB-4D1C-8E8F-9899BCBDD005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152C01-DBCB-4DE6-8D79-8EBE3386A090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Comet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Nova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731B7A-C2CE-45B3-AC14-452DCF7BDF52}"/>
              </a:ext>
            </a:extLst>
          </p:cNvPr>
          <p:cNvSpPr>
            <a:spLocks noGrp="1"/>
          </p:cNvSpPr>
          <p:nvPr/>
        </p:nvSpPr>
        <p:spPr>
          <a:xfrm>
            <a:off x="7762875" y="31242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List operations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582EF1-4C37-48A6-A7EC-DA7BED417B14}"/>
              </a:ext>
            </a:extLst>
          </p:cNvPr>
          <p:cNvSpPr>
            <a:spLocks noGrp="1"/>
          </p:cNvSpPr>
          <p:nvPr/>
        </p:nvSpPr>
        <p:spPr>
          <a:xfrm>
            <a:off x="7762875" y="35052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Index 0 is first. Index -1 is last. Assignment changes an item. append adds at the end.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81C807-EF2E-413D-9AB4-985A91EBBE20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final list is ["Comet", "Orbit", "Nova", "Luna"].</a:t>
            </a:r>
          </a:p>
        </p:txBody>
      </p:sp>
    </p:spTree>
    <p:extLst>
      <p:ext uri="{BB962C8B-B14F-4D97-AF65-F5344CB8AC3E}">
        <p14:creationId xmlns:p14="http://schemas.microsoft.com/office/powerpoint/2010/main" val="3603172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9D985D-D776-43A7-A7A7-C1642650B3D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for loop visits each list item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CBBDD-375F-4866-A13D-F1F204F22CD6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DB75A5-350C-46C8-8F7D-17A997CD6BE4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colours = ["red", "green", "blue"]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colour in colours: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print(colour)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print("Done")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A07582-65F6-4351-AA6F-8EEF6D4DE46F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449600-66AD-434B-ADE5-3A6A061ED32B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red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green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blue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43359D-A2F4-495F-BA70-B41942D8CA21}"/>
              </a:ext>
            </a:extLst>
          </p:cNvPr>
          <p:cNvSpPr>
            <a:spLocks noGrp="1"/>
          </p:cNvSpPr>
          <p:nvPr/>
        </p:nvSpPr>
        <p:spPr>
          <a:xfrm>
            <a:off x="7762875" y="3409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CC3265-BDB0-4FDC-B95A-C6CDBB811208}"/>
              </a:ext>
            </a:extLst>
          </p:cNvPr>
          <p:cNvSpPr>
            <a:spLocks noGrp="1"/>
          </p:cNvSpPr>
          <p:nvPr/>
        </p:nvSpPr>
        <p:spPr>
          <a:xfrm>
            <a:off x="7762875" y="37909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colour takes the values in list order. Reassigning colour does not replace a list item.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B2FE55-288D-4CC1-9B78-30EB1BF098E0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Looping directly through values avoids unnecessary list indexes.</a:t>
            </a:r>
          </a:p>
        </p:txBody>
      </p:sp>
    </p:spTree>
    <p:extLst>
      <p:ext uri="{BB962C8B-B14F-4D97-AF65-F5344CB8AC3E}">
        <p14:creationId xmlns:p14="http://schemas.microsoft.com/office/powerpoint/2010/main" val="172705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B79C86-722D-48C8-89D4-850BD72B4EF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len and the empty 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690034-946E-47C7-968E-D22AB6E0BB5E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AD3631-AA6E-4360-BFC3-6E35255E2671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scores = []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print(len(scores))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score in scores: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print(score)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print("Finished")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F623B9-0CFF-4D9A-8196-51AE568FBB00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4B2D7E-7CB7-4B48-B61A-36958468BC65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Finished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979F12-14EE-40ED-AD0A-E4491BF7EEF1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 items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F6E8DB-2DFF-488C-B4D7-8C177FC5CA64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empty list makes the body run zero times. scores[0] would raise IndexError.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25EF0A-028A-4392-B29D-C0AC694B6DA5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len returns the number of items. It does not return the last index.</a:t>
            </a:r>
          </a:p>
        </p:txBody>
      </p:sp>
    </p:spTree>
    <p:extLst>
      <p:ext uri="{BB962C8B-B14F-4D97-AF65-F5344CB8AC3E}">
        <p14:creationId xmlns:p14="http://schemas.microsoft.com/office/powerpoint/2010/main" val="132250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C4FD64D-972E-4D2C-AB8D-EAE0DE72C78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shared turtle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D1B01E-3A30-47EB-9035-4905B556D89A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A8C9B-81FD-42AC-A9A8-FE1658BB1DFE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import turtle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screen = turtle.Screen()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screen.setup(800, 650)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 = turtle.Turtle()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t.shape("turtle")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t.speed(5)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5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# Drawing code goes here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950" b="0" i="0" u="none" strike="noStrike" kern="1200" cap="none" spc="0" normalizeH="0" baseline="0" noProof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DejaVu Sans Mono"/>
              <a:ea typeface="DejaVu Sans Mono"/>
              <a:cs typeface="DejaVu Sans Mono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turtle.done()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6A76B2-04D6-4257-AF81-7430EE77A451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to run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C2599C-DD30-4B32-A918-9DCB204CCAE5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desktop Python with turtle/tkinter, for example IDLE or Thonny.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D06CFC-FDF1-4429-8258-2966334B132C}"/>
              </a:ext>
            </a:extLst>
          </p:cNvPr>
          <p:cNvSpPr>
            <a:spLocks noGrp="1"/>
          </p:cNvSpPr>
          <p:nvPr/>
        </p:nvSpPr>
        <p:spPr>
          <a:xfrm>
            <a:off x="7762875" y="31242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Later turtle slides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63CC87-DE7B-4032-9D74-8799FF14018F}"/>
              </a:ext>
            </a:extLst>
          </p:cNvPr>
          <p:cNvSpPr>
            <a:spLocks noGrp="1"/>
          </p:cNvSpPr>
          <p:nvPr/>
        </p:nvSpPr>
        <p:spPr>
          <a:xfrm>
            <a:off x="7762875" y="35052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Insert their code before turtle.done(). Each example uses a fresh turtle.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E9371A-F3D4-44E4-90B0-F8C240512A38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code pack contains complete programs. Close one turtle window before running the next.</a:t>
            </a:r>
          </a:p>
        </p:txBody>
      </p:sp>
    </p:spTree>
    <p:extLst>
      <p:ext uri="{BB962C8B-B14F-4D97-AF65-F5344CB8AC3E}">
        <p14:creationId xmlns:p14="http://schemas.microsoft.com/office/powerpoint/2010/main" val="3390533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45E34F-CBE6-462F-8160-16D88063FB7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square without iteration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2803B5-3125-49EA-BA07-B147477BD785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8B288B-48D1-446D-9292-446EE24AE068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9C12B1-DEEB-4B09-A3A2-1EDC0BA2DCAC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same move-and-turn pair appears four times.</a:t>
            </a:r>
          </a:p>
        </p:txBody>
      </p:sp>
    </p:spTree>
    <p:extLst>
      <p:ext uri="{BB962C8B-B14F-4D97-AF65-F5344CB8AC3E}">
        <p14:creationId xmlns:p14="http://schemas.microsoft.com/office/powerpoint/2010/main" val="2728547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10C97F-2580-4DDB-94EA-8DD2E76E9E7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square with a for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C0F466-B2FB-4421-87FA-F1F6F0334B9C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E7D105-08F1-4670-955C-C6438FFB321F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t.left(90)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530CEBA-FEEF-4BD2-8B39-98CD29A24FE6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side takes 0, 1, 2 and 3. Both indented statements run each time.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5CD357-86A4-4919-8CE7-AF48D322E513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Four iterations make four sides and four turns.</a:t>
            </a:r>
          </a:p>
        </p:txBody>
      </p:sp>
    </p:spTree>
    <p:extLst>
      <p:ext uri="{BB962C8B-B14F-4D97-AF65-F5344CB8AC3E}">
        <p14:creationId xmlns:p14="http://schemas.microsoft.com/office/powerpoint/2010/main" val="1549282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2B7B73-B820-4901-B3B7-09DBA864DF6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 2: the square became a 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043197-1138-48C4-ACA2-EB37D503E895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9C6791-360D-40D9-9AB9-A8DCD44D91AA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t.left(90)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7E5AEA-CB80-4E9C-8C99-AA43FD53C7BF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drawing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1BA3C-1267-4F4D-B056-BED5D5516938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square with four sides of length 100.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4EFF5-D62B-47B3-B560-BA06775A1484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Before running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353F4E-A1BA-4F25-BD83-1E4B4EA536A1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often does forward run? How often does left run?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751C53-9DAD-4754-B121-205A8A66217B}"/>
              </a:ext>
            </a:extLst>
          </p:cNvPr>
          <p:cNvSpPr>
            <a:spLocks noGrp="1"/>
          </p:cNvSpPr>
          <p:nvPr/>
        </p:nvSpPr>
        <p:spPr>
          <a:xfrm>
            <a:off x="7762875" y="39624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165F1C-3A45-45D2-AA2F-E68BCC3D8449}"/>
              </a:ext>
            </a:extLst>
          </p:cNvPr>
          <p:cNvSpPr>
            <a:spLocks noGrp="1"/>
          </p:cNvSpPr>
          <p:nvPr/>
        </p:nvSpPr>
        <p:spPr>
          <a:xfrm>
            <a:off x="7762875" y="43434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Fix the indentation. Explain why Python accepts the broken version.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9CEA8A-51FF-4EC2-A368-38A92A49EA4E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the complete file in the code pack to keep the line inside the window.</a:t>
            </a:r>
          </a:p>
        </p:txBody>
      </p:sp>
    </p:spTree>
    <p:extLst>
      <p:ext uri="{BB962C8B-B14F-4D97-AF65-F5344CB8AC3E}">
        <p14:creationId xmlns:p14="http://schemas.microsoft.com/office/powerpoint/2010/main" val="2530815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893AE6-EA1E-462F-B2C5-127885DC4BB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 2: the turn belongs inside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EADC4F-1A3C-4FC5-854F-170ACC200A22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EE4CD5-E850-49B7-A4B4-983F45955F09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t.left(90)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52F154-8B1A-4319-A127-CABC4CE1543B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Only indented statements belong to the loop body.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E070E4-3CF2-4006-AC39-39680357F54C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version: 400-unit line, then one turn. Fixed version: a square.</a:t>
            </a:r>
          </a:p>
        </p:txBody>
      </p:sp>
    </p:spTree>
    <p:extLst>
      <p:ext uri="{BB962C8B-B14F-4D97-AF65-F5344CB8AC3E}">
        <p14:creationId xmlns:p14="http://schemas.microsoft.com/office/powerpoint/2010/main" val="2139961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6D808BB-DB57-42E6-9AFD-77275AE68E6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Regular polygons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4DBF23-708D-4CC7-8B91-80429C56AB5D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3DA6A8-6FEA-4583-A7BA-EFFD0B7E885F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sides = 6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side in range(sides):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t.forward(80)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t.left(360 / sides)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86B338A-081B-4747-9EA1-68887470589F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Try sides = 3 or sides = 5. Keep sides an integer of at least 3.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3A5719-E7BE-40FD-BF9F-04CF9F90EAEB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exterior turn is 360 / sides. Six sides need 60° turns.</a:t>
            </a:r>
          </a:p>
        </p:txBody>
      </p:sp>
    </p:spTree>
    <p:extLst>
      <p:ext uri="{BB962C8B-B14F-4D97-AF65-F5344CB8AC3E}">
        <p14:creationId xmlns:p14="http://schemas.microsoft.com/office/powerpoint/2010/main" val="80471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E6C01A-0D65-4382-BFC4-127B2835D685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Looping through turtle </a:t>
            </a:r>
            <a:r>
              <a:rPr kumimoji="0" sz="3150" b="1" i="0" u="none" strike="noStrike" kern="1200" cap="none" spc="0" normalizeH="0" baseline="0" noProof="0" dirty="0" err="1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colours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00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427C9D-3601-46FD-8A50-501B6CC12A78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611262-40B9-4AED-B1FA-C98F6E388679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colour in ["red", "blue", "green"]: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t.pencolor(colour)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t.left(120)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61C3A1-7003-46D6-B1BC-9C17B945550E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Three 120° exterior turns close the triangle.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4F8491-7C4E-49D0-8180-5DA7B850AE38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Each iteration chooses a colour, draws one side and turns.</a:t>
            </a:r>
          </a:p>
        </p:txBody>
      </p:sp>
    </p:spTree>
    <p:extLst>
      <p:ext uri="{BB962C8B-B14F-4D97-AF65-F5344CB8AC3E}">
        <p14:creationId xmlns:p14="http://schemas.microsoft.com/office/powerpoint/2010/main" val="275013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C9D25A-5934-46CF-9147-55991A0CAE3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Prediction: what will print?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564716-FCCB-45E9-A2E9-1FB66F789816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2E2AA3-5176-490C-B7A5-4CB7E13E2054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n in range(1, 5):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print(n * 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79CAA2-C0C3-42C3-A17A-6CC7D97BCB25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Without running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AE936-5375-43E5-8168-52562D7A5EE6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many lines appear? What is the last printed value?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FA454C-DE68-4D66-9EB2-E1A035B0EF9E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Explain your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6BA25B-463F-4B71-8A44-563333BB2954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Separate the value of n from the expression n * 2.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98478C-FD6A-416F-BC80-35C493538E43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answer follows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677615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8A6E61-B7F0-4A8A-9598-D0619810E8C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Prediction answer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 * 2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D4CC4FB-515D-41C3-9959-C31E9BCC4626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Four lines print. The last value is 8. The loop never assigns 5 to n.</a:t>
            </a:r>
          </a:p>
        </p:txBody>
      </p:sp>
    </p:spTree>
    <p:extLst>
      <p:ext uri="{BB962C8B-B14F-4D97-AF65-F5344CB8AC3E}">
        <p14:creationId xmlns:p14="http://schemas.microsoft.com/office/powerpoint/2010/main" val="1992840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A31F5B-0003-4D4D-A507-D9727331454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1: a times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BAE48A-8689-455B-BAF2-4D8924755E13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1C5C01-71FA-486D-A80A-210891BAB77C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a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8EDF2-5391-4DBE-A0DA-7E997B9CABDB}"/>
              </a:ext>
            </a:extLst>
          </p:cNvPr>
          <p:cNvSpPr>
            <a:spLocks noGrp="1"/>
          </p:cNvSpPr>
          <p:nvPr/>
        </p:nvSpPr>
        <p:spPr>
          <a:xfrm>
            <a:off x="438150" y="228600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Ask for an integer. Print its multiples from 1 to 10.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8653D-7AB2-4854-AB91-97DEA9DF6A49}"/>
              </a:ext>
            </a:extLst>
          </p:cNvPr>
          <p:cNvSpPr>
            <a:spLocks noGrp="1"/>
          </p:cNvSpPr>
          <p:nvPr/>
        </p:nvSpPr>
        <p:spPr>
          <a:xfrm>
            <a:off x="438150" y="305752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Show each calculation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EC1B9-990E-496E-8DD7-8911CB2E32B9}"/>
              </a:ext>
            </a:extLst>
          </p:cNvPr>
          <p:cNvSpPr>
            <a:spLocks noGrp="1"/>
          </p:cNvSpPr>
          <p:nvPr/>
        </p:nvSpPr>
        <p:spPr>
          <a:xfrm>
            <a:off x="438150" y="348615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input 3, begin with 3 x 1 = 3 and end with 3 x 10 = 30.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FD42C0-CD02-4CA3-8540-02FEC0DF03DC}"/>
              </a:ext>
            </a:extLst>
          </p:cNvPr>
          <p:cNvSpPr>
            <a:spLocks noGrp="1"/>
          </p:cNvSpPr>
          <p:nvPr/>
        </p:nvSpPr>
        <p:spPr>
          <a:xfrm>
            <a:off x="438150" y="425767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your 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CCAAF4-0334-4ECA-BB13-AC8C7663B903}"/>
              </a:ext>
            </a:extLst>
          </p:cNvPr>
          <p:cNvSpPr>
            <a:spLocks noGrp="1"/>
          </p:cNvSpPr>
          <p:nvPr/>
        </p:nvSpPr>
        <p:spPr>
          <a:xfrm>
            <a:off x="438150" y="468630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3, 0 and -2. Every run must print exactly ten calculation lines.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1C3646-66E0-453C-9D9E-FC18B4BF001C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min plan, 4 min code, 2 min test. Assume input is a valid integer.</a:t>
            </a:r>
          </a:p>
        </p:txBody>
      </p:sp>
    </p:spTree>
    <p:extLst>
      <p:ext uri="{BB962C8B-B14F-4D97-AF65-F5344CB8AC3E}">
        <p14:creationId xmlns:p14="http://schemas.microsoft.com/office/powerpoint/2010/main" val="4136738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C598B2-D9C5-4F97-A91B-343CA3C34D3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1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F1E637-9398-4DAA-9B99-FB7FEBB3803E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295A76-F039-4DC2-B8FE-DF2964FA5EDA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number = int(input("Number: "))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i in range(1, 11):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answer = number * i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print(number, "x", i, "=", answer)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78E60-3EF0-498A-81CE-1C9B9E10D751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 for input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18D16-1DD0-4D64-8ED0-BC0EA0CA50BB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 x 1 = 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 x 2 = 6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...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 x 10 = 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A3C080-268D-4CAC-9D89-12732CDDA937}"/>
              </a:ext>
            </a:extLst>
          </p:cNvPr>
          <p:cNvSpPr>
            <a:spLocks noGrp="1"/>
          </p:cNvSpPr>
          <p:nvPr/>
        </p:nvSpPr>
        <p:spPr>
          <a:xfrm>
            <a:off x="7762875" y="3409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it works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83ABE4-6A7F-4D18-8739-ADA4DA113811}"/>
              </a:ext>
            </a:extLst>
          </p:cNvPr>
          <p:cNvSpPr>
            <a:spLocks noGrp="1"/>
          </p:cNvSpPr>
          <p:nvPr/>
        </p:nvSpPr>
        <p:spPr>
          <a:xfrm>
            <a:off x="7762875" y="37909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range(1, 11) supplies 1 through 10. print combines the values with spaces.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EA0A2A-4FDE-4484-89DB-959B54672DEF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input 0 every product is 0. For input -2 the last product is -20.</a:t>
            </a:r>
          </a:p>
        </p:txBody>
      </p:sp>
    </p:spTree>
    <p:extLst>
      <p:ext uri="{BB962C8B-B14F-4D97-AF65-F5344CB8AC3E}">
        <p14:creationId xmlns:p14="http://schemas.microsoft.com/office/powerpoint/2010/main" val="1481984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EB2985-BF55-4E96-B0E1-99AB1DD7CF4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 your understanding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C82CDD-818F-47F1-8AFA-2E738D8D12D8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Does range(5) include 5?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24925C-C895-4771-9C50-01DA88D848F3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No. It gives 0, 1, 2, 3 and 4.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617841-70D6-4AD0-908B-BDAF545D9F33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does len([6, 8, 10]) return?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64B662-33C8-4225-A867-FC0B133AA00C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3, because the list has three items.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06D9B-947F-40FE-ADDB-72B1776E4221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Where does the loop body end?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B4243-6BD8-4F13-A51F-9ED512A80948}"/>
              </a:ext>
            </a:extLst>
          </p:cNvPr>
          <p:cNvSpPr>
            <a:spLocks noGrp="1"/>
          </p:cNvSpPr>
          <p:nvPr/>
        </p:nvSpPr>
        <p:spPr>
          <a:xfrm>
            <a:off x="438150" y="44291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At the first statement that returns to the earlier indentation level.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1AA6DB-409D-4EAF-BD41-521F08C1D1E6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for loop gets its next value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60792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5C4707-5A49-4157-8B8B-9FDD4A12825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Updating a variable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288A34-04E1-45CD-8228-8F52AD270BF3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1B009-D538-4B71-8348-B3FA0DCB7CB6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length = 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length = length + 5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print(length)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length +=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print(length)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DEBDF4-6931-4AEE-9171-09B0FF63B9FF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8C89FD-5866-440D-9FF2-1169908E76F4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98503C-C49C-4DA9-A457-AB92899F63DC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87DA4-9E1C-4A1C-9B32-2C61EA22E4B4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Evaluate the right side first, then store the result. For numbers, += 5 adds 5 to the current value.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9F0A4D-47F8-43B9-8413-19FF054F63D0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Initialise a variable before using its current value in an update.</a:t>
            </a:r>
          </a:p>
        </p:txBody>
      </p:sp>
    </p:spTree>
    <p:extLst>
      <p:ext uri="{BB962C8B-B14F-4D97-AF65-F5344CB8AC3E}">
        <p14:creationId xmlns:p14="http://schemas.microsoft.com/office/powerpoint/2010/main" val="3711672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F1DEA3-2213-43F6-BA46-80E4E36F93C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accumulator remembers a total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ECCA4-8E17-4E0E-B409-98DAD8C810FE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86C098-E2F9-4A3B-9FD8-A0ABDE29F746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scores = [4, 7, 2]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score in scores: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= total + score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print(total)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D614D0-682F-405F-95D6-58345C9DB04A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7472CA-5AE0-43F4-99B9-7CED2B62B27E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A22B82-4AC5-4051-8E8F-28BFD19073D2}"/>
              </a:ext>
            </a:extLst>
          </p:cNvPr>
          <p:cNvSpPr>
            <a:spLocks noGrp="1"/>
          </p:cNvSpPr>
          <p:nvPr/>
        </p:nvSpPr>
        <p:spPr>
          <a:xfrm>
            <a:off x="7762875" y="25527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accumulator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699C5A-9BAB-4A4B-9D10-BC58265BDD46}"/>
              </a:ext>
            </a:extLst>
          </p:cNvPr>
          <p:cNvSpPr>
            <a:spLocks noGrp="1"/>
          </p:cNvSpPr>
          <p:nvPr/>
        </p:nvSpPr>
        <p:spPr>
          <a:xfrm>
            <a:off x="7762875" y="29337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total keeps the sum so far. Initialise it once before entering the loop.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063E77-4B7C-410D-BB2D-C993D75351EC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Each pass adds one score to the previous total.</a:t>
            </a:r>
          </a:p>
        </p:txBody>
      </p:sp>
    </p:spTree>
    <p:extLst>
      <p:ext uri="{BB962C8B-B14F-4D97-AF65-F5344CB8AC3E}">
        <p14:creationId xmlns:p14="http://schemas.microsoft.com/office/powerpoint/2010/main" val="1033267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0CBDA7-E6F6-4F76-B51B-08F39CE8574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the accumulator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score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before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 after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Before loop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Not assigned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AC52F75-527E-4B45-87B4-8D6D0758A7A2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next iteration starts with the total left by the previous one.</a:t>
            </a:r>
          </a:p>
        </p:txBody>
      </p:sp>
    </p:spTree>
    <p:extLst>
      <p:ext uri="{BB962C8B-B14F-4D97-AF65-F5344CB8AC3E}">
        <p14:creationId xmlns:p14="http://schemas.microsoft.com/office/powerpoint/2010/main" val="1733532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2E145D-FC47-4ABF-BA8B-B44D58B993E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 3: a total that forgets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6B8B91-E90D-49C3-B0ED-E68A3870771A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87F09-1BFD-4842-B80F-B5DC29B92175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scores = [4, 7, 2]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score in scores: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= total + score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print(total)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FE2DF1-CE6E-4DC5-B6FD-862317E23015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result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2259DA-80A4-4FBC-A636-91347B004F25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sum of all three scores is 13.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B7F018-988B-4618-BCE3-A301305691F2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F95483-6C08-4F0C-B617-6724D730C6F1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Trace total through all three passes. Predict the output and move one line to fix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3A6AB-1176-430C-803E-B79212D36A26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 not add extra calculations. Find the assignment that discards earlier work.</a:t>
            </a:r>
          </a:p>
        </p:txBody>
      </p:sp>
    </p:spTree>
    <p:extLst>
      <p:ext uri="{BB962C8B-B14F-4D97-AF65-F5344CB8AC3E}">
        <p14:creationId xmlns:p14="http://schemas.microsoft.com/office/powerpoint/2010/main" val="3518099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61A1C59-CDC1-406B-B872-876D89A895D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 3: initialise outside the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2CC4E-FFC5-4575-A380-C566CFE940B2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BA5C41-3229-4AAB-8F51-8FB5C10E6B22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scores = [4, 7, 2]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score in scores: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= total + score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print(total)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6C7F87-0BD8-42FF-99B7-6E26BE1FC160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E17E64-9C74-4A3A-927A-05AADB96E779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2. Every pass reset total to 0.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F302E7-A5CE-4FC1-BE77-F7026EC2870A}"/>
              </a:ext>
            </a:extLst>
          </p:cNvPr>
          <p:cNvSpPr>
            <a:spLocks noGrp="1"/>
          </p:cNvSpPr>
          <p:nvPr/>
        </p:nvSpPr>
        <p:spPr>
          <a:xfrm>
            <a:off x="7762875" y="25527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Correct 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A28A7E-64DD-44E9-9CBA-0BAC7DF4D64E}"/>
              </a:ext>
            </a:extLst>
          </p:cNvPr>
          <p:cNvSpPr>
            <a:spLocks noGrp="1"/>
          </p:cNvSpPr>
          <p:nvPr/>
        </p:nvSpPr>
        <p:spPr>
          <a:xfrm>
            <a:off x="7762875" y="29337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13. total now keeps earlier contributions.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B934D5-DDF9-4DFD-B382-3A37DDBAC5A6}"/>
              </a:ext>
            </a:extLst>
          </p:cNvPr>
          <p:cNvSpPr>
            <a:spLocks noGrp="1"/>
          </p:cNvSpPr>
          <p:nvPr/>
        </p:nvSpPr>
        <p:spPr>
          <a:xfrm>
            <a:off x="7762875" y="36766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Another useful test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1DF512-13C2-4353-BC4A-ED8CB6E6389E}"/>
              </a:ext>
            </a:extLst>
          </p:cNvPr>
          <p:cNvSpPr>
            <a:spLocks noGrp="1"/>
          </p:cNvSpPr>
          <p:nvPr/>
        </p:nvSpPr>
        <p:spPr>
          <a:xfrm>
            <a:off x="7762875" y="40576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With scores = [], the corrected version prints 0.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76613A-156D-4761-8B76-48832C2FDCCD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 the broken version an empty list would leave total unassigned.</a:t>
            </a:r>
          </a:p>
        </p:txBody>
      </p:sp>
    </p:spTree>
    <p:extLst>
      <p:ext uri="{BB962C8B-B14F-4D97-AF65-F5344CB8AC3E}">
        <p14:creationId xmlns:p14="http://schemas.microsoft.com/office/powerpoint/2010/main" val="4065245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32C508D-36B6-4F2F-B850-A00B1493828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counter counts matching items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4094F-400B-4D08-A30F-9727A222C832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5886FD-164D-4685-9B20-E1B613D28398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scores = [49, 50, 80, 20]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passes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score in scores: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score &gt;= 50: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passes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print(passes)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3FB8A0-A481-4922-89FE-048744AF135A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501504-8140-44DD-B7AE-988467C4169C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CD957A-84D5-4626-A3A0-D0F5291C953E}"/>
              </a:ext>
            </a:extLst>
          </p:cNvPr>
          <p:cNvSpPr>
            <a:spLocks noGrp="1"/>
          </p:cNvSpPr>
          <p:nvPr/>
        </p:nvSpPr>
        <p:spPr>
          <a:xfrm>
            <a:off x="7762875" y="25527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Two kinds of update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A163CD-2A6C-476D-858E-6EA5393B2E34}"/>
              </a:ext>
            </a:extLst>
          </p:cNvPr>
          <p:cNvSpPr>
            <a:spLocks noGrp="1"/>
          </p:cNvSpPr>
          <p:nvPr/>
        </p:nvSpPr>
        <p:spPr>
          <a:xfrm>
            <a:off x="7762875" y="29337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counter adds 1 per match. An accumulator adds the values themselves.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8BA39C-2742-42EF-8C75-3A3CEA65F703}"/>
              </a:ext>
            </a:extLst>
          </p:cNvPr>
          <p:cNvSpPr>
            <a:spLocks noGrp="1"/>
          </p:cNvSpPr>
          <p:nvPr/>
        </p:nvSpPr>
        <p:spPr>
          <a:xfrm>
            <a:off x="7762875" y="39624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Indentation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A5BFB4-FF73-49D1-BA11-5C0B62E45248}"/>
              </a:ext>
            </a:extLst>
          </p:cNvPr>
          <p:cNvSpPr>
            <a:spLocks noGrp="1"/>
          </p:cNvSpPr>
          <p:nvPr/>
        </p:nvSpPr>
        <p:spPr>
          <a:xfrm>
            <a:off x="7762875" y="4343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if runs four times. passes += 1 runs only twice.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2179E-2AD3-4DE8-9671-1A467626D0D5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this classroom rule, a score of 50 or more counts as a pass.</a:t>
            </a:r>
          </a:p>
        </p:txBody>
      </p:sp>
    </p:spTree>
    <p:extLst>
      <p:ext uri="{BB962C8B-B14F-4D97-AF65-F5344CB8AC3E}">
        <p14:creationId xmlns:p14="http://schemas.microsoft.com/office/powerpoint/2010/main" val="1486531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4364D6E-A125-4E74-AFE4-EF81A2D9EF1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average needs an empty-list check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BBB0E7-E18E-421E-A613-4A9E7BC1469D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01FCE5-FA57-4BF0-BDA2-4A4C5C1261C5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scores = [4, 7, 2]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total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score in scores: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total += score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if len(scores) ==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print("No scores")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print(total / len(scores))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934384-E9C9-4B59-8C80-51AA0B65DB3B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Nonempty list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656EC0-DE7A-45A0-AA0B-4CAB30575BE3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mean is 13 / 3, approximately 4.33.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F9983A-81EF-45F5-B3FA-1529193A6C79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Empty list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85CB92-C93B-4DF5-A404-BD0AD5766515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total stays 0. Print No scores instead of dividing by zero.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DFDFAC-102E-49D9-9EE4-A2AD4CC4F7DE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no items, one item and several items.</a:t>
            </a:r>
          </a:p>
        </p:txBody>
      </p:sp>
    </p:spTree>
    <p:extLst>
      <p:ext uri="{BB962C8B-B14F-4D97-AF65-F5344CB8AC3E}">
        <p14:creationId xmlns:p14="http://schemas.microsoft.com/office/powerpoint/2010/main" val="3839800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B5FCA7-CAD1-4049-B929-4944737C0A0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while loop tests a condition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5BE9A5-C779-40F0-97CF-071F1A2C0291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7789D1-F8FB-4206-9368-593CF88DB8AC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count = 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count &gt;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print(count)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count = count - 1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print("Go!")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F0E24E-84A3-49E8-A9B1-08E2A8BEFC26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DEE727-D49E-4662-9C6D-955BFD7FEEFC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Go!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9871FE-0CC2-4F3B-997D-09391929FA04}"/>
              </a:ext>
            </a:extLst>
          </p:cNvPr>
          <p:cNvSpPr>
            <a:spLocks noGrp="1"/>
          </p:cNvSpPr>
          <p:nvPr/>
        </p:nvSpPr>
        <p:spPr>
          <a:xfrm>
            <a:off x="7762875" y="3409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C194A9-E426-4102-B35E-1C5D60A0082A}"/>
              </a:ext>
            </a:extLst>
          </p:cNvPr>
          <p:cNvSpPr>
            <a:spLocks noGrp="1"/>
          </p:cNvSpPr>
          <p:nvPr/>
        </p:nvSpPr>
        <p:spPr>
          <a:xfrm>
            <a:off x="7762875" y="37909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Start at 3. Test before each pass. Subtract 1 inside the body.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FB1034-BD4F-409F-91E3-334E0D2D6EA9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When count becomes 0, the test is False and the loop ends.</a:t>
            </a:r>
          </a:p>
        </p:txBody>
      </p:sp>
    </p:spTree>
    <p:extLst>
      <p:ext uri="{BB962C8B-B14F-4D97-AF65-F5344CB8AC3E}">
        <p14:creationId xmlns:p14="http://schemas.microsoft.com/office/powerpoint/2010/main" val="1581775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0CEAA7-315B-4924-8052-E6853DFCBEE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a while loop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 at test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count &gt; 0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 3, update to 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 2, update to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 1, update to 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Leave the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E5848F-4F4B-4195-9AA6-4A5044ED5062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Three body executions need four condition tests, including the final False test.</a:t>
            </a:r>
          </a:p>
        </p:txBody>
      </p:sp>
    </p:spTree>
    <p:extLst>
      <p:ext uri="{BB962C8B-B14F-4D97-AF65-F5344CB8AC3E}">
        <p14:creationId xmlns:p14="http://schemas.microsoft.com/office/powerpoint/2010/main" val="19413164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B16821-4505-4079-A5BF-28D674C8DF8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while loop can run zero times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16D8F7-EC6C-4C81-B1FB-0C26BE298235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14E96-6144-4108-A407-AB4BBF553038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count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count &gt;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print(count)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count -=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print("Finished")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3E030-4C21-404B-B386-6A8DE76C8E06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076BEE-AFD5-45F2-8E64-0AA2C74AAA1C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Finished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87F49-D6B8-49D2-96AA-E915F72B68E1}"/>
              </a:ext>
            </a:extLst>
          </p:cNvPr>
          <p:cNvSpPr>
            <a:spLocks noGrp="1"/>
          </p:cNvSpPr>
          <p:nvPr/>
        </p:nvSpPr>
        <p:spPr>
          <a:xfrm>
            <a:off x="7762875" y="25527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CCFB55-A379-4D6F-B740-FA378C9A8B23}"/>
              </a:ext>
            </a:extLst>
          </p:cNvPr>
          <p:cNvSpPr>
            <a:spLocks noGrp="1"/>
          </p:cNvSpPr>
          <p:nvPr/>
        </p:nvSpPr>
        <p:spPr>
          <a:xfrm>
            <a:off x="7762875" y="29337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first test is False. Python skips the whole body.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72F0B-0A79-48CA-A3BA-665CADBB63A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condition is checked before the body, not after it.</a:t>
            </a:r>
          </a:p>
        </p:txBody>
      </p:sp>
    </p:spTree>
    <p:extLst>
      <p:ext uri="{BB962C8B-B14F-4D97-AF65-F5344CB8AC3E}">
        <p14:creationId xmlns:p14="http://schemas.microsoft.com/office/powerpoint/2010/main" val="9697638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4B88AF3-8110-4B1F-996C-D295FCD227C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 4: no way to finish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D8368-EF77-4BA1-932A-B329C53DF3E5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5B1534-4EEE-4C39-BAD9-FEC71DBCBB8A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count = 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count &gt;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print(count)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print("Finished")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F32851-0CC2-4FEA-87FB-D961CEE1D793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Inspect without running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C7730-B884-454A-A3D2-E18B120E9017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is count after the first pass? What about the second?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3A4D7B-ED03-44C2-9C22-96E7C0029D89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AF3CD-6759-4150-8FB7-5378008D6240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Add an update so the program prints 3, 2, 1, then Finished.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5B7561-736D-4584-A782-147D3F85D1E4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 endless loop can be stopped with the IDE Stop control or Ctrl+C in a terminal.</a:t>
            </a:r>
          </a:p>
        </p:txBody>
      </p:sp>
    </p:spTree>
    <p:extLst>
      <p:ext uri="{BB962C8B-B14F-4D97-AF65-F5344CB8AC3E}">
        <p14:creationId xmlns:p14="http://schemas.microsoft.com/office/powerpoint/2010/main" val="1038503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F6B1A1-C8A3-45A5-8B29-FD492841F83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 4: move towards False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459149-8ACC-411D-B377-34482A5F51BF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C662E8-37A7-4890-8028-6CA8472D9456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count = 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count &gt;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print(count)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count -=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print("Finished")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ABAC4A-6A11-4618-8E72-316CCCAB0483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5AD0F0-8007-40EF-A187-C1FC7A3AC09C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Finished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69BF02-A248-40B5-893A-CBF7114DA436}"/>
              </a:ext>
            </a:extLst>
          </p:cNvPr>
          <p:cNvSpPr>
            <a:spLocks noGrp="1"/>
          </p:cNvSpPr>
          <p:nvPr/>
        </p:nvSpPr>
        <p:spPr>
          <a:xfrm>
            <a:off x="7762875" y="3409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it terminates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A55556-903D-45E5-A3B8-BE3628E1F072}"/>
              </a:ext>
            </a:extLst>
          </p:cNvPr>
          <p:cNvSpPr>
            <a:spLocks noGrp="1"/>
          </p:cNvSpPr>
          <p:nvPr/>
        </p:nvSpPr>
        <p:spPr>
          <a:xfrm>
            <a:off x="7762875" y="37909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Each pass reduces count. It eventually reaches 0. An update after the loop would never be reached.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5EF95F-588B-4F4D-9F73-85B56CDB11A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Changing count += 1 would move away from the stopping condition.</a:t>
            </a:r>
          </a:p>
        </p:txBody>
      </p:sp>
    </p:spTree>
    <p:extLst>
      <p:ext uri="{BB962C8B-B14F-4D97-AF65-F5344CB8AC3E}">
        <p14:creationId xmlns:p14="http://schemas.microsoft.com/office/powerpoint/2010/main" val="17607788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0C63F9-447C-4060-AAEA-12627877E48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Choosing for or while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Situation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Good choice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Each score in a list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for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Visit every item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Draw exactly 6 sides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for with range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Known repetition 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Ask until input is valid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while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Repetition depends on input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Draw until length &gt; 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while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Repetition depends on 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18FB19D-B84B-4273-B42C-3B8968869688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Both can express many of the same algorithms. Choose the clearer version.</a:t>
            </a:r>
          </a:p>
        </p:txBody>
      </p:sp>
    </p:spTree>
    <p:extLst>
      <p:ext uri="{BB962C8B-B14F-4D97-AF65-F5344CB8AC3E}">
        <p14:creationId xmlns:p14="http://schemas.microsoft.com/office/powerpoint/2010/main" val="16409960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167E26E-286B-4774-BEF1-2D48D9FEC35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sentinel ends input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E6A413-4C55-4F11-AF6B-567967C4E3D4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408EA2-B1DD-4937-9A07-AE58CE292FDA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word = input("Word or stop: 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word != "stop":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print(word.upper())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word = input("Word or stop: 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print("Finished")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CD123-1D17-4484-8A5F-169564F538A9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Example inputs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A80E3A-A520-4AB2-A243-E58580712CA1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hello, python, stop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E4139C-CE6F-442B-844C-E98D44209468}"/>
              </a:ext>
            </a:extLst>
          </p:cNvPr>
          <p:cNvSpPr>
            <a:spLocks noGrp="1"/>
          </p:cNvSpPr>
          <p:nvPr/>
        </p:nvSpPr>
        <p:spPr>
          <a:xfrm>
            <a:off x="7762875" y="25527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4F7476-C28A-44B0-9987-470F08F0831B}"/>
              </a:ext>
            </a:extLst>
          </p:cNvPr>
          <p:cNvSpPr>
            <a:spLocks noGrp="1"/>
          </p:cNvSpPr>
          <p:nvPr/>
        </p:nvSpPr>
        <p:spPr>
          <a:xfrm>
            <a:off x="7762875" y="29337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HELLO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Finished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379F36-1A9B-4CB9-97AE-F3061136E477}"/>
              </a:ext>
            </a:extLst>
          </p:cNvPr>
          <p:cNvSpPr>
            <a:spLocks noGrp="1"/>
          </p:cNvSpPr>
          <p:nvPr/>
        </p:nvSpPr>
        <p:spPr>
          <a:xfrm>
            <a:off x="7762875" y="39624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Sentinel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85B0DC-AB55-4C3C-8DAE-1F5DA9FBF756}"/>
              </a:ext>
            </a:extLst>
          </p:cNvPr>
          <p:cNvSpPr>
            <a:spLocks noGrp="1"/>
          </p:cNvSpPr>
          <p:nvPr/>
        </p:nvSpPr>
        <p:spPr>
          <a:xfrm>
            <a:off x="7762875" y="43434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stop ends entry. It is not processed as an ordinary word.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53BB9-E32C-4DD6-87DC-D2850A230BF9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second input updates word so the condition can change.</a:t>
            </a:r>
          </a:p>
        </p:txBody>
      </p:sp>
    </p:spTree>
    <p:extLst>
      <p:ext uri="{BB962C8B-B14F-4D97-AF65-F5344CB8AC3E}">
        <p14:creationId xmlns:p14="http://schemas.microsoft.com/office/powerpoint/2010/main" val="3945092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B86F35-C5A7-4F87-9269-16C9CD89F8CE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Testing a sentinel loop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sequence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output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tests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stop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Finished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Zero ordinary entries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hello, stop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HELLO then Finished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One ordinary 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a, b, stop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A, B then Finished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Several entries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STOP, stop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STOP then Finished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Exact, case-sensitive 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CA8E674-F45C-4C23-8BC6-53D1F6458722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To ignore case, compare word.lower() with "stop". Read new input on every pass.</a:t>
            </a:r>
          </a:p>
        </p:txBody>
      </p:sp>
    </p:spTree>
    <p:extLst>
      <p:ext uri="{BB962C8B-B14F-4D97-AF65-F5344CB8AC3E}">
        <p14:creationId xmlns:p14="http://schemas.microsoft.com/office/powerpoint/2010/main" val="31254401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AEDBAE9-CB34-4074-A357-EA8397A8AF85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Repeat-until behaviour in Python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1FA3BD-4AB2-4D84-A3FE-35F116FC2F01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F95C26-B296-4EB0-A7F7-9DD0BD7A3C16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True: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word = input("Word or stop: ")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word == "stop":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break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print(word.upper())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print("Finished")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DAA662-72A1-4110-ACA5-38BF110E7E72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Post-test repetition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4A1DD-F2D0-4ADB-9C76-0AE365211AD5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REPEAT...UNTIL runs at least once and stops when its ending test is True.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101C87-8B7B-4D77-96C1-84680DF3FDBB}"/>
              </a:ext>
            </a:extLst>
          </p:cNvPr>
          <p:cNvSpPr>
            <a:spLocks noGrp="1"/>
          </p:cNvSpPr>
          <p:nvPr/>
        </p:nvSpPr>
        <p:spPr>
          <a:xfrm>
            <a:off x="7762875" y="31242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version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928299-6B7D-4B23-8F3E-C3DF664EC2C8}"/>
              </a:ext>
            </a:extLst>
          </p:cNvPr>
          <p:cNvSpPr>
            <a:spLocks noGrp="1"/>
          </p:cNvSpPr>
          <p:nvPr/>
        </p:nvSpPr>
        <p:spPr>
          <a:xfrm>
            <a:off x="7762875" y="35052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 has no repeat...until keyword. This input/test/break pattern prompts at least once.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DE449F-27FE-46F5-B1CE-F6B6AD955977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Test the sentinel before processing it. Inputs hello, stop print HELLO then Finished.</a:t>
            </a:r>
          </a:p>
        </p:txBody>
      </p:sp>
    </p:spTree>
    <p:extLst>
      <p:ext uri="{BB962C8B-B14F-4D97-AF65-F5344CB8AC3E}">
        <p14:creationId xmlns:p14="http://schemas.microsoft.com/office/powerpoint/2010/main" val="7606636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4B64D8-D715-4811-9548-CE02AD576AC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growing square spiral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0D2BF9-8835-4E1D-8354-68A3C06095D2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4CAE49-2450-4FFE-BA28-D58260FA6D76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length = 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step in range(20):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t.forward(length)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t.right(90)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length += 10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E2FBD3-A710-43EE-80A7-16345602A40D}"/>
              </a:ext>
            </a:extLst>
          </p:cNvPr>
          <p:cNvSpPr>
            <a:spLocks noGrp="1"/>
          </p:cNvSpPr>
          <p:nvPr/>
        </p:nvSpPr>
        <p:spPr>
          <a:xfrm>
            <a:off x="7429500" y="5219700"/>
            <a:ext cx="42100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Dot: start    Arrow: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1D782B-1534-43C9-8427-7254EE1280D4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body repeats, but the value used by forward changes.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52088F-BD02-443C-B254-02C71AB626D6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Distances are 10, 20, 30, ... , 200.</a:t>
            </a:r>
          </a:p>
        </p:txBody>
      </p:sp>
    </p:spTree>
    <p:extLst>
      <p:ext uri="{BB962C8B-B14F-4D97-AF65-F5344CB8AC3E}">
        <p14:creationId xmlns:p14="http://schemas.microsoft.com/office/powerpoint/2010/main" val="40326976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3FFFFC-98BF-4DD1-A4E6-1A4C55E46D5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same spiral using while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1C66E4-0847-417B-A5FE-9C146E948B94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1A33AC-3C62-4B4A-95D1-69BFE54F9A6D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length = 10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length &lt;= 200: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t.forward(length)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t.right(90)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length += 10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7EAE8E-212D-4676-A00B-F9AB2B83CECA}"/>
              </a:ext>
            </a:extLst>
          </p:cNvPr>
          <p:cNvSpPr>
            <a:spLocks noGrp="1"/>
          </p:cNvSpPr>
          <p:nvPr/>
        </p:nvSpPr>
        <p:spPr>
          <a:xfrm>
            <a:off x="7429500" y="5219700"/>
            <a:ext cx="42100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Dot: start    Arrow: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CAE1E-61D9-411F-96C4-308AD952E760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same distances and turns produce the same path.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F55D8-2A2D-4B6E-9637-45CAD31823A6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At length = 210, the next condition test is False.</a:t>
            </a:r>
          </a:p>
        </p:txBody>
      </p:sp>
    </p:spTree>
    <p:extLst>
      <p:ext uri="{BB962C8B-B14F-4D97-AF65-F5344CB8AC3E}">
        <p14:creationId xmlns:p14="http://schemas.microsoft.com/office/powerpoint/2010/main" val="29410771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CB2BF6-D778-4AF3-8452-EF6746473F6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Drawing distance and final stored value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Distance drawn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length after update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D1B2F0F-C9E6-4A28-9DAF-8226635B3827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final stored value is 210, but the last drawn segment is 200.</a:t>
            </a:r>
          </a:p>
        </p:txBody>
      </p:sp>
    </p:spTree>
    <p:extLst>
      <p:ext uri="{BB962C8B-B14F-4D97-AF65-F5344CB8AC3E}">
        <p14:creationId xmlns:p14="http://schemas.microsoft.com/office/powerpoint/2010/main" val="31804080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B548BB-63AB-4ACB-A6D5-C34B69CDD57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2: a spiral in two ways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4E4F5-5953-4F38-8E7E-6CC369218C65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CA276E-DE1C-4048-BB04-FC1456454D82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drawing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EEB17E-9B66-43D4-BB19-09F60FEBD619}"/>
              </a:ext>
            </a:extLst>
          </p:cNvPr>
          <p:cNvSpPr>
            <a:spLocks noGrp="1"/>
          </p:cNvSpPr>
          <p:nvPr/>
        </p:nvSpPr>
        <p:spPr>
          <a:xfrm>
            <a:off x="438150" y="228600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Draw 25 lines. Start at length 5, add 5 each time, and turn right 90°.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065CF-7D93-4BDF-9037-4E5B2502076B}"/>
              </a:ext>
            </a:extLst>
          </p:cNvPr>
          <p:cNvSpPr>
            <a:spLocks noGrp="1"/>
          </p:cNvSpPr>
          <p:nvPr/>
        </p:nvSpPr>
        <p:spPr>
          <a:xfrm>
            <a:off x="438150" y="305752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Two versions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F4EA84-8685-464B-BB99-E4C8D591E098}"/>
              </a:ext>
            </a:extLst>
          </p:cNvPr>
          <p:cNvSpPr>
            <a:spLocks noGrp="1"/>
          </p:cNvSpPr>
          <p:nvPr/>
        </p:nvSpPr>
        <p:spPr>
          <a:xfrm>
            <a:off x="438150" y="348615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a for version and a while version in separate files.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0C7C53-DA88-4C87-BEB0-36E3D87F932C}"/>
              </a:ext>
            </a:extLst>
          </p:cNvPr>
          <p:cNvSpPr>
            <a:spLocks noGrp="1"/>
          </p:cNvSpPr>
          <p:nvPr/>
        </p:nvSpPr>
        <p:spPr>
          <a:xfrm>
            <a:off x="438150" y="425767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8C88BA-48ED-4B02-9501-460D550A6335}"/>
              </a:ext>
            </a:extLst>
          </p:cNvPr>
          <p:cNvSpPr>
            <a:spLocks noGrp="1"/>
          </p:cNvSpPr>
          <p:nvPr/>
        </p:nvSpPr>
        <p:spPr>
          <a:xfrm>
            <a:off x="438150" y="468630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First line 5, last line 125, exactly 25 forward movements.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AABF12-DFD9-4036-AD51-99C26C59F653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Extension: change the turn to 89°. Use the complete turtle starter in the code pack.</a:t>
            </a:r>
          </a:p>
        </p:txBody>
      </p:sp>
    </p:spTree>
    <p:extLst>
      <p:ext uri="{BB962C8B-B14F-4D97-AF65-F5344CB8AC3E}">
        <p14:creationId xmlns:p14="http://schemas.microsoft.com/office/powerpoint/2010/main" val="6444483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6B1E4C-998A-44CF-9C5D-2D9C0FDD17DD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Task 2 solutions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147F73-8903-4F48-B0E8-00B5ED8DB6A6}"/>
              </a:ext>
            </a:extLst>
          </p:cNvPr>
          <p:cNvSpPr>
            <a:spLocks noGrp="1"/>
          </p:cNvSpPr>
          <p:nvPr/>
        </p:nvSpPr>
        <p:spPr>
          <a:xfrm>
            <a:off x="438150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VERSION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C7FFA-9A1F-4449-A626-877CD38499E0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WHILE VERSION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011A95-A2A0-4ECC-B442-8D253AABC2AE}"/>
              </a:ext>
            </a:extLst>
          </p:cNvPr>
          <p:cNvSpPr>
            <a:spLocks noGrp="1"/>
          </p:cNvSpPr>
          <p:nvPr/>
        </p:nvSpPr>
        <p:spPr>
          <a:xfrm>
            <a:off x="438150" y="2143125"/>
            <a:ext cx="5314950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length =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step in range(25):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t.forward(length)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t.right(90)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length +=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D8CA64-91D3-43BF-A635-C8AC43D7A8F8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286375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length = 5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length &lt;= 125: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t.forward(length)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t.right(90)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length +=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995D81-3D18-44D3-9364-BA51526264B4}"/>
              </a:ext>
            </a:extLst>
          </p:cNvPr>
          <p:cNvSpPr>
            <a:spLocks noGrp="1"/>
          </p:cNvSpPr>
          <p:nvPr/>
        </p:nvSpPr>
        <p:spPr>
          <a:xfrm>
            <a:off x="438150" y="5267325"/>
            <a:ext cx="111061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Both finish with length = 130. The while condition is tested 26 times.</a:t>
            </a:r>
          </a:p>
        </p:txBody>
      </p:sp>
    </p:spTree>
    <p:extLst>
      <p:ext uri="{BB962C8B-B14F-4D97-AF65-F5344CB8AC3E}">
        <p14:creationId xmlns:p14="http://schemas.microsoft.com/office/powerpoint/2010/main" val="10123853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8D6FD-C1A4-4674-AB69-EE35E8E320A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Five-minute break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93CF58-B18F-4C42-88B0-7D011133B2F0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Save your 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4F4E1F-2580-470C-831F-CAD2698F4370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Keep both spiral versions so you can compare them later.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59782-AC09-407E-BFF0-A3FF0B78BF90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Next section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86F03C-3485-47F2-B06C-7732D293BD44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one loop inside another, then control loops with break and continue.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93CE74-9DF5-4E4A-A7BC-A68141CF661A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Return for repeated shapes, random trials and a final debugging challenge.</a:t>
            </a:r>
          </a:p>
        </p:txBody>
      </p:sp>
    </p:spTree>
    <p:extLst>
      <p:ext uri="{BB962C8B-B14F-4D97-AF65-F5344CB8AC3E}">
        <p14:creationId xmlns:p14="http://schemas.microsoft.com/office/powerpoint/2010/main" val="33829987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CF247F-1037-41C9-A195-EAD510C07E0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Nested loops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DFB688-6D00-44B6-9DAA-B89D1C8233AA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62219C-B840-4737-8B08-7FE1B8C65950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row in range(1, 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column in range(1, 3):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print(row, column)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4032AE-9C4D-4A6A-BE84-44EFC1F8BD04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ECB73D-38EA-400E-81F4-9FCDB8A1BB30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790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1 2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870B40-9187-4688-B769-E9BCBADE2985}"/>
              </a:ext>
            </a:extLst>
          </p:cNvPr>
          <p:cNvSpPr>
            <a:spLocks noGrp="1"/>
          </p:cNvSpPr>
          <p:nvPr/>
        </p:nvSpPr>
        <p:spPr>
          <a:xfrm>
            <a:off x="7762875" y="3981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Execution order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F0D8A4-AD73-4A98-BF5D-E11BC64C1330}"/>
              </a:ext>
            </a:extLst>
          </p:cNvPr>
          <p:cNvSpPr>
            <a:spLocks noGrp="1"/>
          </p:cNvSpPr>
          <p:nvPr/>
        </p:nvSpPr>
        <p:spPr>
          <a:xfrm>
            <a:off x="7762875" y="43624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 each row, the inner loop completes both columns before the row changes.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91B59-CCBF-4681-A3D5-A009A7E3484B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 outer passes × 2 inner passes = 6 executions of print.</a:t>
            </a:r>
          </a:p>
        </p:txBody>
      </p:sp>
    </p:spTree>
    <p:extLst>
      <p:ext uri="{BB962C8B-B14F-4D97-AF65-F5344CB8AC3E}">
        <p14:creationId xmlns:p14="http://schemas.microsoft.com/office/powerpoint/2010/main" val="21975075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3A7935-E4B2-4D8B-90C9-E2D7C49F134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Tracing the inner and outer loops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4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Outer row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Inner columns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Outputs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 then 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 1, then 1 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 then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 1, then 2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1 then 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3 1, then 3 2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A9A5215-9D27-4836-BDB9-2B9031D49F05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inner range starts again for each row. If either range is empty, no pair prints.</a:t>
            </a:r>
          </a:p>
        </p:txBody>
      </p:sp>
    </p:spTree>
    <p:extLst>
      <p:ext uri="{BB962C8B-B14F-4D97-AF65-F5344CB8AC3E}">
        <p14:creationId xmlns:p14="http://schemas.microsoft.com/office/powerpoint/2010/main" val="12221969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AF1E1D2-6E93-4D3C-833B-492AAE562A7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Nested turtle loops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500767-AF69-4231-88F4-DA62639A2A62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0FC8D9-3363-417C-A54E-DF3A92EAE010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shape in range(6):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t.forward(70)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t.left(60)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A2DE2E-4AD5-456F-B3F8-D1D85B1BD5E7}"/>
              </a:ext>
            </a:extLst>
          </p:cNvPr>
          <p:cNvSpPr>
            <a:spLocks noGrp="1"/>
          </p:cNvSpPr>
          <p:nvPr/>
        </p:nvSpPr>
        <p:spPr>
          <a:xfrm>
            <a:off x="7429500" y="5219700"/>
            <a:ext cx="42100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Dot: start    Arrow: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A6AD3-297D-4C7F-80F2-4464B4136D88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forward runs 24 times. The outer left(60) runs 6 times.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D5CED-0BF2-43F5-9B1C-C51CAC74B8B8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inner loop draws a square. The outer loop repeats and rotates it.</a:t>
            </a:r>
          </a:p>
        </p:txBody>
      </p:sp>
    </p:spTree>
    <p:extLst>
      <p:ext uri="{BB962C8B-B14F-4D97-AF65-F5344CB8AC3E}">
        <p14:creationId xmlns:p14="http://schemas.microsoft.com/office/powerpoint/2010/main" val="14873222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CEDFF1-9EB8-43D3-9E27-2641366A7DD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square rosette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5E6F6C-00A1-434C-A055-73EC6E8290B1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685B0E-20ED-4C0E-B958-7F98D7CF02A1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shape in range(36):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t.left(10)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C592E7-ECDE-42EA-914B-2ED23F7946AE}"/>
              </a:ext>
            </a:extLst>
          </p:cNvPr>
          <p:cNvSpPr>
            <a:spLocks noGrp="1"/>
          </p:cNvSpPr>
          <p:nvPr/>
        </p:nvSpPr>
        <p:spPr>
          <a:xfrm>
            <a:off x="7429500" y="5219700"/>
            <a:ext cx="42100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Dot: start    Arrow: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1344D-480E-4196-8CC9-72B32BD17C74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360 / 36 gives the outer turn of 10°. t.speed(0) draws faster.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35A57B-D154-4B8D-91C5-C4F0005D385B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36 squares × 4 sides = 144 forward movements.</a:t>
            </a:r>
          </a:p>
        </p:txBody>
      </p:sp>
    </p:spTree>
    <p:extLst>
      <p:ext uri="{BB962C8B-B14F-4D97-AF65-F5344CB8AC3E}">
        <p14:creationId xmlns:p14="http://schemas.microsoft.com/office/powerpoint/2010/main" val="18460477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6459CE-FD30-475B-A937-A065BD74852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 5: the pattern overlaps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AD3BEC-9DD3-40A5-84D4-12E18AAFA772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B8D935-1399-4B39-98FC-97BA4D33F11A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shape in range(6):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t.forward(70)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t.left(60)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10DEEB-D483-475C-9A2F-07E0069F773C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Required drawing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95298D-0BA9-4C63-97E2-298F0A8A6C44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Six squares at different angles around the same starting point.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93E10-10FF-47E3-BDEB-38C8362B4E21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D9F195-2BAD-4395-AC4D-F91AB6F2D7DF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Predict where every square starts. Decide where the final turn belongs.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3B64D2-69FF-46B3-BDB0-2640A58B14E6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There is no syntax error. The indentation changes how often the turn runs.</a:t>
            </a:r>
          </a:p>
        </p:txBody>
      </p:sp>
    </p:spTree>
    <p:extLst>
      <p:ext uri="{BB962C8B-B14F-4D97-AF65-F5344CB8AC3E}">
        <p14:creationId xmlns:p14="http://schemas.microsoft.com/office/powerpoint/2010/main" val="38368385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09C0E1-383D-4698-864D-0ABCF7F31830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Repair 5: rotate after every square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29EBF-A495-4794-AC80-DAF2C83AA065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77C821-E218-4280-9309-A2EBF565E1BC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shape in range(6):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t.forward(70)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t.left(60)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05EE-4359-4FEC-AD7B-856BA5C4398B}"/>
              </a:ext>
            </a:extLst>
          </p:cNvPr>
          <p:cNvSpPr>
            <a:spLocks noGrp="1"/>
          </p:cNvSpPr>
          <p:nvPr/>
        </p:nvSpPr>
        <p:spPr>
          <a:xfrm>
            <a:off x="7429500" y="5219700"/>
            <a:ext cx="42100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Dot: start    Arrow: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ABA3E6-7A27-45B1-9F43-CC937786DEB9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Broken version: six overlapping squares, then one final turn.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F7A0DD-E9F7-4920-BBED-E68A9E2EE079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60° turn belongs inside the outer loop, outside the inner loop.</a:t>
            </a:r>
          </a:p>
        </p:txBody>
      </p:sp>
    </p:spTree>
    <p:extLst>
      <p:ext uri="{BB962C8B-B14F-4D97-AF65-F5344CB8AC3E}">
        <p14:creationId xmlns:p14="http://schemas.microsoft.com/office/powerpoint/2010/main" val="17927013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AF99CC8-6DCC-4712-92FA-CE90DF99C11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 exits a loop early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08BDB9-7377-46D9-8822-EEB328B45628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3276B-46E1-46FB-8662-F4E62BF5713E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value in [2, 4, -1, 8]: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value &lt;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break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print(value)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print("Done")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E0D5C3-7CB3-47FA-B6F1-0EDCBF26D7EF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AADFE-E414-40D5-A895-32539DCDE01A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3CF02D-4A63-43CB-8066-4C75B7C24351}"/>
              </a:ext>
            </a:extLst>
          </p:cNvPr>
          <p:cNvSpPr>
            <a:spLocks noGrp="1"/>
          </p:cNvSpPr>
          <p:nvPr/>
        </p:nvSpPr>
        <p:spPr>
          <a:xfrm>
            <a:off x="7762875" y="31242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happens at -1?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978BA9-832E-45F7-86B1-919901FB197F}"/>
              </a:ext>
            </a:extLst>
          </p:cNvPr>
          <p:cNvSpPr>
            <a:spLocks noGrp="1"/>
          </p:cNvSpPr>
          <p:nvPr/>
        </p:nvSpPr>
        <p:spPr>
          <a:xfrm>
            <a:off x="7762875" y="35052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 leaves this loop immediately. Neither -1 nor 8 prints.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202644-37CA-4E6C-BAE3-08E46ACCBDBB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Execution continues with the first statement after the loop.</a:t>
            </a:r>
          </a:p>
        </p:txBody>
      </p:sp>
    </p:spTree>
    <p:extLst>
      <p:ext uri="{BB962C8B-B14F-4D97-AF65-F5344CB8AC3E}">
        <p14:creationId xmlns:p14="http://schemas.microsoft.com/office/powerpoint/2010/main" val="32950612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632063-B06D-4E4A-AB13-67F086AD066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continue skips the rest of one pass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B1320-A3E4-42A6-A8CA-6C2211DBDD89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2E478-DB97-4634-B5F8-2A2DA631271A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value in [2, 4, -1, 8]: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value &lt;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continue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print(value)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print("Done")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E7BCA-0C77-4A22-80AD-DC6E0E8A5A88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337C6-7AD9-4405-88CF-AC5CB46848D9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0A8ACB-1C3C-4855-B144-C49332101A0E}"/>
              </a:ext>
            </a:extLst>
          </p:cNvPr>
          <p:cNvSpPr>
            <a:spLocks noGrp="1"/>
          </p:cNvSpPr>
          <p:nvPr/>
        </p:nvSpPr>
        <p:spPr>
          <a:xfrm>
            <a:off x="7762875" y="3409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happens at -1?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E4BEA-E59A-4206-AC87-BF65B584DBB4}"/>
              </a:ext>
            </a:extLst>
          </p:cNvPr>
          <p:cNvSpPr>
            <a:spLocks noGrp="1"/>
          </p:cNvSpPr>
          <p:nvPr/>
        </p:nvSpPr>
        <p:spPr>
          <a:xfrm>
            <a:off x="7762875" y="37909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continue skips print for that pass. The for loop then takes the next item, 8.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65A518-240D-4AA7-BD3D-BD5B25805539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continue does not end the whole loop.</a:t>
            </a:r>
          </a:p>
        </p:txBody>
      </p:sp>
    </p:spTree>
    <p:extLst>
      <p:ext uri="{BB962C8B-B14F-4D97-AF65-F5344CB8AC3E}">
        <p14:creationId xmlns:p14="http://schemas.microsoft.com/office/powerpoint/2010/main" val="6510910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B4885F-9227-498B-A87D-42B1F6299A7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 and continue compared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5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 the negative value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break version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continue version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Current iteration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Stops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Skips remaining statements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Remaining list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Not visited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Still visited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Printed values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2, 4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2, 4, 8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After the loop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Prints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Prints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DB8F906-97B6-4773-939C-59989DBC4CEC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Choose break to stop processing. Choose continue to skip an item.</a:t>
            </a:r>
          </a:p>
        </p:txBody>
      </p:sp>
    </p:spTree>
    <p:extLst>
      <p:ext uri="{BB962C8B-B14F-4D97-AF65-F5344CB8AC3E}">
        <p14:creationId xmlns:p14="http://schemas.microsoft.com/office/powerpoint/2010/main" val="42764870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0215D5-6717-42F3-A366-D69066850A11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 leaves only the nearest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E8846C-580C-4DEB-A654-2569A69B2B0B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DD5A68-CABB-4F32-9A38-774B6C5DF59E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row in range(1, 3):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column in range(1, 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if column == 2: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    break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print(row, column)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754FE7-61AA-40F6-AA82-9820C8DA5F65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6335B-99C1-47DB-A115-4AF09AE93A30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1E7A46-A2CC-4DD6-9A15-8155B86BEABF}"/>
              </a:ext>
            </a:extLst>
          </p:cNvPr>
          <p:cNvSpPr>
            <a:spLocks noGrp="1"/>
          </p:cNvSpPr>
          <p:nvPr/>
        </p:nvSpPr>
        <p:spPr>
          <a:xfrm>
            <a:off x="7762875" y="28384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row 2 still runs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6F0B88-DF24-4980-A6F5-4FE75A93FC32}"/>
              </a:ext>
            </a:extLst>
          </p:cNvPr>
          <p:cNvSpPr>
            <a:spLocks noGrp="1"/>
          </p:cNvSpPr>
          <p:nvPr/>
        </p:nvSpPr>
        <p:spPr>
          <a:xfrm>
            <a:off x="7762875" y="32194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 exits the inner column loop. The outer row loop continues.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7A9BFE-1D76-4B28-A10C-0B9F97B2E0DA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Without break there would be six printed pairs. Here there are two.</a:t>
            </a:r>
          </a:p>
        </p:txBody>
      </p:sp>
    </p:spTree>
    <p:extLst>
      <p:ext uri="{BB962C8B-B14F-4D97-AF65-F5344CB8AC3E}">
        <p14:creationId xmlns:p14="http://schemas.microsoft.com/office/powerpoint/2010/main" val="38388043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E6BB2A-FE7A-4FCF-9A9F-11AC1E7E1836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continue in while needs care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36054-B520-42E3-BAAD-96C1E15E742F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FC9E1F-5FCF-4CBE-9028-787FE6295521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n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while n &lt; 5: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n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n == 3: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continue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print(n)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F1D7C-39D8-4E7A-8A4D-6B614712B0DE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50598-201A-4F8B-BD97-89E9E135815E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486BF5-80A5-4F9D-BFDD-9B996A0A5998}"/>
              </a:ext>
            </a:extLst>
          </p:cNvPr>
          <p:cNvSpPr>
            <a:spLocks noGrp="1"/>
          </p:cNvSpPr>
          <p:nvPr/>
        </p:nvSpPr>
        <p:spPr>
          <a:xfrm>
            <a:off x="7762875" y="34099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update first?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3E6E4D-D1F1-4CB5-B084-9EAE9E5CE534}"/>
              </a:ext>
            </a:extLst>
          </p:cNvPr>
          <p:cNvSpPr>
            <a:spLocks noGrp="1"/>
          </p:cNvSpPr>
          <p:nvPr/>
        </p:nvSpPr>
        <p:spPr>
          <a:xfrm>
            <a:off x="7762875" y="379095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If continue skipped the update while n stayed 3, the loop could repeat forever.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2C76E9-D90C-4601-AB07-4F1DC051EACB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Every repeated path must still allow the loop to make progress.</a:t>
            </a:r>
          </a:p>
        </p:txBody>
      </p:sp>
    </p:spTree>
    <p:extLst>
      <p:ext uri="{BB962C8B-B14F-4D97-AF65-F5344CB8AC3E}">
        <p14:creationId xmlns:p14="http://schemas.microsoft.com/office/powerpoint/2010/main" val="38566547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39A1145-A4EB-4A39-BF52-B6F620DECBB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Repeated random trials: dice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4B14C7-0CF4-4981-B319-893B8FAADCE4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A8B33B-6CE5-4B98-8142-E0D074C54724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import random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random.seed(7)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turn in range(3):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roll = random.randint(1, 6)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print("Roll:", roll)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F9802F-633B-49B2-86E8-03D9E1DADE04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Sample output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2DD2F-8273-47B4-8B0A-DA397B4A5D14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Roll: 3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Roll: 2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Roll: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022858-570E-4088-B8B2-BB16FB61C36A}"/>
              </a:ext>
            </a:extLst>
          </p:cNvPr>
          <p:cNvSpPr>
            <a:spLocks noGrp="1"/>
          </p:cNvSpPr>
          <p:nvPr/>
        </p:nvSpPr>
        <p:spPr>
          <a:xfrm>
            <a:off x="7762875" y="31242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Random values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7BA469-1048-42D5-A330-5D7D40E5046E}"/>
              </a:ext>
            </a:extLst>
          </p:cNvPr>
          <p:cNvSpPr>
            <a:spLocks noGrp="1"/>
          </p:cNvSpPr>
          <p:nvPr/>
        </p:nvSpPr>
        <p:spPr>
          <a:xfrm>
            <a:off x="7762875" y="3505200"/>
            <a:ext cx="3857625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randint(1, 6) includes 1 and 6. Rolls may repeat. The fixed seed repeats this trial in the same environment.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D56C69-C837-42FF-A3CC-6265BB132E61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Random outcomes need not be different. Deliberate tests are still needed.</a:t>
            </a:r>
          </a:p>
        </p:txBody>
      </p:sp>
    </p:spTree>
    <p:extLst>
      <p:ext uri="{BB962C8B-B14F-4D97-AF65-F5344CB8AC3E}">
        <p14:creationId xmlns:p14="http://schemas.microsoft.com/office/powerpoint/2010/main" val="1298517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957063-0937-4645-94F0-DBCB16B975E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Counting heads in 20 trials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6414FC-2CA3-4703-9787-4736317F32E0}"/>
              </a:ext>
            </a:extLst>
          </p:cNvPr>
          <p:cNvSpPr>
            <a:spLocks noGrp="1"/>
          </p:cNvSpPr>
          <p:nvPr/>
        </p:nvSpPr>
        <p:spPr>
          <a:xfrm>
            <a:off x="438150" y="13525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D7360-73DF-427A-B8FD-BA17B13E6499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829425" cy="35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import random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random.seed(7)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heads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trial in range(20):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random.randint(0, 1) == 1: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heads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print("Heads:", heads)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print("Tails:", 20 - heads)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BFD2F3-A1E6-4116-A229-371C5F2DFEE0}"/>
              </a:ext>
            </a:extLst>
          </p:cNvPr>
          <p:cNvSpPr>
            <a:spLocks noGrp="1"/>
          </p:cNvSpPr>
          <p:nvPr/>
        </p:nvSpPr>
        <p:spPr>
          <a:xfrm>
            <a:off x="7762875" y="17145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rule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3F76F0-675D-437B-A341-9307ED1FAF64}"/>
              </a:ext>
            </a:extLst>
          </p:cNvPr>
          <p:cNvSpPr>
            <a:spLocks noGrp="1"/>
          </p:cNvSpPr>
          <p:nvPr/>
        </p:nvSpPr>
        <p:spPr>
          <a:xfrm>
            <a:off x="7762875" y="2095500"/>
            <a:ext cx="3857625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Treat 1 as heads and 0 as tails. The counter only changes for heads.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BF465A-DB6D-4F71-B0F7-9EDFCBD48D4E}"/>
              </a:ext>
            </a:extLst>
          </p:cNvPr>
          <p:cNvSpPr>
            <a:spLocks noGrp="1"/>
          </p:cNvSpPr>
          <p:nvPr/>
        </p:nvSpPr>
        <p:spPr>
          <a:xfrm>
            <a:off x="7762875" y="312420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0B41C0-DF53-48AB-8DBC-8A734B291246}"/>
              </a:ext>
            </a:extLst>
          </p:cNvPr>
          <p:cNvSpPr>
            <a:spLocks noGrp="1"/>
          </p:cNvSpPr>
          <p:nvPr/>
        </p:nvSpPr>
        <p:spPr>
          <a:xfrm>
            <a:off x="7762875" y="350520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heads must be between 0 and 20. Heads plus tails must equal 20.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25BB90-7246-4132-A203-387036C9CB82}"/>
              </a:ext>
            </a:extLst>
          </p:cNvPr>
          <p:cNvSpPr>
            <a:spLocks noGrp="1"/>
          </p:cNvSpPr>
          <p:nvPr/>
        </p:nvSpPr>
        <p:spPr>
          <a:xfrm>
            <a:off x="7762875" y="4248150"/>
            <a:ext cx="3857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Sample output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971E0D-CDB0-4161-BF2A-F2B43047F045}"/>
              </a:ext>
            </a:extLst>
          </p:cNvPr>
          <p:cNvSpPr>
            <a:spLocks noGrp="1"/>
          </p:cNvSpPr>
          <p:nvPr/>
        </p:nvSpPr>
        <p:spPr>
          <a:xfrm>
            <a:off x="7762875" y="4629150"/>
            <a:ext cx="3857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Heads: 6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Tails: 14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8C44E0-5FAD-4A80-95A8-B1C65ADAABF2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Twenty trials do not guarantee ten heads. Change the seed and compare.</a:t>
            </a:r>
          </a:p>
        </p:txBody>
      </p:sp>
    </p:spTree>
    <p:extLst>
      <p:ext uri="{BB962C8B-B14F-4D97-AF65-F5344CB8AC3E}">
        <p14:creationId xmlns:p14="http://schemas.microsoft.com/office/powerpoint/2010/main" val="18545488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6BFD84-06BD-4643-BEF1-4CB90E53786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Useful loop tests</a:t>
            </a:r>
          </a:p>
        </p:txBody>
      </p:sp>
      <p:graphicFrame>
        <p:nvGraphicFramePr>
          <p:cNvPr id="7" name="Table 6"/>
          <p:cNvGraphicFramePr/>
          <p:nvPr/>
        </p:nvGraphicFramePr>
        <p:xfrm>
          <a:off x="438150" y="1524000"/>
          <a:ext cx="11096625" cy="3476628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to check</a:t>
                      </a:r>
                    </a:p>
                  </a:txBody>
                  <a:tcPr anchor="ctr">
                    <a:solidFill>
                      <a:srgbClr val="00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Zero passes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[] or range(0)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No body execution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One 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[7] or range(1)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Exactly one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Several passes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[4, 7, 2]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Correct order and final result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length = 125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Does &lt;= include the last line?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Immediate exit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First input is stop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324D"/>
                          </a:solidFill>
                          <a:latin typeface="Arial"/>
                          <a:ea typeface="Arial"/>
                          <a:cs typeface="Arial"/>
                        </a:rPr>
                        <a:t>Sentinel is not processed</a:t>
                      </a:r>
                    </a:p>
                  </a:txBody>
                  <a:tcPr anchor="ctr">
                    <a:solidFill>
                      <a:srgbClr val="F0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0C4C9AF-2D1B-422E-8E4F-66157FC6A00C}"/>
              </a:ext>
            </a:extLst>
          </p:cNvPr>
          <p:cNvSpPr>
            <a:spLocks noGrp="1"/>
          </p:cNvSpPr>
          <p:nvPr/>
        </p:nvSpPr>
        <p:spPr>
          <a:xfrm>
            <a:off x="438150" y="5324475"/>
            <a:ext cx="110966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95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Write expected results before running. Check counts as well as final outputs.</a:t>
            </a:r>
          </a:p>
        </p:txBody>
      </p:sp>
    </p:spTree>
    <p:extLst>
      <p:ext uri="{BB962C8B-B14F-4D97-AF65-F5344CB8AC3E}">
        <p14:creationId xmlns:p14="http://schemas.microsoft.com/office/powerpoint/2010/main" val="40021046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E54C304-2EC4-46C2-8191-A7513855A219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Debugging challenge: two small faults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8B021B-CBC4-4737-AB67-B84F41A7CB4A}"/>
              </a:ext>
            </a:extLst>
          </p:cNvPr>
          <p:cNvSpPr>
            <a:spLocks noGrp="1"/>
          </p:cNvSpPr>
          <p:nvPr/>
        </p:nvSpPr>
        <p:spPr>
          <a:xfrm>
            <a:off x="438150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A: WRONG COUNT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528562-20F9-4B97-8CE9-03F85150D3BF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B: WRONG SHAPE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470A2-5E20-4DA7-B4E2-C87357520D82}"/>
              </a:ext>
            </a:extLst>
          </p:cNvPr>
          <p:cNvSpPr>
            <a:spLocks noGrp="1"/>
          </p:cNvSpPr>
          <p:nvPr/>
        </p:nvSpPr>
        <p:spPr>
          <a:xfrm>
            <a:off x="438150" y="2143125"/>
            <a:ext cx="5314950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positives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value in [3, -2, 1]: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value &gt;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positives += value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print(positives)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C174A4-2253-4D4F-85D8-F347CB93FD08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286375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side in range(3):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t.left(60)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4DB20-A376-48EA-BEA9-DE669A8B89E6}"/>
              </a:ext>
            </a:extLst>
          </p:cNvPr>
          <p:cNvSpPr>
            <a:spLocks noGrp="1"/>
          </p:cNvSpPr>
          <p:nvPr/>
        </p:nvSpPr>
        <p:spPr>
          <a:xfrm>
            <a:off x="438150" y="5267325"/>
            <a:ext cx="111061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A: count positive values. B: draw a closed equilateral triangle. Predict, fix and test.</a:t>
            </a:r>
          </a:p>
        </p:txBody>
      </p:sp>
    </p:spTree>
    <p:extLst>
      <p:ext uri="{BB962C8B-B14F-4D97-AF65-F5344CB8AC3E}">
        <p14:creationId xmlns:p14="http://schemas.microsoft.com/office/powerpoint/2010/main" val="36675165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9336E4-10C6-4B3C-8BDA-FEF30699559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Debugging challenge: solutions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F08F9E-0374-4ADB-96A3-7948E7B859B5}"/>
              </a:ext>
            </a:extLst>
          </p:cNvPr>
          <p:cNvSpPr>
            <a:spLocks noGrp="1"/>
          </p:cNvSpPr>
          <p:nvPr/>
        </p:nvSpPr>
        <p:spPr>
          <a:xfrm>
            <a:off x="438150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A: ADD ONE PER MATCH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6E309D-733E-401A-8EF7-2BDB587D9F86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7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7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B: EXTERIOR TURN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CEB02-E6FF-471A-852E-11BF4F401291}"/>
              </a:ext>
            </a:extLst>
          </p:cNvPr>
          <p:cNvSpPr>
            <a:spLocks noGrp="1"/>
          </p:cNvSpPr>
          <p:nvPr/>
        </p:nvSpPr>
        <p:spPr>
          <a:xfrm>
            <a:off x="438150" y="2143125"/>
            <a:ext cx="5314950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positives = 0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value in [3, -2, 1]: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if value &gt; 0: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positives += 1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print(positives)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392831-2EA4-48A1-90DB-EB2665E51587}"/>
              </a:ext>
            </a:extLst>
          </p:cNvPr>
          <p:cNvSpPr>
            <a:spLocks noGrp="1"/>
          </p:cNvSpPr>
          <p:nvPr/>
        </p:nvSpPr>
        <p:spPr>
          <a:xfrm>
            <a:off x="6334125" y="2143125"/>
            <a:ext cx="5286375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side in range(3):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t.forward(100)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t.left(120)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DBAA42-B652-4F50-A480-23E33346B8AF}"/>
              </a:ext>
            </a:extLst>
          </p:cNvPr>
          <p:cNvSpPr>
            <a:spLocks noGrp="1"/>
          </p:cNvSpPr>
          <p:nvPr/>
        </p:nvSpPr>
        <p:spPr>
          <a:xfrm>
            <a:off x="438150" y="5267325"/>
            <a:ext cx="111061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02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A: output is 2, not 4. B: three exterior turns of 120° make a full 360°.</a:t>
            </a:r>
          </a:p>
        </p:txBody>
      </p:sp>
    </p:spTree>
    <p:extLst>
      <p:ext uri="{BB962C8B-B14F-4D97-AF65-F5344CB8AC3E}">
        <p14:creationId xmlns:p14="http://schemas.microsoft.com/office/powerpoint/2010/main" val="447220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65CB12-DC0B-44B0-8844-B8703E26BF0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Final task: eight rotated squares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E86F0-2BA4-4A91-82EE-057CBEDADADE}"/>
              </a:ext>
            </a:extLst>
          </p:cNvPr>
          <p:cNvSpPr>
            <a:spLocks noGrp="1"/>
          </p:cNvSpPr>
          <p:nvPr/>
        </p:nvSpPr>
        <p:spPr>
          <a:xfrm>
            <a:off x="438150" y="1333500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8-MINUTE TASK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0B5DFE-6DEB-47A4-B188-C4CF84C65AA6}"/>
              </a:ext>
            </a:extLst>
          </p:cNvPr>
          <p:cNvSpPr>
            <a:spLocks noGrp="1"/>
          </p:cNvSpPr>
          <p:nvPr/>
        </p:nvSpPr>
        <p:spPr>
          <a:xfrm>
            <a:off x="438150" y="185737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pattern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330CB9-9A59-4506-83CC-A2B273B1837A}"/>
              </a:ext>
            </a:extLst>
          </p:cNvPr>
          <p:cNvSpPr>
            <a:spLocks noGrp="1"/>
          </p:cNvSpPr>
          <p:nvPr/>
        </p:nvSpPr>
        <p:spPr>
          <a:xfrm>
            <a:off x="438150" y="228600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Use nested loops to draw 8 squares. Each square has side length 60.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030435-2CD6-4F64-AE5C-297187A73914}"/>
              </a:ext>
            </a:extLst>
          </p:cNvPr>
          <p:cNvSpPr>
            <a:spLocks noGrp="1"/>
          </p:cNvSpPr>
          <p:nvPr/>
        </p:nvSpPr>
        <p:spPr>
          <a:xfrm>
            <a:off x="438150" y="305752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rotation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44808-F80C-4012-A964-64A7926F181D}"/>
              </a:ext>
            </a:extLst>
          </p:cNvPr>
          <p:cNvSpPr>
            <a:spLocks noGrp="1"/>
          </p:cNvSpPr>
          <p:nvPr/>
        </p:nvSpPr>
        <p:spPr>
          <a:xfrm>
            <a:off x="438150" y="348615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Turn left 45° after each complete square. Start each square at the same point.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49B368-6558-40ED-81EC-CE052147AF21}"/>
              </a:ext>
            </a:extLst>
          </p:cNvPr>
          <p:cNvSpPr>
            <a:spLocks noGrp="1"/>
          </p:cNvSpPr>
          <p:nvPr/>
        </p:nvSpPr>
        <p:spPr>
          <a:xfrm>
            <a:off x="438150" y="425767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Checks and extension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F866B8-B99F-4F6A-A3B0-A7084C0964CB}"/>
              </a:ext>
            </a:extLst>
          </p:cNvPr>
          <p:cNvSpPr>
            <a:spLocks noGrp="1"/>
          </p:cNvSpPr>
          <p:nvPr/>
        </p:nvSpPr>
        <p:spPr>
          <a:xfrm>
            <a:off x="438150" y="468630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32 forward movements and 8 outer turns. Extension: try 12 squares with 30° turns.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D403D-7E65-4238-B13A-91E06D35AC18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min plan, 4 min code, 2 min test. Keep the two indentation levels clear.</a:t>
            </a:r>
          </a:p>
        </p:txBody>
      </p:sp>
    </p:spTree>
    <p:extLst>
      <p:ext uri="{BB962C8B-B14F-4D97-AF65-F5344CB8AC3E}">
        <p14:creationId xmlns:p14="http://schemas.microsoft.com/office/powerpoint/2010/main" val="13320150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36A95C-028E-41F4-AAB6-36BF814EDDB3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Final task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EC0794-6754-4B84-9AAE-5BC00952B4D9}"/>
              </a:ext>
            </a:extLst>
          </p:cNvPr>
          <p:cNvSpPr>
            <a:spLocks noGrp="1"/>
          </p:cNvSpPr>
          <p:nvPr/>
        </p:nvSpPr>
        <p:spPr>
          <a:xfrm>
            <a:off x="438150" y="1362075"/>
            <a:ext cx="666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327CB-485C-4E58-97D2-156D35C195CE}"/>
              </a:ext>
            </a:extLst>
          </p:cNvPr>
          <p:cNvSpPr>
            <a:spLocks noGrp="1"/>
          </p:cNvSpPr>
          <p:nvPr/>
        </p:nvSpPr>
        <p:spPr>
          <a:xfrm>
            <a:off x="438150" y="1809750"/>
            <a:ext cx="6572250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for shape in range(8):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for side in range(4):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t.forward(60)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    t.left(90)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0">
                <a:solidFill>
                  <a:srgbClr val="0032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kumimoji="0" sz="210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DejaVu Sans Mono"/>
                <a:ea typeface="DejaVu Sans Mono"/>
                <a:cs typeface="DejaVu Sans Mono"/>
              </a:rPr>
              <a:t>    t.left(45)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6150" y="1567355"/>
            <a:ext cx="4324350" cy="35042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C6903C-64E4-40E1-9F49-BC2ED4E018A6}"/>
              </a:ext>
            </a:extLst>
          </p:cNvPr>
          <p:cNvSpPr>
            <a:spLocks noGrp="1"/>
          </p:cNvSpPr>
          <p:nvPr/>
        </p:nvSpPr>
        <p:spPr>
          <a:xfrm>
            <a:off x="7429500" y="5219700"/>
            <a:ext cx="42100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Dot: start    Arrow: final 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09D16-4C6B-49D5-AA86-772593A87BD6}"/>
              </a:ext>
            </a:extLst>
          </p:cNvPr>
          <p:cNvSpPr>
            <a:spLocks noGrp="1"/>
          </p:cNvSpPr>
          <p:nvPr/>
        </p:nvSpPr>
        <p:spPr>
          <a:xfrm>
            <a:off x="438150" y="4171950"/>
            <a:ext cx="65722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50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1950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inner body runs 8 × 4 = 32 times. The outer turn runs 8 times.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6D544C-7ED6-4EC4-AA39-7900E9A8DA9B}"/>
              </a:ext>
            </a:extLst>
          </p:cNvPr>
          <p:cNvSpPr>
            <a:spLocks noGrp="1"/>
          </p:cNvSpPr>
          <p:nvPr/>
        </p:nvSpPr>
        <p:spPr>
          <a:xfrm>
            <a:off x="438150" y="55149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4 turns close each square. 8 outer turns distribute the squares around 360°.</a:t>
            </a:r>
          </a:p>
        </p:txBody>
      </p:sp>
    </p:spTree>
    <p:extLst>
      <p:ext uri="{BB962C8B-B14F-4D97-AF65-F5344CB8AC3E}">
        <p14:creationId xmlns:p14="http://schemas.microsoft.com/office/powerpoint/2010/main" val="28528330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CC3F3D-F62B-49BF-AD02-D1F9E4FE3FB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Exit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091E22-AE23-4655-8B8E-6A5A55D77CB2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1. Range and totals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5F3FA-59BD-47A1-B4FF-159EEC4D9061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values does range(2, 8, 2) give? Where should total = 0 go?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41AB41-A27F-45F2-9D4C-4FD24B825A74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2. Stopping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9383D6-BF7D-4EC8-9150-441E2B421B08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Why can a while loop run zero times? What must change in a countdown?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50B6E-E6DE-4005-BC4D-C2848BDD5B24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3. Loop 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A01526-C291-49E2-86EA-AF8CC2EA1349}"/>
              </a:ext>
            </a:extLst>
          </p:cNvPr>
          <p:cNvSpPr>
            <a:spLocks noGrp="1"/>
          </p:cNvSpPr>
          <p:nvPr/>
        </p:nvSpPr>
        <p:spPr>
          <a:xfrm>
            <a:off x="438150" y="44291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 dirty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does break differ from continue? How many sides do 7 squares draw?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69DA7F-D8D7-4810-899E-47378B82822F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Answer without running code. Then check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327788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B9C54CC-0F1A-443A-B68C-8EAAF93CCD4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Exit answers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197818-01CE-4B91-A6AC-E2494DA7F056}"/>
              </a:ext>
            </a:extLst>
          </p:cNvPr>
          <p:cNvSpPr>
            <a:spLocks noGrp="1"/>
          </p:cNvSpPr>
          <p:nvPr/>
        </p:nvSpPr>
        <p:spPr>
          <a:xfrm>
            <a:off x="438150" y="16002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1. Range and totals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7EDF03-4570-46CA-95B5-0533FF69D62A}"/>
              </a:ext>
            </a:extLst>
          </p:cNvPr>
          <p:cNvSpPr>
            <a:spLocks noGrp="1"/>
          </p:cNvSpPr>
          <p:nvPr/>
        </p:nvSpPr>
        <p:spPr>
          <a:xfrm>
            <a:off x="438150" y="20288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2, 4, 6. Initialise the total before the loop so it keeps earlier contributions.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6FA60-1EC1-4F2C-B491-EB300B15683D}"/>
              </a:ext>
            </a:extLst>
          </p:cNvPr>
          <p:cNvSpPr>
            <a:spLocks noGrp="1"/>
          </p:cNvSpPr>
          <p:nvPr/>
        </p:nvSpPr>
        <p:spPr>
          <a:xfrm>
            <a:off x="438150" y="280035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2. Stopping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EE99EE-2B95-4584-96E4-40335E85B823}"/>
              </a:ext>
            </a:extLst>
          </p:cNvPr>
          <p:cNvSpPr>
            <a:spLocks noGrp="1"/>
          </p:cNvSpPr>
          <p:nvPr/>
        </p:nvSpPr>
        <p:spPr>
          <a:xfrm>
            <a:off x="438150" y="322897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 False first test skips the body. Decrease the countdown until its test is False.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6884B9-B442-4C31-B112-2898AF28B06C}"/>
              </a:ext>
            </a:extLst>
          </p:cNvPr>
          <p:cNvSpPr>
            <a:spLocks noGrp="1"/>
          </p:cNvSpPr>
          <p:nvPr/>
        </p:nvSpPr>
        <p:spPr>
          <a:xfrm>
            <a:off x="438150" y="4000500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3. Loop 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102F3-5B86-4F9E-8E72-AC7EB39B0AE5}"/>
              </a:ext>
            </a:extLst>
          </p:cNvPr>
          <p:cNvSpPr>
            <a:spLocks noGrp="1"/>
          </p:cNvSpPr>
          <p:nvPr/>
        </p:nvSpPr>
        <p:spPr>
          <a:xfrm>
            <a:off x="438150" y="4429125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3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break exits the nearest loop. continue skips the rest of one pass. 7 × 4 = 28 sides.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39D351-1831-4D64-BDCC-B8DB66E278EE}"/>
              </a:ext>
            </a:extLst>
          </p:cNvPr>
          <p:cNvSpPr>
            <a:spLocks noGrp="1"/>
          </p:cNvSpPr>
          <p:nvPr/>
        </p:nvSpPr>
        <p:spPr>
          <a:xfrm>
            <a:off x="438150" y="549592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You should be able to explain the output, the state changes and the stopping rule.</a:t>
            </a:r>
          </a:p>
        </p:txBody>
      </p:sp>
    </p:spTree>
    <p:extLst>
      <p:ext uri="{BB962C8B-B14F-4D97-AF65-F5344CB8AC3E}">
        <p14:creationId xmlns:p14="http://schemas.microsoft.com/office/powerpoint/2010/main" val="24395418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6877FF-F298-4272-8228-BABD4E0274D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112395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Course alignment and reading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EA659-F8B7-4B4C-AD8A-F8EE7DB9424F}"/>
              </a:ext>
            </a:extLst>
          </p:cNvPr>
          <p:cNvSpPr>
            <a:spLocks noGrp="1"/>
          </p:cNvSpPr>
          <p:nvPr/>
        </p:nvSpPr>
        <p:spPr>
          <a:xfrm>
            <a:off x="438150" y="182733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to Think Like a Computer Scientist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BCEAD9-F112-42CE-AAA8-310484CC73AD}"/>
              </a:ext>
            </a:extLst>
          </p:cNvPr>
          <p:cNvSpPr>
            <a:spLocks noGrp="1"/>
          </p:cNvSpPr>
          <p:nvPr/>
        </p:nvSpPr>
        <p:spPr>
          <a:xfrm>
            <a:off x="438150" y="225596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Learning with Python 3: §§3.3-3.4, 7.2-7.4, 7.15-7.18, 7.22 and Chapter 11.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78135-3543-4669-8AB8-0F66CE5A5DF4}"/>
              </a:ext>
            </a:extLst>
          </p:cNvPr>
          <p:cNvSpPr>
            <a:spLocks noGrp="1"/>
          </p:cNvSpPr>
          <p:nvPr/>
        </p:nvSpPr>
        <p:spPr>
          <a:xfrm>
            <a:off x="438150" y="3027485"/>
            <a:ext cx="10906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b="1">
                <a:solidFill>
                  <a:srgbClr val="006D94"/>
                </a:solidFill>
                <a:latin typeface="Arial"/>
                <a:ea typeface="Arial"/>
                <a:cs typeface="Arial"/>
              </a:defRPr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6D9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Other core books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DB1254-2D2A-40F6-BF8C-56AC2D448D08}"/>
              </a:ext>
            </a:extLst>
          </p:cNvPr>
          <p:cNvSpPr>
            <a:spLocks noGrp="1"/>
          </p:cNvSpPr>
          <p:nvPr/>
        </p:nvSpPr>
        <p:spPr>
          <a:xfrm>
            <a:off x="438150" y="345611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0">
                <a:solidFill>
                  <a:srgbClr val="00324D"/>
                </a:solidFill>
                <a:latin typeface="Arial"/>
                <a:ea typeface="Arial"/>
                <a:cs typeface="Arial"/>
              </a:defRPr>
            </a:pPr>
            <a:r>
              <a:rPr kumimoji="0" sz="2025" b="0" i="0" u="none" strike="noStrike" kern="1200" cap="none" spc="0" normalizeH="0" baseline="0" noProof="0">
                <a:ln>
                  <a:noFill/>
                </a:ln>
                <a:solidFill>
                  <a:srgbClr val="00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Irv Kalb, Learn to Program with Python 3 (2018), Chapter 6. OCR AS/A Level Computer Science, Chapter 55, pp. 299-302.</a:t>
            </a:r>
          </a:p>
        </p:txBody>
      </p:sp>
    </p:spTree>
    <p:extLst>
      <p:ext uri="{BB962C8B-B14F-4D97-AF65-F5344CB8AC3E}">
        <p14:creationId xmlns:p14="http://schemas.microsoft.com/office/powerpoint/2010/main" val="75570671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4716</Words>
  <Application>Microsoft Office PowerPoint</Application>
  <PresentationFormat>Widescreen</PresentationFormat>
  <Paragraphs>830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68</vt:i4>
      </vt:variant>
    </vt:vector>
  </HeadingPairs>
  <TitlesOfParts>
    <vt:vector size="76" baseType="lpstr">
      <vt:lpstr>Aptos</vt:lpstr>
      <vt:lpstr>Arial</vt:lpstr>
      <vt:lpstr>DejaVu Sans Mono</vt:lpstr>
      <vt:lpstr>2_Office Theme</vt:lpstr>
      <vt:lpstr>15_Office Theme</vt:lpstr>
      <vt:lpstr>3_Office Theme</vt:lpstr>
      <vt:lpstr>22_Office Theme</vt:lpstr>
      <vt:lpstr>21_Office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Katy Ruth Halpin</dc:creator>
  <cp:lastModifiedBy>Séamus Cummins</cp:lastModifiedBy>
  <cp:revision>9</cp:revision>
  <dcterms:created xsi:type="dcterms:W3CDTF">2022-05-19T09:57:07Z</dcterms:created>
  <dcterms:modified xsi:type="dcterms:W3CDTF">2026-10-13T09:31:46Z</dcterms:modified>
</cp:coreProperties>
</file>