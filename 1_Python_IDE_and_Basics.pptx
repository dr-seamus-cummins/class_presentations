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790" r:id="rId2"/>
    <p:sldMasterId id="2147483899" r:id="rId3"/>
    <p:sldMasterId id="2147483905" r:id="rId4"/>
    <p:sldMasterId id="2147483913" r:id="rId5"/>
    <p:sldMasterId id="2147483921" r:id="rId6"/>
    <p:sldMasterId id="2147483928" r:id="rId7"/>
  </p:sldMasterIdLst>
  <p:notesMasterIdLst>
    <p:notesMasterId r:id="rId35"/>
  </p:notesMasterIdLst>
  <p:sldIdLst>
    <p:sldId id="256" r:id="rId8"/>
    <p:sldId id="257" r:id="rId9"/>
    <p:sldId id="258" r:id="rId10"/>
    <p:sldId id="284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85" r:id="rId20"/>
    <p:sldId id="286" r:id="rId21"/>
    <p:sldId id="269" r:id="rId22"/>
    <p:sldId id="270" r:id="rId23"/>
    <p:sldId id="271" r:id="rId24"/>
    <p:sldId id="272" r:id="rId25"/>
    <p:sldId id="287" r:id="rId26"/>
    <p:sldId id="288" r:id="rId27"/>
    <p:sldId id="275" r:id="rId28"/>
    <p:sldId id="276" r:id="rId29"/>
    <p:sldId id="277" r:id="rId30"/>
    <p:sldId id="278" r:id="rId31"/>
    <p:sldId id="279" r:id="rId32"/>
    <p:sldId id="289" r:id="rId33"/>
    <p:sldId id="28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4F9AD7-0636-43FC-942D-C6CC0BC73227}" v="1" dt="2026-10-06T08:00:54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6"/>
    <p:restoredTop sz="94716"/>
  </p:normalViewPr>
  <p:slideViewPr>
    <p:cSldViewPr snapToGrid="0" snapToObjects="1">
      <p:cViewPr varScale="1">
        <p:scale>
          <a:sx n="82" d="100"/>
          <a:sy n="82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52D3679E-C8EB-4FED-9467-7F6E2156AACE}"/>
    <pc:docChg chg="custSel modSld delMainMaster">
      <pc:chgData name="Séamus Cummins" userId="9cbc4947-2644-4ffd-8985-8dfea9f9d8f2" providerId="ADAL" clId="{52D3679E-C8EB-4FED-9467-7F6E2156AACE}" dt="2026-10-06T08:56:47.777" v="39" actId="1076"/>
      <pc:docMkLst>
        <pc:docMk/>
      </pc:docMkLst>
      <pc:sldChg chg="delSp modSp mod">
        <pc:chgData name="Séamus Cummins" userId="9cbc4947-2644-4ffd-8985-8dfea9f9d8f2" providerId="ADAL" clId="{52D3679E-C8EB-4FED-9467-7F6E2156AACE}" dt="2026-10-06T08:56:47.777" v="39" actId="1076"/>
        <pc:sldMkLst>
          <pc:docMk/>
          <pc:sldMk cId="432202968" sldId="259"/>
        </pc:sldMkLst>
        <pc:spChg chg="mod">
          <ac:chgData name="Séamus Cummins" userId="9cbc4947-2644-4ffd-8985-8dfea9f9d8f2" providerId="ADAL" clId="{52D3679E-C8EB-4FED-9467-7F6E2156AACE}" dt="2026-10-06T08:56:31.597" v="35" actId="1076"/>
          <ac:spMkLst>
            <pc:docMk/>
            <pc:sldMk cId="432202968" sldId="259"/>
            <ac:spMk id="3" creationId="{05E0AF32-7987-46C3-B770-F0068F47B0FE}"/>
          </ac:spMkLst>
        </pc:spChg>
        <pc:spChg chg="mod">
          <ac:chgData name="Séamus Cummins" userId="9cbc4947-2644-4ffd-8985-8dfea9f9d8f2" providerId="ADAL" clId="{52D3679E-C8EB-4FED-9467-7F6E2156AACE}" dt="2026-10-06T08:56:29.629" v="34" actId="1076"/>
          <ac:spMkLst>
            <pc:docMk/>
            <pc:sldMk cId="432202968" sldId="259"/>
            <ac:spMk id="4" creationId="{70C4F72F-DB7E-4248-8D93-2A5C1B7013F1}"/>
          </ac:spMkLst>
        </pc:spChg>
        <pc:spChg chg="mod">
          <ac:chgData name="Séamus Cummins" userId="9cbc4947-2644-4ffd-8985-8dfea9f9d8f2" providerId="ADAL" clId="{52D3679E-C8EB-4FED-9467-7F6E2156AACE}" dt="2026-10-06T08:56:47.777" v="39" actId="1076"/>
          <ac:spMkLst>
            <pc:docMk/>
            <pc:sldMk cId="432202968" sldId="259"/>
            <ac:spMk id="5" creationId="{8EFBF581-9D23-4D1C-ABA5-C416D56A501F}"/>
          </ac:spMkLst>
        </pc:spChg>
        <pc:spChg chg="mod">
          <ac:chgData name="Séamus Cummins" userId="9cbc4947-2644-4ffd-8985-8dfea9f9d8f2" providerId="ADAL" clId="{52D3679E-C8EB-4FED-9467-7F6E2156AACE}" dt="2026-10-06T08:56:39.141" v="38" actId="1076"/>
          <ac:spMkLst>
            <pc:docMk/>
            <pc:sldMk cId="432202968" sldId="259"/>
            <ac:spMk id="6" creationId="{C75FC683-81D3-4555-93DC-09B57CE6B065}"/>
          </ac:spMkLst>
        </pc:spChg>
        <pc:spChg chg="mod">
          <ac:chgData name="Séamus Cummins" userId="9cbc4947-2644-4ffd-8985-8dfea9f9d8f2" providerId="ADAL" clId="{52D3679E-C8EB-4FED-9467-7F6E2156AACE}" dt="2026-10-06T08:55:33.737" v="15" actId="20577"/>
          <ac:spMkLst>
            <pc:docMk/>
            <pc:sldMk cId="432202968" sldId="259"/>
            <ac:spMk id="8" creationId="{10B3F4AF-520B-4219-943A-439B795E6CBB}"/>
          </ac:spMkLst>
        </pc:spChg>
        <pc:spChg chg="del">
          <ac:chgData name="Séamus Cummins" userId="9cbc4947-2644-4ffd-8985-8dfea9f9d8f2" providerId="ADAL" clId="{52D3679E-C8EB-4FED-9467-7F6E2156AACE}" dt="2026-10-06T08:55:21.254" v="1" actId="478"/>
          <ac:spMkLst>
            <pc:docMk/>
            <pc:sldMk cId="432202968" sldId="259"/>
            <ac:spMk id="13" creationId="{56DE6213-64D3-3D10-DEAC-8A1880DC8B28}"/>
          </ac:spMkLst>
        </pc:spChg>
        <pc:spChg chg="del">
          <ac:chgData name="Séamus Cummins" userId="9cbc4947-2644-4ffd-8985-8dfea9f9d8f2" providerId="ADAL" clId="{52D3679E-C8EB-4FED-9467-7F6E2156AACE}" dt="2026-10-06T08:55:22.270" v="2" actId="478"/>
          <ac:spMkLst>
            <pc:docMk/>
            <pc:sldMk cId="432202968" sldId="259"/>
            <ac:spMk id="15" creationId="{4D9EDCB7-9417-916D-5BD2-D642FA858939}"/>
          </ac:spMkLst>
        </pc:spChg>
        <pc:picChg chg="mod">
          <ac:chgData name="Séamus Cummins" userId="9cbc4947-2644-4ffd-8985-8dfea9f9d8f2" providerId="ADAL" clId="{52D3679E-C8EB-4FED-9467-7F6E2156AACE}" dt="2026-10-06T08:56:27.042" v="33" actId="1076"/>
          <ac:picMkLst>
            <pc:docMk/>
            <pc:sldMk cId="432202968" sldId="259"/>
            <ac:picMk id="9" creationId="{00000000-0000-0000-0000-000000000000}"/>
          </ac:picMkLst>
        </pc:picChg>
        <pc:picChg chg="del">
          <ac:chgData name="Séamus Cummins" userId="9cbc4947-2644-4ffd-8985-8dfea9f9d8f2" providerId="ADAL" clId="{52D3679E-C8EB-4FED-9467-7F6E2156AACE}" dt="2026-10-06T08:55:18.938" v="0" actId="478"/>
          <ac:picMkLst>
            <pc:docMk/>
            <pc:sldMk cId="432202968" sldId="259"/>
            <ac:picMk id="10" creationId="{D5B1F87A-D450-22CA-D5B7-210329137F51}"/>
          </ac:picMkLst>
        </pc:picChg>
      </pc:sldChg>
      <pc:sldMasterChg chg="del delSldLayout">
        <pc:chgData name="Séamus Cummins" userId="9cbc4947-2644-4ffd-8985-8dfea9f9d8f2" providerId="ADAL" clId="{52D3679E-C8EB-4FED-9467-7F6E2156AACE}" dt="2026-10-06T08:55:27.704" v="4"/>
        <pc:sldMasterMkLst>
          <pc:docMk/>
          <pc:sldMasterMk cId="3381966395" sldId="2147483814"/>
        </pc:sldMasterMkLst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381966395" sldId="2147483814"/>
            <pc:sldLayoutMk cId="222175735" sldId="2147483815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381966395" sldId="2147483814"/>
            <pc:sldLayoutMk cId="429823292" sldId="2147483816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381966395" sldId="2147483814"/>
            <pc:sldLayoutMk cId="583010714" sldId="2147483817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381966395" sldId="2147483814"/>
            <pc:sldLayoutMk cId="3275171169" sldId="2147483818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381966395" sldId="2147483814"/>
            <pc:sldLayoutMk cId="2675763927" sldId="2147483819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381966395" sldId="2147483814"/>
            <pc:sldLayoutMk cId="4203992976" sldId="2147483820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381966395" sldId="2147483814"/>
            <pc:sldLayoutMk cId="633842252" sldId="2147483821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55:27.704" v="4"/>
        <pc:sldMasterMkLst>
          <pc:docMk/>
          <pc:sldMasterMk cId="1785737055" sldId="2147483846"/>
        </pc:sldMasterMkLst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1785737055" sldId="2147483846"/>
            <pc:sldLayoutMk cId="483295596" sldId="2147483847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1785737055" sldId="2147483846"/>
            <pc:sldLayoutMk cId="2837541930" sldId="2147483848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1785737055" sldId="2147483846"/>
            <pc:sldLayoutMk cId="4145089247" sldId="2147483849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1785737055" sldId="2147483846"/>
            <pc:sldLayoutMk cId="3931493050" sldId="2147483850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1785737055" sldId="2147483846"/>
            <pc:sldLayoutMk cId="3800407715" sldId="2147483851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1785737055" sldId="2147483846"/>
            <pc:sldLayoutMk cId="1201267924" sldId="2147483852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1785737055" sldId="2147483846"/>
            <pc:sldLayoutMk cId="3485255557" sldId="2147483853"/>
          </pc:sldLayoutMkLst>
        </pc:sldLayoutChg>
      </pc:sldMasterChg>
      <pc:sldMasterChg chg="del delSldLayout">
        <pc:chgData name="Séamus Cummins" userId="9cbc4947-2644-4ffd-8985-8dfea9f9d8f2" providerId="ADAL" clId="{52D3679E-C8EB-4FED-9467-7F6E2156AACE}" dt="2026-10-06T08:55:27.704" v="4"/>
        <pc:sldMasterMkLst>
          <pc:docMk/>
          <pc:sldMasterMk cId="3566901864" sldId="2147483894"/>
        </pc:sldMasterMkLst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566901864" sldId="2147483894"/>
            <pc:sldLayoutMk cId="3814477992" sldId="2147483895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566901864" sldId="2147483894"/>
            <pc:sldLayoutMk cId="203508055" sldId="2147483896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566901864" sldId="2147483894"/>
            <pc:sldLayoutMk cId="3150678980" sldId="2147483897"/>
          </pc:sldLayoutMkLst>
        </pc:sldLayoutChg>
        <pc:sldLayoutChg chg="del">
          <pc:chgData name="Séamus Cummins" userId="9cbc4947-2644-4ffd-8985-8dfea9f9d8f2" providerId="ADAL" clId="{52D3679E-C8EB-4FED-9467-7F6E2156AACE}" dt="2026-10-06T08:55:27.704" v="4"/>
          <pc:sldLayoutMkLst>
            <pc:docMk/>
            <pc:sldMasterMk cId="3566901864" sldId="2147483894"/>
            <pc:sldLayoutMk cId="2989390880" sldId="214748389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06/10/2026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489" y="1322152"/>
            <a:ext cx="7904205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489" y="3429000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2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021" y="2020896"/>
            <a:ext cx="10189958" cy="32338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6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20" y="679515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720" y="3215482"/>
            <a:ext cx="765724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247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1" y="456176"/>
            <a:ext cx="1018995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7959" y="1596553"/>
            <a:ext cx="5181600" cy="36648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9192" y="1596553"/>
            <a:ext cx="5181600" cy="36648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7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092" y="669925"/>
            <a:ext cx="10515600" cy="99799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6092" y="1985963"/>
            <a:ext cx="5157787" cy="6203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6092" y="2809875"/>
            <a:ext cx="5157787" cy="277406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504" y="1985963"/>
            <a:ext cx="5183188" cy="62030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504" y="2809875"/>
            <a:ext cx="5183188" cy="277406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1" y="2000914"/>
            <a:ext cx="1018995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9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090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2441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3577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3004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82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491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439184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3411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0444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23739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5415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9864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0955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8543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70104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8211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6503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8076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995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1827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741" y="1999693"/>
            <a:ext cx="8830962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69741" y="4106541"/>
            <a:ext cx="8830962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700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9487" y="3429000"/>
            <a:ext cx="826872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256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7211" y="2018658"/>
            <a:ext cx="8818777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57211" y="4554625"/>
            <a:ext cx="8818777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2704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487" y="2013939"/>
            <a:ext cx="8626046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99486" y="3320791"/>
            <a:ext cx="4129217" cy="24236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9522" y="3344090"/>
            <a:ext cx="4226011" cy="24003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401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3429000"/>
            <a:ext cx="8268729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81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58214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319174"/>
            <a:ext cx="7904205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555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545409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82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765724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02177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8824784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516707"/>
            <a:ext cx="4314567" cy="40067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42705" y="1516707"/>
            <a:ext cx="4226009" cy="40067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229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24" y="340497"/>
            <a:ext cx="9002832" cy="10435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624" y="1681163"/>
            <a:ext cx="4384964" cy="7550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2416" y="2733394"/>
            <a:ext cx="4384963" cy="27653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09493" y="1681163"/>
            <a:ext cx="4384963" cy="75507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09493" y="2733394"/>
            <a:ext cx="4384963" cy="27653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697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44" y="2441061"/>
            <a:ext cx="8355227" cy="932334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126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82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7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slideLayout" Target="../slideLayouts/slideLayout34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9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image" Target="../media/image9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21" y="705514"/>
            <a:ext cx="1018995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1021" y="2120574"/>
            <a:ext cx="10189958" cy="3012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657219" y="4974588"/>
            <a:ext cx="4058050" cy="1883412"/>
            <a:chOff x="657219" y="4974588"/>
            <a:chExt cx="4058050" cy="1883412"/>
          </a:xfrm>
        </p:grpSpPr>
        <p:sp>
          <p:nvSpPr>
            <p:cNvPr id="5" name="Rectangle 4"/>
            <p:cNvSpPr/>
            <p:nvPr userDrawn="1"/>
          </p:nvSpPr>
          <p:spPr>
            <a:xfrm>
              <a:off x="752475" y="5448300"/>
              <a:ext cx="3962794" cy="1409700"/>
            </a:xfrm>
            <a:prstGeom prst="rect">
              <a:avLst/>
            </a:prstGeom>
            <a:solidFill>
              <a:srgbClr val="00A5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219" y="4974588"/>
              <a:ext cx="4058050" cy="1694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881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28266-E523-4698-81D5-EC76309FBE61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4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241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038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487" y="2013939"/>
            <a:ext cx="826872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9487" y="3429000"/>
            <a:ext cx="826872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8471184" y="5730875"/>
            <a:ext cx="3178835" cy="850900"/>
            <a:chOff x="4902484" y="3927475"/>
            <a:chExt cx="3178835" cy="850900"/>
          </a:xfrm>
        </p:grpSpPr>
        <p:sp>
          <p:nvSpPr>
            <p:cNvPr id="5" name="Rectangle 4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6" name="Picture 5"/>
            <p:cNvPicPr>
              <a:picLocks noChangeAspect="1"/>
            </p:cNvPicPr>
            <p:nvPr userDrawn="1"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221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706047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0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s://www.jetbrains.com/pycharm/download/" TargetMode="External"/><Relationship Id="rId5" Type="http://schemas.openxmlformats.org/officeDocument/2006/relationships/hyperlink" Target="https://code.visualstudio.com/download" TargetMode="External"/><Relationship Id="rId4" Type="http://schemas.openxmlformats.org/officeDocument/2006/relationships/hyperlink" Target="https://thonny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</a:t>
            </a:r>
            <a:r>
              <a:rPr kumimoji="0" lang="en-GB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Getting Started</a:t>
            </a: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92D905-F799-4BB6-87AA-C97D3BF0A54A}"/>
              </a:ext>
            </a:extLst>
          </p:cNvPr>
          <p:cNvSpPr>
            <a:spLocks noGrp="1"/>
          </p:cNvSpPr>
          <p:nvPr/>
        </p:nvSpPr>
        <p:spPr>
          <a:xfrm>
            <a:off x="457200" y="3238500"/>
            <a:ext cx="5095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IDE, variables and operators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Worked examples and student tasks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</a:t>
            </a:r>
            <a:r>
              <a:rPr kumimoji="0" lang="en-GB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0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C85622-E48C-4F62-84A2-F50C9B4D7765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Python: history and context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34050" y="2680717"/>
            <a:ext cx="5981700" cy="20204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23FD38-CF40-4DC9-ADD2-A16ECBF6C63C}"/>
              </a:ext>
            </a:extLst>
          </p:cNvPr>
          <p:cNvSpPr>
            <a:spLocks noGrp="1"/>
          </p:cNvSpPr>
          <p:nvPr/>
        </p:nvSpPr>
        <p:spPr>
          <a:xfrm>
            <a:off x="438150" y="1981200"/>
            <a:ext cx="5010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3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Created by Guido van Rossum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148F26-EC79-44BA-952B-4B6606979C23}"/>
              </a:ext>
            </a:extLst>
          </p:cNvPr>
          <p:cNvSpPr>
            <a:spLocks noGrp="1"/>
          </p:cNvSpPr>
          <p:nvPr/>
        </p:nvSpPr>
        <p:spPr>
          <a:xfrm>
            <a:off x="438150" y="2428875"/>
            <a:ext cx="50101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First public release in 1991.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D633C7-8442-44CA-B47D-46D3583F6D05}"/>
              </a:ext>
            </a:extLst>
          </p:cNvPr>
          <p:cNvSpPr>
            <a:spLocks noGrp="1"/>
          </p:cNvSpPr>
          <p:nvPr/>
        </p:nvSpPr>
        <p:spPr>
          <a:xfrm>
            <a:off x="438150" y="3152775"/>
            <a:ext cx="5010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3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general-purpose language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4CAB5-BD0D-4F6F-9E75-800B6BC4C113}"/>
              </a:ext>
            </a:extLst>
          </p:cNvPr>
          <p:cNvSpPr>
            <a:spLocks noGrp="1"/>
          </p:cNvSpPr>
          <p:nvPr/>
        </p:nvSpPr>
        <p:spPr>
          <a:xfrm>
            <a:off x="438150" y="3600450"/>
            <a:ext cx="50101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Used for automation, data analysis and applications.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F7A76-EE7A-4A2C-9C32-252132A818E4}"/>
              </a:ext>
            </a:extLst>
          </p:cNvPr>
          <p:cNvSpPr>
            <a:spLocks noGrp="1"/>
          </p:cNvSpPr>
          <p:nvPr/>
        </p:nvSpPr>
        <p:spPr>
          <a:xfrm>
            <a:off x="438150" y="4324350"/>
            <a:ext cx="5010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3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Our starting point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72B69-8594-47BC-805C-0AFB29B1657E}"/>
              </a:ext>
            </a:extLst>
          </p:cNvPr>
          <p:cNvSpPr>
            <a:spLocks noGrp="1"/>
          </p:cNvSpPr>
          <p:nvPr/>
        </p:nvSpPr>
        <p:spPr>
          <a:xfrm>
            <a:off x="438150" y="4772025"/>
            <a:ext cx="50101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Small Python 3 programs that we can understand and test.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3C81A-CE98-4C04-9E8B-E8EE9D5D5758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takes its name from Monty Python’s Flying Circus.</a:t>
            </a:r>
          </a:p>
        </p:txBody>
      </p:sp>
    </p:spTree>
    <p:extLst>
      <p:ext uri="{BB962C8B-B14F-4D97-AF65-F5344CB8AC3E}">
        <p14:creationId xmlns:p14="http://schemas.microsoft.com/office/powerpoint/2010/main" val="48375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A90456-A8F6-40FA-96B1-100E8FC20C07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Python, interpreter and IDE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438150" y="1981200"/>
          <a:ext cx="11087100" cy="347662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Term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Python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The programming language we write.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Interpreter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The software that executes our Python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IDE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 workspace for writing, running and debugging programs.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Python’s Integrated Development and Learning Environment.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5ABDFD7-DB88-4874-BF5F-78E0019C22DC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IDE means Integrated Development Environment.</a:t>
            </a:r>
          </a:p>
        </p:txBody>
      </p:sp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DF590F-7F1B-45A7-B866-1C4CB81483B7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IDEs: downloads and comparison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438150" y="1885950"/>
          <a:ext cx="11087100" cy="37147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IDE and download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for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Setup / limitation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IDLE (free)</a:t>
                      </a:r>
                    </a:p>
                    <a:p>
                      <a:r>
                        <a:rPr sz="1800" b="0" u="sng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  <a:hlinkClick r:id="rId3"/>
                        </a:rPr>
                        <a:t>python.org/downloads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First scripts and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following this lesson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Install Python with IDLE.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Fewer project tools.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Thonny (free)</a:t>
                      </a:r>
                    </a:p>
                    <a:p>
                      <a:r>
                        <a:rPr sz="1800" b="0" u="sng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  <a:hlinkClick r:id="rId4"/>
                        </a:rPr>
                        <a:t>thonny.org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Learning step by step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and viewing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Python bundled on Windows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and macOS. Simple interface.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VS Code (free)</a:t>
                      </a:r>
                    </a:p>
                    <a:p>
                      <a:r>
                        <a:rPr sz="1800" b="0" u="sng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  <a:hlinkClick r:id="rId5"/>
                        </a:rPr>
                        <a:t>code.visualstudio.com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Several languages and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customising your workspace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Install Python and the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Microsoft Python extension.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PyCharm (free core)</a:t>
                      </a:r>
                    </a:p>
                    <a:p>
                      <a:r>
                        <a:rPr sz="1800" b="0" u="sng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  <a:hlinkClick r:id="rId6"/>
                        </a:rPr>
                        <a:t>jetbrains.com/pycharm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Larger Python projects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and code assistance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Configure Python. More menus</a:t>
                      </a:r>
                    </a:p>
                    <a:p>
                      <a:r>
                        <a:rPr sz="187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to learn. Pro extras cost extra.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52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B3F4AF-520B-4219-943A-439B795E6CBB}"/>
              </a:ext>
            </a:extLst>
          </p:cNvPr>
          <p:cNvSpPr>
            <a:spLocks noGrp="1"/>
          </p:cNvSpPr>
          <p:nvPr/>
        </p:nvSpPr>
        <p:spPr>
          <a:xfrm>
            <a:off x="438150" y="44699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IDLE: </a:t>
            </a:r>
            <a:r>
              <a:rPr kumimoji="0" lang="en-GB" sz="35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</a:t>
            </a:r>
            <a:r>
              <a:rPr kumimoji="0" sz="3525" b="1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ditor</a:t>
            </a:r>
            <a:r>
              <a:rPr lang="en-GB" sz="3525" b="1" dirty="0">
                <a:solidFill>
                  <a:srgbClr val="00324D"/>
                </a:solidFill>
                <a:latin typeface="Arial"/>
                <a:ea typeface="Arial"/>
                <a:cs typeface="Arial"/>
              </a:rPr>
              <a:t> and</a:t>
            </a:r>
            <a:r>
              <a:rPr kumimoji="0" lang="en-GB" sz="35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</a:t>
            </a:r>
            <a:r>
              <a:rPr kumimoji="0" sz="35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</a:t>
            </a:r>
            <a:r>
              <a:rPr kumimoji="0" lang="en-GB" sz="35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</a:t>
            </a:r>
            <a:endParaRPr kumimoji="0" sz="35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b="42469"/>
          <a:stretch>
            <a:fillRect/>
          </a:stretch>
        </p:blipFill>
        <p:spPr>
          <a:xfrm>
            <a:off x="742738" y="2673832"/>
            <a:ext cx="10235733" cy="33123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E0AF32-7987-46C3-B770-F0068F47B0FE}"/>
              </a:ext>
            </a:extLst>
          </p:cNvPr>
          <p:cNvSpPr>
            <a:spLocks noGrp="1"/>
          </p:cNvSpPr>
          <p:nvPr/>
        </p:nvSpPr>
        <p:spPr>
          <a:xfrm>
            <a:off x="7447922" y="1717236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Editor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4F72F-DB7E-4248-8D93-2A5C1B7013F1}"/>
              </a:ext>
            </a:extLst>
          </p:cNvPr>
          <p:cNvSpPr>
            <a:spLocks noGrp="1"/>
          </p:cNvSpPr>
          <p:nvPr/>
        </p:nvSpPr>
        <p:spPr>
          <a:xfrm>
            <a:off x="6506201" y="2126144"/>
            <a:ext cx="3712447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and save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files.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FBF581-9D23-4D1C-ABA5-C416D56A501F}"/>
              </a:ext>
            </a:extLst>
          </p:cNvPr>
          <p:cNvSpPr>
            <a:spLocks noGrp="1"/>
          </p:cNvSpPr>
          <p:nvPr/>
        </p:nvSpPr>
        <p:spPr>
          <a:xfrm>
            <a:off x="2578866" y="1746323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Shell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FC683-81D3-4555-93DC-09B57CE6B065}"/>
              </a:ext>
            </a:extLst>
          </p:cNvPr>
          <p:cNvSpPr>
            <a:spLocks noGrp="1"/>
          </p:cNvSpPr>
          <p:nvPr/>
        </p:nvSpPr>
        <p:spPr>
          <a:xfrm>
            <a:off x="1064166" y="2148363"/>
            <a:ext cx="4266692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 output and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432202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9940382-A7CE-4EF1-A8E2-CDCF14B1770D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first saved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D70CC9-57FC-47A9-9330-5905C1A6916E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733425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# My first Python program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print("Hello, DCU!")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print(2 + 3)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C1B4AB-3E4D-48D7-BB43-24D0223C718C}"/>
              </a:ext>
            </a:extLst>
          </p:cNvPr>
          <p:cNvSpPr>
            <a:spLocks noGrp="1"/>
          </p:cNvSpPr>
          <p:nvPr/>
        </p:nvSpPr>
        <p:spPr>
          <a:xfrm>
            <a:off x="7953375" y="2105025"/>
            <a:ext cx="3743325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File &gt; New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Save as hello.py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Run &gt; Run Module (F5)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F66677-5605-4E74-8191-A8284425C212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output: Hello, DCU! followed by 5 on the next line.</a:t>
            </a:r>
          </a:p>
        </p:txBody>
      </p:sp>
    </p:spTree>
    <p:extLst>
      <p:ext uri="{BB962C8B-B14F-4D97-AF65-F5344CB8AC3E}">
        <p14:creationId xmlns:p14="http://schemas.microsoft.com/office/powerpoint/2010/main" val="552482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A7B4E9-9EDB-49F9-8D48-33AF853291F2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shell and a saved script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68206E-0B9B-49D1-8F48-1D208E9AE451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Shell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5AE18D-0B97-48B7-AD64-83818464ACCB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one expression: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+ 3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shell displays 5.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1F38A5-FAA3-44AC-87C5-4E273766366D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20F09-A7DF-4C01-B0A5-18F3D821901E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an instruction: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print(2 + 3)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Run the file to display 5.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348EAD-852D-4D63-917B-A8FD5769999B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&gt;&gt;&gt; symbol is the shell prompt. Do not copy it into your script.</a:t>
            </a:r>
          </a:p>
        </p:txBody>
      </p:sp>
    </p:spTree>
    <p:extLst>
      <p:ext uri="{BB962C8B-B14F-4D97-AF65-F5344CB8AC3E}">
        <p14:creationId xmlns:p14="http://schemas.microsoft.com/office/powerpoint/2010/main" val="192660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3C2553-9765-4AA0-B10B-C14705620F78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Variables name values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E55FD0-9D48-472E-B557-709DED12BE9D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733425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=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= score + 5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print(score)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F4721-54EB-443E-9E77-640D5802B2D0}"/>
              </a:ext>
            </a:extLst>
          </p:cNvPr>
          <p:cNvSpPr>
            <a:spLocks noGrp="1"/>
          </p:cNvSpPr>
          <p:nvPr/>
        </p:nvSpPr>
        <p:spPr>
          <a:xfrm>
            <a:off x="7953375" y="2105025"/>
            <a:ext cx="3743325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 the right side first.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Then assign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 the name on the left.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1995E3-B047-4795-AD2C-AA3D0DE61CF1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value does score have after the second line?</a:t>
            </a:r>
          </a:p>
        </p:txBody>
      </p:sp>
    </p:spTree>
    <p:extLst>
      <p:ext uri="{BB962C8B-B14F-4D97-AF65-F5344CB8AC3E}">
        <p14:creationId xmlns:p14="http://schemas.microsoft.com/office/powerpoint/2010/main" val="418960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C7D246-4EE3-438C-8DAE-E98B2C1CA3DA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Four common data types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438150" y="1981200"/>
          <a:ext cx="11087100" cy="34766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Represents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int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age = 18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 whole number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distance = 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 floating-point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str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name = "Maya"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Text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ready =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 or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A74A7BF-A419-4179-8F01-58948CC4134E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Is "18" a number or a string?</a:t>
            </a:r>
          </a:p>
        </p:txBody>
      </p:sp>
    </p:spTree>
    <p:extLst>
      <p:ext uri="{BB962C8B-B14F-4D97-AF65-F5344CB8AC3E}">
        <p14:creationId xmlns:p14="http://schemas.microsoft.com/office/powerpoint/2010/main" val="278463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39B95D-5AF6-462B-941B-83DBAF34CC25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 begins as 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D8984-1578-425F-8187-75C2E3464CBD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733425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name = input("Name: 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age = int(input("Age: 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print("Hello", name)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print("Next year:", age + 1)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C8421C-826B-42C3-A962-70F9F2958AAE}"/>
              </a:ext>
            </a:extLst>
          </p:cNvPr>
          <p:cNvSpPr>
            <a:spLocks noGrp="1"/>
          </p:cNvSpPr>
          <p:nvPr/>
        </p:nvSpPr>
        <p:spPr>
          <a:xfrm>
            <a:off x="7953375" y="2105025"/>
            <a:ext cx="3743325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input() returns a string.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int() converts suitable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text to a whole number.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1343A5-EE96-4346-9CF4-A21B5AD517BB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float() when you need a value such as 2.5.</a:t>
            </a:r>
          </a:p>
        </p:txBody>
      </p:sp>
    </p:spTree>
    <p:extLst>
      <p:ext uri="{BB962C8B-B14F-4D97-AF65-F5344CB8AC3E}">
        <p14:creationId xmlns:p14="http://schemas.microsoft.com/office/powerpoint/2010/main" val="1165161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E48BD3D-798F-44A9-B37D-C8526D485F61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1: predict the output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ABE2E-49D0-4386-AD16-4CEF6EF6D214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Text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AD2681-8EFF-4F2D-B8C8-9F13F0937D18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= "5"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 = "2"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print(a + b)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60C437-3FC4-4555-B58F-07D91D9F8EC8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Number values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438F7E-812A-4693-9D5B-3C4CE2BBB1C1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=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print(a + b)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056AE0-94C6-4597-ADE3-729D12182C09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both results, then run the two examples separately.</a:t>
            </a:r>
          </a:p>
        </p:txBody>
      </p:sp>
    </p:spTree>
    <p:extLst>
      <p:ext uri="{BB962C8B-B14F-4D97-AF65-F5344CB8AC3E}">
        <p14:creationId xmlns:p14="http://schemas.microsoft.com/office/powerpoint/2010/main" val="174533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1F11C4-7C4B-4ECB-B3DD-3D56B03E68DE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1: answers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AEB9A2-D0DA-44EA-8A50-1466880B9DFB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Strings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379EC4-13A5-4DBB-9BD0-0B8A4A970DB9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"5" + "2" produces "52".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print() displays: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D31B7F-BBCE-49FA-B7DA-A55F5710EE68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Numbers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8D37C-4C0A-4EB1-B3C1-8C2C53957C4E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 + 2 produces 7.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print() displays: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9CCD2-E3A0-4904-B869-A29F017AD7C8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data type affects what the operator does.</a:t>
            </a:r>
          </a:p>
        </p:txBody>
      </p:sp>
    </p:spTree>
    <p:extLst>
      <p:ext uri="{BB962C8B-B14F-4D97-AF65-F5344CB8AC3E}">
        <p14:creationId xmlns:p14="http://schemas.microsoft.com/office/powerpoint/2010/main" val="3294112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7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4. Arithmetic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914400" cy="45720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Operator  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Meaning               Example     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8142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3466" y="196814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75071" y="1968142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7 + 3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6234" y="1968142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71062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3466" y="247106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071" y="2471062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7 - 3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6234" y="2471062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3982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3466" y="297398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multiplication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071" y="2973982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7 *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6234" y="2973982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6901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3466" y="3476901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071" y="3476901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7 /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234" y="3476901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9821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3466" y="3979821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floor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071" y="3979821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7 //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6234" y="3979821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2741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3466" y="4482741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remainder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071" y="4482741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7 %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6234" y="4482741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5661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3466" y="4985661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5071" y="4985661"/>
            <a:ext cx="1828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 **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6234" y="4985661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2983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7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326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Comparison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914400" cy="45720"/>
          </a:xfrm>
          <a:prstGeom prst="rect">
            <a:avLst/>
          </a:prstGeom>
          <a:solidFill>
            <a:srgbClr val="FFC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1732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1732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5 ==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!=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39112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 equal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39112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5 !=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039112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60904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greater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60904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8 &gt;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60904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82696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82696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82696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8 &lt;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82696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04488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&gt;=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04488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greater/equal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04488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5 &gt;=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904488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26280"/>
            <a:ext cx="731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2628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less/equal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2628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4 &lt;=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26280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EFB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03520"/>
            <a:ext cx="8595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C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assigns;  == compares.</a:t>
            </a:r>
          </a:p>
        </p:txBody>
      </p:sp>
    </p:spTree>
    <p:extLst>
      <p:ext uri="{BB962C8B-B14F-4D97-AF65-F5344CB8AC3E}">
        <p14:creationId xmlns:p14="http://schemas.microsoft.com/office/powerpoint/2010/main" val="104778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E87C68-74CD-4ACD-B248-79C0292288D5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Order of operations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7FF8D-ED63-40B1-9528-1EBE8DCFAB94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Multiplication first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368543-6E66-4751-B725-48AB68BE6164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+ 3 *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= 2 + 12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= 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B485A5-4B2B-476F-95FD-CC5CE370FFE7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Parentheses first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91B27-5935-43EE-8C2B-77DB178A6444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(2 + 3) *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= 5 *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= 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7B9FF-C973-4784-8EF9-DF85C5976504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parentheses to make your intended calculation clear.</a:t>
            </a:r>
          </a:p>
        </p:txBody>
      </p:sp>
    </p:spTree>
    <p:extLst>
      <p:ext uri="{BB962C8B-B14F-4D97-AF65-F5344CB8AC3E}">
        <p14:creationId xmlns:p14="http://schemas.microsoft.com/office/powerpoint/2010/main" val="277597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DC53E1-EAC9-4C9C-AC52-2693444E2767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2: predict, then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791DF4-9D57-4C8F-A291-9223C7B5D19F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EACF8-6A64-4E9F-AAB5-6C8CC2B0CE8E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A. 10 + 4 *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B. (10 + 4) *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C. 19 //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29308-5E03-4658-925B-CCCB543A4D20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622AB7-3381-4AEF-8EA5-977DBC7A15FA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D. 19 %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E. 3 **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F. 9 /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CE69A-81D4-443D-BBD1-241973CBB979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your predictions before using the Python shell.</a:t>
            </a:r>
          </a:p>
        </p:txBody>
      </p:sp>
    </p:spTree>
    <p:extLst>
      <p:ext uri="{BB962C8B-B14F-4D97-AF65-F5344CB8AC3E}">
        <p14:creationId xmlns:p14="http://schemas.microsoft.com/office/powerpoint/2010/main" val="2788469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092216-7394-42E3-8868-1996D00B42B8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2: answers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438150" y="1981200"/>
          <a:ext cx="11087100" cy="3476627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66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 * 2 comes first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Parentheses come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Four complete groups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Three left 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 squared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Ordinary division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7FACC14-F57B-4D17-991B-04B99E2F3410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C and D: four complete groups, with three left over.</a:t>
            </a:r>
          </a:p>
        </p:txBody>
      </p:sp>
    </p:spTree>
    <p:extLst>
      <p:ext uri="{BB962C8B-B14F-4D97-AF65-F5344CB8AC3E}">
        <p14:creationId xmlns:p14="http://schemas.microsoft.com/office/powerpoint/2010/main" val="70770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6C55F-13A6-437C-B3CC-214B4A28F4A3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Assignment and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35031A-43FC-48CE-A06F-EF05BC3C4441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= assigns a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2A9AA7-6AB5-4BE9-8712-931633CE35BA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=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+=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now contains 12.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D9386-000C-451F-8AC6-DE0DCECA28F3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== compares values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B89422-D49B-4E1C-9F70-0343874B18B3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==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result is True.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score == 10 is False.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44CE2-2678-4E12-AB2E-4B9899B73F3C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numbers, score += 2 updates score to score + 2.</a:t>
            </a:r>
          </a:p>
        </p:txBody>
      </p:sp>
    </p:spTree>
    <p:extLst>
      <p:ext uri="{BB962C8B-B14F-4D97-AF65-F5344CB8AC3E}">
        <p14:creationId xmlns:p14="http://schemas.microsoft.com/office/powerpoint/2010/main" val="2964655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15AA89-9D8E-4918-B7B8-87F03F2381E8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Comparison operators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438150" y="1981200"/>
          <a:ext cx="11087100" cy="347662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Operator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result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==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Equal to?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 == 5 gives True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!=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Not equal to?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 != 5 gives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&lt; and &gt;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Less than / greater than?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 &lt; 7 gives True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&lt;= and &gt;=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Less / greater than or equal?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7 &gt;= 7 gives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28D58E8-36B6-45C3-A69F-239CA9138203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does 7 &gt; 7 produce?</a:t>
            </a:r>
          </a:p>
        </p:txBody>
      </p:sp>
    </p:spTree>
    <p:extLst>
      <p:ext uri="{BB962C8B-B14F-4D97-AF65-F5344CB8AC3E}">
        <p14:creationId xmlns:p14="http://schemas.microsoft.com/office/powerpoint/2010/main" val="2641402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15F399-DC68-473A-B0D2-744E818339E6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Logical operators combine conditions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D7C6AF-FC96-49C2-9999-FF212A7C6BFF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733425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age = 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has_ticket =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print(age &gt;= 18 and has_ticket)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print(age &lt; 18 or has_ticket)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print(not has_ticket)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727BD-1514-4EC9-A31C-9B9529CA358A}"/>
              </a:ext>
            </a:extLst>
          </p:cNvPr>
          <p:cNvSpPr>
            <a:spLocks noGrp="1"/>
          </p:cNvSpPr>
          <p:nvPr/>
        </p:nvSpPr>
        <p:spPr>
          <a:xfrm>
            <a:off x="7953375" y="2105025"/>
            <a:ext cx="3743325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and: both are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or: at least one is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not: reverses a Boolean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2FBE3C-D314-43CF-9C3F-E06127DF9309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the three results. Then change has_ticket to False.</a:t>
            </a:r>
          </a:p>
        </p:txBody>
      </p:sp>
    </p:spTree>
    <p:extLst>
      <p:ext uri="{BB962C8B-B14F-4D97-AF65-F5344CB8AC3E}">
        <p14:creationId xmlns:p14="http://schemas.microsoft.com/office/powerpoint/2010/main" val="2670455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AF527E-5800-480F-BC6A-BFC6F6DE0C3F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kinds of problem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438150" y="1981200"/>
          <a:ext cx="11087100" cy="314325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8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to check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Syntax error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print("Hi"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Missing bracket or quote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Runtime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An operation cannot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8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Logic error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length + width for an area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The code runs but uses the wrong calculation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3040D49-0FB5-427D-98F6-E6A19FF0DAFA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Read the error type and line number, then inspect that part of the code.</a:t>
            </a:r>
          </a:p>
        </p:txBody>
      </p:sp>
    </p:spTree>
    <p:extLst>
      <p:ext uri="{BB962C8B-B14F-4D97-AF65-F5344CB8AC3E}">
        <p14:creationId xmlns:p14="http://schemas.microsoft.com/office/powerpoint/2010/main" val="3855330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29A126-96AB-49BB-B3F3-E4E0F7328A27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3: fix the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37656E-FC03-4A4B-8535-E43402964A38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733425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age = input("Age: 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next_age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= age + 1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print("Next year:",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next_age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B820A8-630D-4D46-BB9A-C02A5456929B}"/>
              </a:ext>
            </a:extLst>
          </p:cNvPr>
          <p:cNvSpPr>
            <a:spLocks noGrp="1"/>
          </p:cNvSpPr>
          <p:nvPr/>
        </p:nvSpPr>
        <p:spPr>
          <a:xfrm>
            <a:off x="7953375" y="2105025"/>
            <a:ext cx="3743325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Expected </a:t>
            </a:r>
            <a:r>
              <a:rPr kumimoji="0" sz="2175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behaviour</a:t>
            </a: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Enter 18.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program should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display Next year: 19.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0FE3B2-0BA6-472F-81C2-B4409A939BD7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causes the error? Change one line and test again.</a:t>
            </a:r>
          </a:p>
        </p:txBody>
      </p:sp>
    </p:spTree>
    <p:extLst>
      <p:ext uri="{BB962C8B-B14F-4D97-AF65-F5344CB8AC3E}">
        <p14:creationId xmlns:p14="http://schemas.microsoft.com/office/powerpoint/2010/main" val="2523703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84CDA9-735C-462A-9EBF-81BA4787CA27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3: one corrected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92A39B-DFF0-4AC1-8875-CCA2433CD7E0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733425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age = int(input("Age: 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next_age = age + 1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print("Next year:", next_age)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39A6B-A57C-463F-9E7F-2D5CB8EB2DF4}"/>
              </a:ext>
            </a:extLst>
          </p:cNvPr>
          <p:cNvSpPr>
            <a:spLocks noGrp="1"/>
          </p:cNvSpPr>
          <p:nvPr/>
        </p:nvSpPr>
        <p:spPr>
          <a:xfrm>
            <a:off x="7953375" y="2105025"/>
            <a:ext cx="3743325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with 18: result 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with 20: result 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with 0: result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DF4BC6-E7F2-432F-BF86-DDC326A70A6A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happens if someone types eighteen instead of 18?</a:t>
            </a:r>
          </a:p>
        </p:txBody>
      </p:sp>
    </p:spTree>
    <p:extLst>
      <p:ext uri="{BB962C8B-B14F-4D97-AF65-F5344CB8AC3E}">
        <p14:creationId xmlns:p14="http://schemas.microsoft.com/office/powerpoint/2010/main" val="4069243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D1CAE9-49B2-44B1-AB7B-CCE70B0904CA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Mini task: a packing calculator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019916-1182-4B28-B693-DF1D2DBBC0FE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program should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2AD52B-5501-4FDD-BE15-680CC76936FE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Ask for a number of items.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boxes holding 6 items.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Display full boxes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and items left over.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4E1C8F-BC54-4C8C-B78A-79A78FE9E47D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cases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0D6A6-BF63-4E0C-AA85-ADCEA5ABF7B0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20 items: 3 boxes, 2 left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12 items: 2 boxes, 0 left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 items: 0 boxes, 5 left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2A13C-DEA6-4903-819C-6D9659730953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Save as packing.py. Use input(), int(), //, % and print().</a:t>
            </a:r>
          </a:p>
        </p:txBody>
      </p:sp>
    </p:spTree>
    <p:extLst>
      <p:ext uri="{BB962C8B-B14F-4D97-AF65-F5344CB8AC3E}">
        <p14:creationId xmlns:p14="http://schemas.microsoft.com/office/powerpoint/2010/main" val="7276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20072D-5FB1-4F6B-9596-F2DD4CEEC94A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Mini task: one possible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3F1BAF-137D-4D7E-A2FB-C300D0D1C5C7}"/>
              </a:ext>
            </a:extLst>
          </p:cNvPr>
          <p:cNvSpPr>
            <a:spLocks noGrp="1"/>
          </p:cNvSpPr>
          <p:nvPr/>
        </p:nvSpPr>
        <p:spPr>
          <a:xfrm>
            <a:off x="438150" y="2057400"/>
            <a:ext cx="733425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items = int(input("Items: 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BOX_SIZE = 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full_boxes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= items // BOX_SIZE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leftovers = items % BOX_SIZE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print("Full boxes:",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full_boxes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print("Left over:", leftovers)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48A830-9D7B-442F-A4C1-27B00E008BDF}"/>
              </a:ext>
            </a:extLst>
          </p:cNvPr>
          <p:cNvSpPr>
            <a:spLocks noGrp="1"/>
          </p:cNvSpPr>
          <p:nvPr/>
        </p:nvSpPr>
        <p:spPr>
          <a:xfrm>
            <a:off x="7953375" y="2105025"/>
            <a:ext cx="3743325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20, 12 and 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both 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against the expected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results.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00B06-78FF-479E-BE0E-9C2F97248FB6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BOX_SIZE is a constant by convention. Python can still reassign it.</a:t>
            </a:r>
          </a:p>
        </p:txBody>
      </p:sp>
    </p:spTree>
    <p:extLst>
      <p:ext uri="{BB962C8B-B14F-4D97-AF65-F5344CB8AC3E}">
        <p14:creationId xmlns:p14="http://schemas.microsoft.com/office/powerpoint/2010/main" val="1828809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F357D2-4ECD-4AC2-BFBC-7DB354DF4211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1E0DF8-AD49-42CB-B77E-2E752377EDC2}"/>
              </a:ext>
            </a:extLst>
          </p:cNvPr>
          <p:cNvSpPr>
            <a:spLocks noGrp="1"/>
          </p:cNvSpPr>
          <p:nvPr/>
        </p:nvSpPr>
        <p:spPr>
          <a:xfrm>
            <a:off x="438150" y="2085975"/>
            <a:ext cx="4857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12375D-B4AC-45AA-9F2E-3ACC2AFB59D7}"/>
              </a:ext>
            </a:extLst>
          </p:cNvPr>
          <p:cNvSpPr>
            <a:spLocks noGrp="1"/>
          </p:cNvSpPr>
          <p:nvPr/>
        </p:nvSpPr>
        <p:spPr>
          <a:xfrm>
            <a:off x="438150" y="2857500"/>
            <a:ext cx="500062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1. Where do you save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reusable program in IDLE?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How do = and == differ?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60362B-E685-489B-86FD-B0F352D1F1C7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A33E45-D944-461F-B870-C81F5B676CF3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5476875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3. What is 14 % 4?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4. What is (3 + 2) ** 2?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25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5. Why convert input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before adding numbers?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030A4F-9256-4700-9962-07FE520A9093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Answer without running code, then check your reasoning.</a:t>
            </a:r>
          </a:p>
        </p:txBody>
      </p:sp>
    </p:spTree>
    <p:extLst>
      <p:ext uri="{BB962C8B-B14F-4D97-AF65-F5344CB8AC3E}">
        <p14:creationId xmlns:p14="http://schemas.microsoft.com/office/powerpoint/2010/main" val="179288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698281-AE37-45A2-9AF5-BD4BF2AC413C}"/>
              </a:ext>
            </a:extLst>
          </p:cNvPr>
          <p:cNvSpPr>
            <a:spLocks noGrp="1"/>
          </p:cNvSpPr>
          <p:nvPr/>
        </p:nvSpPr>
        <p:spPr>
          <a:xfrm>
            <a:off x="438150" y="790575"/>
            <a:ext cx="11334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525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task: answers</a:t>
            </a:r>
          </a:p>
        </p:txBody>
      </p:sp>
      <p:graphicFrame>
        <p:nvGraphicFramePr>
          <p:cNvPr id="5" name="Table 4"/>
          <p:cNvGraphicFramePr/>
          <p:nvPr/>
        </p:nvGraphicFramePr>
        <p:xfrm>
          <a:off x="438150" y="1981200"/>
          <a:ext cx="11087100" cy="3476628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Answer</a:t>
                      </a:r>
                    </a:p>
                  </a:txBody>
                  <a:tcPr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Write in the editor and save a .py file.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= assigns a value. == tests equality.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14 % 4 is 2.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(3 + 2) ** 2 is 25.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input() returns text. Convert it for numeric arithmetic.</a:t>
                      </a:r>
                    </a:p>
                  </a:txBody>
                  <a:tcPr>
                    <a:solidFill>
                      <a:srgbClr val="E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1C1F15D-8234-455F-B99C-94DBF9184CE9}"/>
              </a:ext>
            </a:extLst>
          </p:cNvPr>
          <p:cNvSpPr>
            <a:spLocks noGrp="1"/>
          </p:cNvSpPr>
          <p:nvPr/>
        </p:nvSpPr>
        <p:spPr>
          <a:xfrm>
            <a:off x="438150" y="581977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7BA8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7B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Next: using conditions with if, then repeating work with loops.</a:t>
            </a:r>
          </a:p>
        </p:txBody>
      </p:sp>
    </p:spTree>
    <p:extLst>
      <p:ext uri="{BB962C8B-B14F-4D97-AF65-F5344CB8AC3E}">
        <p14:creationId xmlns:p14="http://schemas.microsoft.com/office/powerpoint/2010/main" val="2161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1490</Words>
  <Application>Microsoft Office PowerPoint</Application>
  <PresentationFormat>Widescreen</PresentationFormat>
  <Paragraphs>380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Arial</vt:lpstr>
      <vt:lpstr>Consolas</vt:lpstr>
      <vt:lpstr>2_Office Theme</vt:lpstr>
      <vt:lpstr>12_Office Theme</vt:lpstr>
      <vt:lpstr>3_Office Theme</vt:lpstr>
      <vt:lpstr>22_Office Theme</vt:lpstr>
      <vt:lpstr>21_Office Theme</vt:lpstr>
      <vt:lpstr>28_Office Theme</vt:lpstr>
      <vt:lpstr>11_Office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9</cp:revision>
  <dcterms:created xsi:type="dcterms:W3CDTF">2022-05-19T09:57:07Z</dcterms:created>
  <dcterms:modified xsi:type="dcterms:W3CDTF">2026-10-06T08:56:56Z</dcterms:modified>
</cp:coreProperties>
</file>