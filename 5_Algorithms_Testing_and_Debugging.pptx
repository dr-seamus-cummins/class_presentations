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28" r:id="rId4"/>
  </p:sldMasterIdLst>
  <p:notesMasterIdLst>
    <p:notesMasterId r:id="rId45"/>
  </p:notesMasterIdLst>
  <p:sldIdLst>
    <p:sldId id="29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0A33F2-641B-4FCF-BCBB-3330A6E720DC}" v="5" dt="2026-10-06T11:17:03.772"/>
    <p1510:client id="{694F9AD7-0636-43FC-942D-C6CC0BC73227}" v="5" dt="2026-10-06T08:17:04.885"/>
    <p1510:client id="{776DE093-7802-4C58-9B43-8EE7AFA8C006}" v="5" dt="2026-10-06T09:49:33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C69B4531-7F76-4897-B54E-AABC889E6EB9}"/>
    <pc:docChg chg="modSld">
      <pc:chgData name="Séamus Cummins" userId="9cbc4947-2644-4ffd-8985-8dfea9f9d8f2" providerId="ADAL" clId="{C69B4531-7F76-4897-B54E-AABC889E6EB9}" dt="2026-10-06T11:17:03.772" v="4"/>
      <pc:docMkLst>
        <pc:docMk/>
      </pc:docMkLst>
      <pc:sldChg chg="modAnim">
        <pc:chgData name="Séamus Cummins" userId="9cbc4947-2644-4ffd-8985-8dfea9f9d8f2" providerId="ADAL" clId="{C69B4531-7F76-4897-B54E-AABC889E6EB9}" dt="2026-10-06T10:44:45.462" v="0"/>
        <pc:sldMkLst>
          <pc:docMk/>
          <pc:sldMk cId="4200709924" sldId="269"/>
        </pc:sldMkLst>
      </pc:sldChg>
      <pc:sldChg chg="modAnim">
        <pc:chgData name="Séamus Cummins" userId="9cbc4947-2644-4ffd-8985-8dfea9f9d8f2" providerId="ADAL" clId="{C69B4531-7F76-4897-B54E-AABC889E6EB9}" dt="2026-10-06T11:17:03.772" v="4"/>
        <pc:sldMkLst>
          <pc:docMk/>
          <pc:sldMk cId="1049140427" sldId="273"/>
        </pc:sldMkLst>
      </pc:sldChg>
      <pc:sldChg chg="modAnim">
        <pc:chgData name="Séamus Cummins" userId="9cbc4947-2644-4ffd-8985-8dfea9f9d8f2" providerId="ADAL" clId="{C69B4531-7F76-4897-B54E-AABC889E6EB9}" dt="2026-10-06T11:08:58.742" v="1"/>
        <pc:sldMkLst>
          <pc:docMk/>
          <pc:sldMk cId="3296147769" sldId="285"/>
        </pc:sldMkLst>
      </pc:sldChg>
      <pc:sldChg chg="modAnim">
        <pc:chgData name="Séamus Cummins" userId="9cbc4947-2644-4ffd-8985-8dfea9f9d8f2" providerId="ADAL" clId="{C69B4531-7F76-4897-B54E-AABC889E6EB9}" dt="2026-10-06T11:09:47.237" v="3"/>
        <pc:sldMkLst>
          <pc:docMk/>
          <pc:sldMk cId="1649674184" sldId="286"/>
        </pc:sldMkLst>
      </pc:sldChg>
      <pc:sldChg chg="modAnim">
        <pc:chgData name="Séamus Cummins" userId="9cbc4947-2644-4ffd-8985-8dfea9f9d8f2" providerId="ADAL" clId="{C69B4531-7F76-4897-B54E-AABC889E6EB9}" dt="2026-10-06T11:09:22.795" v="2"/>
        <pc:sldMkLst>
          <pc:docMk/>
          <pc:sldMk cId="2904343042" sldId="287"/>
        </pc:sldMkLst>
      </pc:sldChg>
    </pc:docChg>
  </pc:docChgLst>
  <pc:docChgLst>
    <pc:chgData name="Séamus Cummins" userId="9cbc4947-2644-4ffd-8985-8dfea9f9d8f2" providerId="ADAL" clId="{52D3679E-C8EB-4FED-9467-7F6E2156AACE}"/>
    <pc:docChg chg="delSld modSld">
      <pc:chgData name="Séamus Cummins" userId="9cbc4947-2644-4ffd-8985-8dfea9f9d8f2" providerId="ADAL" clId="{52D3679E-C8EB-4FED-9467-7F6E2156AACE}" dt="2026-10-06T15:03:04.686" v="5" actId="2696"/>
      <pc:docMkLst>
        <pc:docMk/>
      </pc:docMkLst>
      <pc:sldChg chg="modAnim">
        <pc:chgData name="Séamus Cummins" userId="9cbc4947-2644-4ffd-8985-8dfea9f9d8f2" providerId="ADAL" clId="{52D3679E-C8EB-4FED-9467-7F6E2156AACE}" dt="2026-10-06T09:49:33.921" v="4"/>
        <pc:sldMkLst>
          <pc:docMk/>
          <pc:sldMk cId="1384654480" sldId="295"/>
        </pc:sldMkLst>
      </pc:sldChg>
      <pc:sldChg chg="del">
        <pc:chgData name="Séamus Cummins" userId="9cbc4947-2644-4ffd-8985-8dfea9f9d8f2" providerId="ADAL" clId="{52D3679E-C8EB-4FED-9467-7F6E2156AACE}" dt="2026-10-06T15:03:04.686" v="5" actId="2696"/>
        <pc:sldMkLst>
          <pc:docMk/>
          <pc:sldMk cId="3271114829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06/10/2026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78939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901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632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8237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22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579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65852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849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407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42886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7345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27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28266-E523-4698-81D5-EC76309FBE61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0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66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Algorithms Testing and Debugging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8C8973-8A90-43C9-A71E-A4D7D6B32EE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lesson</a:t>
            </a:r>
            <a:r>
              <a:rPr kumimoji="0" lang="en-US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outline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8667750" cy="3476625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you will do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Algorithms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Read pseudocode and flowcharts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Tracing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Trace values and solve a short task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Testing and debugging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Find faults and choose useful tests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Practice and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Correct code and check the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157863-DB1A-47BF-BA69-6DF2D4555A6F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All explanations, task instructions and answers are on the slides.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1489A3-66C6-4833-9A77-E55EC00B4B4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is an algorithm?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EA86F-521C-4CDC-84A9-7BA9F4A18668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20417-7763-4832-85B9-F3629FF32378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clear sequence of steps that solves a problem.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F2D66-B942-4C5E-8DBB-D0B560012F62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82686-BC41-449F-9248-5B153C39BEF5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two numbers, compare them, then display the larger.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BB943-C34A-449D-958C-C2ADD389E57E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good algorithm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D65765-B83A-4C71-B03C-3CF09218512C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Uses precise steps, covers the required cases and finishes.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D3C71-8534-4657-B94C-AC01EA4D298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Correctness means the right result. Efficiency concerns time and memory.</a:t>
            </a:r>
          </a:p>
        </p:txBody>
      </p:sp>
    </p:spTree>
    <p:extLst>
      <p:ext uri="{BB962C8B-B14F-4D97-AF65-F5344CB8AC3E}">
        <p14:creationId xmlns:p14="http://schemas.microsoft.com/office/powerpoint/2010/main" val="3070662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603785-1E07-4069-9C98-C196EF2331B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Input, process and output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Rectangle area 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Length = 8 m, width = 3 m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Process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Multiply length by width: 8 ×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Area = 24 m²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Assumptions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Measurements use the same unit and are nonnegative.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B947A1D-2C46-491F-A618-B3401C06FE5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Decide what the correct result should be before writing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287811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7A031A-F766-4445-8B1B-75359440159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Pseudocode: steps without Python syntax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37921-886D-4DE8-8223-5CF1DE92E3B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D8408-87AE-49A6-BA1D-AEA5CCCFAB78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INPUT length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INPUT width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area = length * width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OUTPUT 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83859F-FB63-4730-8981-0136A843F39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A771C-5FF9-4D02-84E9-BD8E0CC5CCBB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readable plan for an algorithm. It does not run in Python.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2986BE-6EC7-4DDE-9A5B-7426288A0BC6}"/>
              </a:ext>
            </a:extLst>
          </p:cNvPr>
          <p:cNvSpPr>
            <a:spLocks noGrp="1"/>
          </p:cNvSpPr>
          <p:nvPr/>
        </p:nvSpPr>
        <p:spPr>
          <a:xfrm>
            <a:off x="7762875" y="35242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4C300-9FDA-4D0D-BBF1-1D453B3EE44D}"/>
              </a:ext>
            </a:extLst>
          </p:cNvPr>
          <p:cNvSpPr>
            <a:spLocks noGrp="1"/>
          </p:cNvSpPr>
          <p:nvPr/>
        </p:nvSpPr>
        <p:spPr>
          <a:xfrm>
            <a:off x="7762875" y="393382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calculation follows the two inputs because it needs both values.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42B9C-A9BA-4160-A1C9-0A3C4980EBF2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means read a value. OUTPUT means display a result.</a:t>
            </a:r>
          </a:p>
        </p:txBody>
      </p:sp>
    </p:spTree>
    <p:extLst>
      <p:ext uri="{BB962C8B-B14F-4D97-AF65-F5344CB8AC3E}">
        <p14:creationId xmlns:p14="http://schemas.microsoft.com/office/powerpoint/2010/main" val="106724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27AB57-C35B-4D59-A543-DC234DE0366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same sequence in Python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659C27-7D82-4ED1-AFBC-B782DEC89DD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84484-F3FB-409D-BEC5-88CCD1668D6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float(input("Length: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width = float(input("Width: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area = length * width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print(area)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31AD3-2012-4660-AC2F-4A0849C672C7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Sample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90E49-482F-4D7E-9304-69AFC1CDFA48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Length: 8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Width: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CB592-0E8E-4204-B362-EE2A2043A7D7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C3C48-5316-4C6C-BE30-7A9A49131FEA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24.0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8E958-EF3C-4F6A-AF6A-A17FBC11F5C5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float?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8423F-5A71-4C15-8F81-3CA5D43FDD8B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input() returns text. float() converts suitable text to a number.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7F39B-24D0-4427-9D13-50C4BF840473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This example assumes valid, nonnegative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32888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B2AD05-7410-4A16-A31E-28D614A7B09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ways to control execution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4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Sequence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Run steps in order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Read length, then width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Choose a route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If score ≥ 50, display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Iteration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Repeat steps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Add each number from 1 to 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9CCB816-DD95-4394-8ACE-962766466D15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 flow means the order in which instructions run.</a:t>
            </a:r>
          </a:p>
        </p:txBody>
      </p:sp>
    </p:spTree>
    <p:extLst>
      <p:ext uri="{BB962C8B-B14F-4D97-AF65-F5344CB8AC3E}">
        <p14:creationId xmlns:p14="http://schemas.microsoft.com/office/powerpoint/2010/main" val="2575207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/>
          <p:cNvCxnSpPr>
            <a:stCxn id="11" idx="3"/>
            <a:endCxn id="12" idx="1"/>
          </p:cNvCxnSpPr>
          <p:nvPr/>
        </p:nvCxnSpPr>
        <p:spPr>
          <a:xfrm>
            <a:off x="676275" y="4205288"/>
            <a:ext cx="2181225" cy="0"/>
          </a:xfrm>
          <a:prstGeom prst="straightConnector1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FD926-7CB1-4ED6-BB8A-F86B6CCCAB0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Flowchart symbols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F085AC-0E38-4606-833B-6A3A3FEF257B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2305050" cy="466725"/>
          </a:xfrm>
          <a:prstGeom prst="roundRect">
            <a:avLst>
              <a:gd name="adj" fmla="val 16327"/>
            </a:avLst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Start /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799AC-A181-4018-9D61-A58C48E3CA98}"/>
              </a:ext>
            </a:extLst>
          </p:cNvPr>
          <p:cNvSpPr>
            <a:spLocks noGrp="1"/>
          </p:cNvSpPr>
          <p:nvPr/>
        </p:nvSpPr>
        <p:spPr>
          <a:xfrm>
            <a:off x="3343275" y="155257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Terminator: where the algorithm starts or stops.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588E7BD-46D6-4D53-83D7-24A1E3074BF3}"/>
              </a:ext>
            </a:extLst>
          </p:cNvPr>
          <p:cNvSpPr>
            <a:spLocks noGrp="1"/>
          </p:cNvSpPr>
          <p:nvPr/>
        </p:nvSpPr>
        <p:spPr>
          <a:xfrm>
            <a:off x="628650" y="2085975"/>
            <a:ext cx="2305050" cy="466725"/>
          </a:xfrm>
          <a:prstGeom prst="parallelogram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B8F907-EF3D-42EC-8635-449384F02333}"/>
              </a:ext>
            </a:extLst>
          </p:cNvPr>
          <p:cNvSpPr>
            <a:spLocks noGrp="1"/>
          </p:cNvSpPr>
          <p:nvPr/>
        </p:nvSpPr>
        <p:spPr>
          <a:xfrm>
            <a:off x="3343275" y="218122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Input/output: read or display a value.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5DE0D-103F-41F6-8AE9-6A3198D035CD}"/>
              </a:ext>
            </a:extLst>
          </p:cNvPr>
          <p:cNvSpPr>
            <a:spLocks noGrp="1"/>
          </p:cNvSpPr>
          <p:nvPr/>
        </p:nvSpPr>
        <p:spPr>
          <a:xfrm>
            <a:off x="628650" y="2714625"/>
            <a:ext cx="2305050" cy="466725"/>
          </a:xfrm>
          <a:prstGeom prst="rect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total = a +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31177-FD9C-46D9-AE24-96831D335BEC}"/>
              </a:ext>
            </a:extLst>
          </p:cNvPr>
          <p:cNvSpPr>
            <a:spLocks noGrp="1"/>
          </p:cNvSpPr>
          <p:nvPr/>
        </p:nvSpPr>
        <p:spPr>
          <a:xfrm>
            <a:off x="3343275" y="280987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Process: calculate or assign a value.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070FACB0-5594-4AA8-8EF5-58BD24993A93}"/>
              </a:ext>
            </a:extLst>
          </p:cNvPr>
          <p:cNvSpPr>
            <a:spLocks noGrp="1"/>
          </p:cNvSpPr>
          <p:nvPr/>
        </p:nvSpPr>
        <p:spPr>
          <a:xfrm>
            <a:off x="628650" y="3343275"/>
            <a:ext cx="2305050" cy="466725"/>
          </a:xfrm>
          <a:prstGeom prst="diamond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&gt;= b?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A9627-FA84-4FE1-9006-5E3E0A737E6B}"/>
              </a:ext>
            </a:extLst>
          </p:cNvPr>
          <p:cNvSpPr>
            <a:spLocks noGrp="1"/>
          </p:cNvSpPr>
          <p:nvPr/>
        </p:nvSpPr>
        <p:spPr>
          <a:xfrm>
            <a:off x="3343275" y="343852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Decision: choose a route using a condition.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F7F5C6-531A-4354-98DB-1D8DE8294575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329B5-0B6F-471B-B881-F4CE11FE4E37}"/>
              </a:ext>
            </a:extLst>
          </p:cNvPr>
          <p:cNvSpPr>
            <a:spLocks noGrp="1"/>
          </p:cNvSpPr>
          <p:nvPr/>
        </p:nvSpPr>
        <p:spPr>
          <a:xfrm>
            <a:off x="2857500" y="42005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E1CC1-67CD-48E0-86CE-B8B23468FFF2}"/>
              </a:ext>
            </a:extLst>
          </p:cNvPr>
          <p:cNvSpPr>
            <a:spLocks noGrp="1"/>
          </p:cNvSpPr>
          <p:nvPr/>
        </p:nvSpPr>
        <p:spPr>
          <a:xfrm>
            <a:off x="3343275" y="406717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Flow line: direction of the next step.</a:t>
            </a:r>
          </a:p>
        </p:txBody>
      </p:sp>
      <p:sp>
        <p:nvSpPr>
          <p:cNvPr id="15" name="Flowchart: Predefined Process 14">
            <a:extLst>
              <a:ext uri="{FF2B5EF4-FFF2-40B4-BE49-F238E27FC236}">
                <a16:creationId xmlns:a16="http://schemas.microsoft.com/office/drawing/2014/main" id="{E2483994-F5AA-485A-97FF-266139B6AC80}"/>
              </a:ext>
            </a:extLst>
          </p:cNvPr>
          <p:cNvSpPr>
            <a:spLocks noGrp="1"/>
          </p:cNvSpPr>
          <p:nvPr/>
        </p:nvSpPr>
        <p:spPr>
          <a:xfrm>
            <a:off x="628650" y="4600575"/>
            <a:ext cx="2305050" cy="466725"/>
          </a:xfrm>
          <a:prstGeom prst="flowChartPredefinedProcess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5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ticket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D5D19-7854-4B54-B969-6F6563364B1C}"/>
              </a:ext>
            </a:extLst>
          </p:cNvPr>
          <p:cNvSpPr>
            <a:spLocks noGrp="1"/>
          </p:cNvSpPr>
          <p:nvPr/>
        </p:nvSpPr>
        <p:spPr>
          <a:xfrm>
            <a:off x="3343275" y="4695825"/>
            <a:ext cx="81629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Predefined process: call a named subroutine.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35A649-65C1-4CBE-99CC-C343BAE179B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Label each decision branch Yes/No or True/False. Follow the arrows.</a:t>
            </a:r>
          </a:p>
        </p:txBody>
      </p:sp>
    </p:spTree>
    <p:extLst>
      <p:ext uri="{BB962C8B-B14F-4D97-AF65-F5344CB8AC3E}">
        <p14:creationId xmlns:p14="http://schemas.microsoft.com/office/powerpoint/2010/main" val="313644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/>
          <p:cNvCxnSpPr>
            <a:stCxn id="8" idx="4"/>
            <a:endCxn id="9" idx="0"/>
          </p:cNvCxnSpPr>
          <p:nvPr/>
        </p:nvCxnSpPr>
        <p:spPr>
          <a:xfrm>
            <a:off x="3143250" y="5248275"/>
            <a:ext cx="0" cy="285750"/>
          </a:xfrm>
          <a:prstGeom prst="straightConnector1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26" name="Connector: Elbow 25"/>
          <p:cNvCxnSpPr>
            <a:stCxn id="7" idx="2"/>
            <a:endCxn id="8" idx="2"/>
          </p:cNvCxnSpPr>
          <p:nvPr/>
        </p:nvCxnSpPr>
        <p:spPr>
          <a:xfrm rot="5400000">
            <a:off x="4540861" y="4350361"/>
            <a:ext cx="595678" cy="742950"/>
          </a:xfrm>
          <a:prstGeom prst="bentConnector2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27" name="Connector: Elbow 26"/>
          <p:cNvCxnSpPr>
            <a:stCxn id="6" idx="2"/>
            <a:endCxn id="8" idx="5"/>
          </p:cNvCxnSpPr>
          <p:nvPr/>
        </p:nvCxnSpPr>
        <p:spPr>
          <a:xfrm rot="16200000" flipH="1">
            <a:off x="1320678" y="4521078"/>
            <a:ext cx="616194" cy="381000"/>
          </a:xfrm>
          <a:prstGeom prst="bentConnector2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28" name="Connector: Elbow 27"/>
          <p:cNvCxnSpPr>
            <a:stCxn id="5" idx="3"/>
            <a:endCxn id="7" idx="0"/>
          </p:cNvCxnSpPr>
          <p:nvPr/>
        </p:nvCxnSpPr>
        <p:spPr>
          <a:xfrm>
            <a:off x="4095750" y="3219450"/>
            <a:ext cx="1114425" cy="747347"/>
          </a:xfrm>
          <a:prstGeom prst="bentConnector2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29" name="Connector: Elbow 28"/>
          <p:cNvCxnSpPr>
            <a:stCxn id="5" idx="1"/>
            <a:endCxn id="6" idx="0"/>
          </p:cNvCxnSpPr>
          <p:nvPr/>
        </p:nvCxnSpPr>
        <p:spPr>
          <a:xfrm rot="10800000" flipV="1">
            <a:off x="1438276" y="3219449"/>
            <a:ext cx="752475" cy="726831"/>
          </a:xfrm>
          <a:prstGeom prst="bentConnector2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30" name="Straight Arrow Connector 29"/>
          <p:cNvCxnSpPr>
            <a:stCxn id="4" idx="4"/>
            <a:endCxn id="5" idx="0"/>
          </p:cNvCxnSpPr>
          <p:nvPr/>
        </p:nvCxnSpPr>
        <p:spPr>
          <a:xfrm>
            <a:off x="3143250" y="2505075"/>
            <a:ext cx="0" cy="342900"/>
          </a:xfrm>
          <a:prstGeom prst="straightConnector1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cxnSp>
        <p:nvCxnSpPr>
          <p:cNvPr id="31" name="Straight Arrow Connector 30"/>
          <p:cNvCxnSpPr>
            <a:stCxn id="3" idx="2"/>
            <a:endCxn id="4" idx="0"/>
          </p:cNvCxnSpPr>
          <p:nvPr/>
        </p:nvCxnSpPr>
        <p:spPr>
          <a:xfrm>
            <a:off x="3143250" y="1771650"/>
            <a:ext cx="0" cy="276225"/>
          </a:xfrm>
          <a:prstGeom prst="straightConnector1">
            <a:avLst/>
          </a:prstGeom>
          <a:ln w="19050">
            <a:solidFill>
              <a:srgbClr val="006D94"/>
            </a:solidFill>
            <a:tailEnd type="triangle" w="sm" len="sm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F754D5A-777A-4A55-92DA-C4E846A8530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flowchart for the larger number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0B4B7C-4055-4248-B87B-44B0FAAA3104}"/>
              </a:ext>
            </a:extLst>
          </p:cNvPr>
          <p:cNvSpPr>
            <a:spLocks noGrp="1"/>
          </p:cNvSpPr>
          <p:nvPr/>
        </p:nvSpPr>
        <p:spPr>
          <a:xfrm>
            <a:off x="2381250" y="139065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F387B58D-01ED-4BDA-BB62-C0D6A32CD981}"/>
              </a:ext>
            </a:extLst>
          </p:cNvPr>
          <p:cNvSpPr>
            <a:spLocks noGrp="1"/>
          </p:cNvSpPr>
          <p:nvPr/>
        </p:nvSpPr>
        <p:spPr>
          <a:xfrm>
            <a:off x="1952625" y="2047875"/>
            <a:ext cx="2381250" cy="457200"/>
          </a:xfrm>
          <a:prstGeom prst="parallelogram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a, 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40E496A6-0C28-43D4-B984-A20B88871613}"/>
              </a:ext>
            </a:extLst>
          </p:cNvPr>
          <p:cNvSpPr>
            <a:spLocks noGrp="1"/>
          </p:cNvSpPr>
          <p:nvPr/>
        </p:nvSpPr>
        <p:spPr>
          <a:xfrm>
            <a:off x="2190750" y="2847975"/>
            <a:ext cx="1905000" cy="742950"/>
          </a:xfrm>
          <a:prstGeom prst="diamond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&gt;= b?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0DA29-3D73-4195-9172-7D9137FB9FBF}"/>
              </a:ext>
            </a:extLst>
          </p:cNvPr>
          <p:cNvSpPr>
            <a:spLocks noGrp="1"/>
          </p:cNvSpPr>
          <p:nvPr/>
        </p:nvSpPr>
        <p:spPr>
          <a:xfrm>
            <a:off x="438150" y="3946281"/>
            <a:ext cx="2000250" cy="457200"/>
          </a:xfrm>
          <a:prstGeom prst="rect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largest =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3798D-BFDE-401D-A76E-258E36AAC780}"/>
              </a:ext>
            </a:extLst>
          </p:cNvPr>
          <p:cNvSpPr>
            <a:spLocks noGrp="1"/>
          </p:cNvSpPr>
          <p:nvPr/>
        </p:nvSpPr>
        <p:spPr>
          <a:xfrm>
            <a:off x="4210050" y="3966797"/>
            <a:ext cx="2000250" cy="457200"/>
          </a:xfrm>
          <a:prstGeom prst="rect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largest = b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6369352-C1AB-4881-9AE9-DFE0A207568E}"/>
              </a:ext>
            </a:extLst>
          </p:cNvPr>
          <p:cNvSpPr>
            <a:spLocks noGrp="1"/>
          </p:cNvSpPr>
          <p:nvPr/>
        </p:nvSpPr>
        <p:spPr>
          <a:xfrm>
            <a:off x="1762125" y="4791075"/>
            <a:ext cx="2762250" cy="457200"/>
          </a:xfrm>
          <a:prstGeom prst="parallelogram">
            <a:avLst/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 largest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985C80-B093-447F-A29F-E44FB027CBBD}"/>
              </a:ext>
            </a:extLst>
          </p:cNvPr>
          <p:cNvSpPr>
            <a:spLocks noGrp="1"/>
          </p:cNvSpPr>
          <p:nvPr/>
        </p:nvSpPr>
        <p:spPr>
          <a:xfrm>
            <a:off x="2381250" y="5534025"/>
            <a:ext cx="1524000" cy="333375"/>
          </a:xfrm>
          <a:prstGeom prst="roundRect">
            <a:avLst>
              <a:gd name="adj" fmla="val 22857"/>
            </a:avLst>
          </a:prstGeom>
          <a:solidFill>
            <a:srgbClr val="F0F5F7"/>
          </a:solidFill>
          <a:ln w="19050">
            <a:solidFill>
              <a:srgbClr val="006D94"/>
            </a:solidFill>
          </a:ln>
        </p:spPr>
        <p:txBody>
          <a:bodyPr lIns="47625" tIns="0" rIns="47625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18A43-0618-4D45-A89F-B69A441D1B74}"/>
              </a:ext>
            </a:extLst>
          </p:cNvPr>
          <p:cNvSpPr>
            <a:spLocks noGrp="1"/>
          </p:cNvSpPr>
          <p:nvPr/>
        </p:nvSpPr>
        <p:spPr>
          <a:xfrm>
            <a:off x="1704975" y="29337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178E3-9D75-4754-89C5-F80CD31A4CA1}"/>
              </a:ext>
            </a:extLst>
          </p:cNvPr>
          <p:cNvSpPr>
            <a:spLocks noGrp="1"/>
          </p:cNvSpPr>
          <p:nvPr/>
        </p:nvSpPr>
        <p:spPr>
          <a:xfrm>
            <a:off x="4719271" y="2930037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70640A-2F2D-459A-99E2-8597C4F1735B}"/>
              </a:ext>
            </a:extLst>
          </p:cNvPr>
          <p:cNvSpPr>
            <a:spLocks noGrp="1"/>
          </p:cNvSpPr>
          <p:nvPr/>
        </p:nvSpPr>
        <p:spPr>
          <a:xfrm>
            <a:off x="7362825" y="1752600"/>
            <a:ext cx="41624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One route per input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3F1357-3B44-4AFA-BCC3-DB59E532E2EF}"/>
              </a:ext>
            </a:extLst>
          </p:cNvPr>
          <p:cNvSpPr>
            <a:spLocks noGrp="1"/>
          </p:cNvSpPr>
          <p:nvPr/>
        </p:nvSpPr>
        <p:spPr>
          <a:xfrm>
            <a:off x="7362825" y="2162175"/>
            <a:ext cx="4162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a = 8 and b = 3, follow Yes.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DC5425-7054-4AB9-9A22-A680A7A8AF1D}"/>
              </a:ext>
            </a:extLst>
          </p:cNvPr>
          <p:cNvSpPr>
            <a:spLocks noGrp="1"/>
          </p:cNvSpPr>
          <p:nvPr/>
        </p:nvSpPr>
        <p:spPr>
          <a:xfrm>
            <a:off x="7362825" y="3009900"/>
            <a:ext cx="41624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other route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BDE8FF-DCEE-4EC4-A183-C5F6F56EC05E}"/>
              </a:ext>
            </a:extLst>
          </p:cNvPr>
          <p:cNvSpPr>
            <a:spLocks noGrp="1"/>
          </p:cNvSpPr>
          <p:nvPr/>
        </p:nvSpPr>
        <p:spPr>
          <a:xfrm>
            <a:off x="7362825" y="3419475"/>
            <a:ext cx="4162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a = 2 and b = 9, follow No.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529E0-B9F8-493C-8E2E-702FF0A240A8}"/>
              </a:ext>
            </a:extLst>
          </p:cNvPr>
          <p:cNvSpPr>
            <a:spLocks noGrp="1"/>
          </p:cNvSpPr>
          <p:nvPr/>
        </p:nvSpPr>
        <p:spPr>
          <a:xfrm>
            <a:off x="7362825" y="4267200"/>
            <a:ext cx="41624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Equality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A24AE-BE9D-4970-9C51-B84E6BCACE8B}"/>
              </a:ext>
            </a:extLst>
          </p:cNvPr>
          <p:cNvSpPr>
            <a:spLocks noGrp="1"/>
          </p:cNvSpPr>
          <p:nvPr/>
        </p:nvSpPr>
        <p:spPr>
          <a:xfrm>
            <a:off x="7362825" y="4676775"/>
            <a:ext cx="4162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a = 5 and b = 5, follow Yes. The output is still 5.</a:t>
            </a:r>
          </a:p>
        </p:txBody>
      </p:sp>
    </p:spTree>
    <p:extLst>
      <p:ext uri="{BB962C8B-B14F-4D97-AF65-F5344CB8AC3E}">
        <p14:creationId xmlns:p14="http://schemas.microsoft.com/office/powerpoint/2010/main" val="83298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7E4C5E2-0806-4698-A820-68358E84902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Pseudocode: choosing a branch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7BD6C9-4677-4D41-9D1E-96CFE457F61F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AE35E-C314-419C-ADC3-7C60C71CFE8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INPUT 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INPUT 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a &gt;= b THEN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largest = 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largest = 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ENDIF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OUTPUT largest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28C86-FDCC-418B-B165-97AFAC1B05A4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2CC9D6-BC96-43B2-B41F-0B2DAE152EAF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&gt;= b means a is greater than or equal to 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C8C90-B921-4908-AF57-BAABAB487871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possible paths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2A48ED-0F39-416D-885E-0FD7338109C3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True selects a. False selects b.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4370D-2A68-40B9-A4AB-D28632566112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 the decision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A7BE8-DC6B-4DBC-8BDF-E8A99C5FA1F9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paths reach OUTPUT largest.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5FA7DA-3A40-41B5-B726-B27A9F316BD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ENDIF closes the selection in this pseudocode notation.</a:t>
            </a:r>
          </a:p>
        </p:txBody>
      </p:sp>
    </p:spTree>
    <p:extLst>
      <p:ext uri="{BB962C8B-B14F-4D97-AF65-F5344CB8AC3E}">
        <p14:creationId xmlns:p14="http://schemas.microsoft.com/office/powerpoint/2010/main" val="3621865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5676A6B-80D7-4009-8422-DCE36D84540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same selection in Python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B195B-ECB9-49AD-8235-2F6BF5A2834F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0F0353-C7A1-4518-9675-44A54516C70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 = 8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a &gt;= b: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largest = 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largest = b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print(largest)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26BBB-FF93-4744-A628-E825F218D909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95F71-0352-4BE4-87CC-90218B9B9564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a colon after if and else. Indent the statements in each branch.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E91A5-BC32-461F-9067-7BEFCAE1D647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858AD-3B90-4EF1-9730-452289D4386E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3A178-1B74-46C5-9C8F-E54179148061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ENDIF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F181C6-0845-48C6-8117-FC2066E385D2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Returning to the earlier indentation ends the block.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C74B4-74BD-4A53-BB14-575F151B89E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Only one branch runs. The final print runs after either branch.</a:t>
            </a:r>
          </a:p>
        </p:txBody>
      </p:sp>
    </p:spTree>
    <p:extLst>
      <p:ext uri="{BB962C8B-B14F-4D97-AF65-F5344CB8AC3E}">
        <p14:creationId xmlns:p14="http://schemas.microsoft.com/office/powerpoint/2010/main" val="369113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CF49EE-B5DA-4FCB-B9BF-BA2803A232B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each decision route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4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&gt;= b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Assignment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= 8, b = 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largest = a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= 2, b =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largest =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= 5, b = 5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largest = a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B4DE2DD-6268-4301-B599-E72E0946B865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dry run follows the algorithm on paper using a chosen input.</a:t>
            </a:r>
          </a:p>
        </p:txBody>
      </p:sp>
    </p:spTree>
    <p:extLst>
      <p:ext uri="{BB962C8B-B14F-4D97-AF65-F5344CB8AC3E}">
        <p14:creationId xmlns:p14="http://schemas.microsoft.com/office/powerpoint/2010/main" val="128571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C60836-31B9-4E3E-BBEA-D38D482B51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does the No branch include?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35B10-40E0-4B84-A599-60D7DC1261F5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Decision: x &gt; 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2C1668-7F35-4749-90C3-D1F335685D3E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Yes includes positive values such as 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85B0A-BAE1-41F1-B3F7-0E8C27C3CDE9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includes two cases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BFCAB-EA44-4AF8-B31B-C2C92B231C5D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Zero and negative values both make x &gt; 0 False.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5C4C6-BC4F-4751-B08B-922E791013BC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required outputs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63587B-74A0-4033-B9E9-3D8FE8D4917C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distinguish Positive, Zero and Negative, add another test.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AE8B26-D8D9-4F65-B3B5-32DEDABEDBE5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False means the condition failed. It does not automatically mean negative.</a:t>
            </a:r>
          </a:p>
        </p:txBody>
      </p:sp>
    </p:spTree>
    <p:extLst>
      <p:ext uri="{BB962C8B-B14F-4D97-AF65-F5344CB8AC3E}">
        <p14:creationId xmlns:p14="http://schemas.microsoft.com/office/powerpoint/2010/main" val="227991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E02BFF-F5D1-442E-A423-DBA8FF30B18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Iteration in pseudocode and Python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B81D8A-EFF8-47D1-A178-453AFE2398E2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PSEUDOCODE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A77F62-EE54-443A-B5A9-6F171C5B36DD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4519A-D5B8-443E-97D1-B5B2C4CB559A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53149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number = 1 TO 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total + number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NEXT number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OUTPUT total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C6E0AB-5CF9-4249-9173-E69375EF166D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number in range(1, 5):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total + number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EF4F9F-DB9F-40DB-A2AE-5A64613C4613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11106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add 1, 2, 3 and 4. Python range excludes its stop value.</a:t>
            </a:r>
          </a:p>
        </p:txBody>
      </p:sp>
    </p:spTree>
    <p:extLst>
      <p:ext uri="{BB962C8B-B14F-4D97-AF65-F5344CB8AC3E}">
        <p14:creationId xmlns:p14="http://schemas.microsoft.com/office/powerpoint/2010/main" val="420070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FEDF44-3F90-49D1-9297-62511890834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repeated addition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after the step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Before the loop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assigned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First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Second 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Third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Fourth 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E61DF8A-CC3D-4C7E-9861-CC8AE0DBCC01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Each pass adds the current number to the previous total. Output: 10.</a:t>
            </a:r>
          </a:p>
        </p:txBody>
      </p:sp>
    </p:spTree>
    <p:extLst>
      <p:ext uri="{BB962C8B-B14F-4D97-AF65-F5344CB8AC3E}">
        <p14:creationId xmlns:p14="http://schemas.microsoft.com/office/powerpoint/2010/main" val="4218446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62AEEB8-9F7C-4519-844B-8E794C03C1F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positive, negative or zero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5D653-93CD-419A-BC04-93FB8D5F46FA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23ADB-7022-4B06-A559-C3E5B350A740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Plan your decisions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3D3F7-C988-43E6-95F8-F70D8D144433}"/>
              </a:ext>
            </a:extLst>
          </p:cNvPr>
          <p:cNvSpPr>
            <a:spLocks noGrp="1"/>
          </p:cNvSpPr>
          <p:nvPr/>
        </p:nvSpPr>
        <p:spPr>
          <a:xfrm>
            <a:off x="438150" y="22860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pseudocode or draw a flowchart for an integer x.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872AB-2A84-4C36-98E4-A9446BE58836}"/>
              </a:ext>
            </a:extLst>
          </p:cNvPr>
          <p:cNvSpPr>
            <a:spLocks noGrp="1"/>
          </p:cNvSpPr>
          <p:nvPr/>
        </p:nvSpPr>
        <p:spPr>
          <a:xfrm>
            <a:off x="438150" y="305752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Write the 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05C26-7F43-4C7A-A693-25716E4A5E9F}"/>
              </a:ext>
            </a:extLst>
          </p:cNvPr>
          <p:cNvSpPr>
            <a:spLocks noGrp="1"/>
          </p:cNvSpPr>
          <p:nvPr/>
        </p:nvSpPr>
        <p:spPr>
          <a:xfrm>
            <a:off x="438150" y="34861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Display exactly Positive, Negative or Zero.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8AB8F-F743-4A92-A165-9998F858AC94}"/>
              </a:ext>
            </a:extLst>
          </p:cNvPr>
          <p:cNvSpPr>
            <a:spLocks noGrp="1"/>
          </p:cNvSpPr>
          <p:nvPr/>
        </p:nvSpPr>
        <p:spPr>
          <a:xfrm>
            <a:off x="438150" y="42576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Check every route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DE33A-BAD4-4A14-A3FE-BF9956298B48}"/>
              </a:ext>
            </a:extLst>
          </p:cNvPr>
          <p:cNvSpPr>
            <a:spLocks noGrp="1"/>
          </p:cNvSpPr>
          <p:nvPr/>
        </p:nvSpPr>
        <p:spPr>
          <a:xfrm>
            <a:off x="438150" y="46863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x = 7, x = -3 and x = 0. Record the expected output first.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A6DCC-D743-43B0-A04A-CDCD75490AF3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individually for 8 minutes. The next slide contains a solution.</a:t>
            </a:r>
          </a:p>
        </p:txBody>
      </p:sp>
    </p:spTree>
    <p:extLst>
      <p:ext uri="{BB962C8B-B14F-4D97-AF65-F5344CB8AC3E}">
        <p14:creationId xmlns:p14="http://schemas.microsoft.com/office/powerpoint/2010/main" val="4197830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C81F7B4-5BA3-49CD-9843-01456998748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one possible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8D0DA-BA5B-4B77-9643-2837F16E653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3A837B-9748-4217-9F4F-3848E27FD963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x = int(input("Number: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x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print("Positive")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elif x &lt;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print("Negative")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print("Zero")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C08C1-2393-42E2-9A3A-D35D6C17AEE6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else means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BCECD-8C54-40A9-9E69-96B68746E2E0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earlier tests excluded positive and negative integers.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B928B4-DEBD-4BBE-B97E-B81E3D0E441F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the outputs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9F28A-1757-4826-B8F6-C05CCA871FD6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7: Positive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-3: Negative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0: Zero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BD0828-17DC-42A9-BCDF-AABCEB77BD4E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assumption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F0841-8099-48BC-8E63-9C967C4AD4BE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This version expects text that int() can convert.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B9BF48-E030-46DD-B725-04F35917995D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elif checks the next condition only if the earlier condition was False.</a:t>
            </a:r>
          </a:p>
        </p:txBody>
      </p:sp>
    </p:spTree>
    <p:extLst>
      <p:ext uri="{BB962C8B-B14F-4D97-AF65-F5344CB8AC3E}">
        <p14:creationId xmlns:p14="http://schemas.microsoft.com/office/powerpoint/2010/main" val="1363909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9056DCB-DE1A-49AF-8F23-05762B4115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changing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E1ADA-1B07-4DBA-8F2E-D53B87120DB6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061442-4123-4CAB-B1A1-32531171343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x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y = x + 2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x = y *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print(x,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C5B27-0EB5-4169-86C8-9243BDF2AF3B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 running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C25DC-47DF-4DBD-A7D5-2FC44E4D2E3C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down x and y after each assignment.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57542-2414-480F-AAFB-5E548C2C1807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F9C7E-771E-4BCA-8E04-A43AB1CE8D45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Does y change when x changes on line 3?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CDCD92-D21A-4782-B68E-9C0307E7DF65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 rule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D10E4-392F-4575-8BED-671DC56F9F3F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Evaluate the right side using current values. Store the result.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C8C6FB-B0BE-41BB-B72C-7CECE719BB86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 printed output. The answer is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04914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1CE32-7C27-4BF9-B547-C92109DB1D7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 answer: values change in order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557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statement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x = 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assigned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y = x + 2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x = y *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print(x, 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472222E-B60F-487D-A2BC-C2F2E2680C30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Output: 10 5. y keeps its stored value until another assignment changes it.</a:t>
            </a:r>
          </a:p>
        </p:txBody>
      </p:sp>
    </p:spTree>
    <p:extLst>
      <p:ext uri="{BB962C8B-B14F-4D97-AF65-F5344CB8AC3E}">
        <p14:creationId xmlns:p14="http://schemas.microsoft.com/office/powerpoint/2010/main" val="343035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8A283C-DFA0-41FE-916D-2E8DC15B569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program can run and still be wrong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896E1C-DFB9-4307-84A4-C8345A03AC2B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64ACAD-3AFC-4BE1-BA39-8366825CBA90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 = 6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 = 12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mean = (a + b) /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print(mean)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AA1E0-B73E-421B-96F5-AF9CF4B94512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4E3F2-4609-455D-9EB8-9B2AAADCA094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Calculate the mean of two numbers.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1A113-78BE-4A94-B48C-79102B3A6C26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and actual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A68EE9-EC92-4A2D-AB74-6D912D6C7CCF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Expected: 9.0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Actual: 6.0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4F737-DEE2-4770-80FF-E21126B9E4E4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97BF7-188D-4B5A-85B7-FC1C0C30772F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Divide by 2 because there are two numbers.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3AA97-80C1-429F-839D-6A600B6EA626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requirement reveals the fault. Correct expression: (a + b) / 2.</a:t>
            </a:r>
          </a:p>
        </p:txBody>
      </p:sp>
    </p:spTree>
    <p:extLst>
      <p:ext uri="{BB962C8B-B14F-4D97-AF65-F5344CB8AC3E}">
        <p14:creationId xmlns:p14="http://schemas.microsoft.com/office/powerpoint/2010/main" val="96102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5CC36-E177-4A1E-9C07-D886A16CAEF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Testing and debugging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FAD430-8FD4-485E-8DC2-121CD4AE7DA8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905974-99DC-4811-B0A5-6FCAE35F8068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Compare the actual result with the expected result for chosen inputs.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049028-7D78-4449-A062-A7413A7486BE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Debugging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82BFD5-AE0D-418B-B984-9CA0196D2A57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Find the cause of a failure, change the code and test again.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123AE-EE78-48DF-BD19-27EB1FC6645F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useful bug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3C8252-D701-445A-9C24-982A0EEB6401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Include the code, input, expected result and actual output or error.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29E18-92E3-4CD9-8D4D-CEF74EE03BE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 out expected results from the problem rule, not from faulty code.</a:t>
            </a:r>
          </a:p>
        </p:txBody>
      </p:sp>
    </p:spTree>
    <p:extLst>
      <p:ext uri="{BB962C8B-B14F-4D97-AF65-F5344CB8AC3E}">
        <p14:creationId xmlns:p14="http://schemas.microsoft.com/office/powerpoint/2010/main" val="7225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AFF573-5957-454D-B2CF-64CDA7C35F7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kinds of error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4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happens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Syntax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Python cannot understand the code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Missing : after if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 operation fails during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20 /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Logic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code runs but breaks the rule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Using + for rectangle area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AFAA66-343F-419B-AF73-31F76D8827F7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runtime exception stops execution unless the program handles it.</a:t>
            </a:r>
          </a:p>
        </p:txBody>
      </p:sp>
    </p:spTree>
    <p:extLst>
      <p:ext uri="{BB962C8B-B14F-4D97-AF65-F5344CB8AC3E}">
        <p14:creationId xmlns:p14="http://schemas.microsoft.com/office/powerpoint/2010/main" val="3899145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2DE67D-549E-4745-901D-2B4C2A16B88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Syntax error: a missing colon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F50DFD-3E63-43F6-9363-B7AF5823EEBF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FAULTY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72094-B423-4704-AC3B-3811AABE2D4D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CORRECTED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0BA0E-24EE-41AC-81A0-13B667C323F3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53149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n &gt;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print("Positive")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3BFE1-01B4-4772-9F1E-67B6D8B3AABC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n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print("Positive")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BD7DC-95B6-48F1-9622-3CE762C1FE43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11106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missing colon causes SyntaxError. Check the reported line and nearby code.</a:t>
            </a:r>
          </a:p>
        </p:txBody>
      </p:sp>
    </p:spTree>
    <p:extLst>
      <p:ext uri="{BB962C8B-B14F-4D97-AF65-F5344CB8AC3E}">
        <p14:creationId xmlns:p14="http://schemas.microsoft.com/office/powerpoint/2010/main" val="3007907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856F31-49E2-464C-B8DC-25F3D83CFDE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Runtime error: division by zero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DA217B-90A2-4961-802B-7C59D5B24517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1F3A5-5050-4AA1-90AB-DCFB1EEBFF8D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20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 / 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ED4EBD-0F9C-43D8-B3A2-93117E752BFD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Error message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24864-D57F-4338-84F5-475099FF2C35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ZeroDivisionError: division by zero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3A20B-6067-4A22-A988-93F24BC58F6B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Reading a traceback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31DF9-268F-4323-91FB-28507CC8B7D1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the final error type and message, then locate the reported source 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3D652-6A4F-4E84-8A31-2FD7156E201C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02D525-3875-4465-89F1-E4ACA4F143FB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 is 0 when Python tries to divide.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559E39-2F7F-47F4-A562-E784021DBF9F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Choose what the zero case should mean before writing a fix.</a:t>
            </a:r>
          </a:p>
        </p:txBody>
      </p:sp>
    </p:spTree>
    <p:extLst>
      <p:ext uri="{BB962C8B-B14F-4D97-AF65-F5344CB8AC3E}">
        <p14:creationId xmlns:p14="http://schemas.microsoft.com/office/powerpoint/2010/main" val="2623911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36792B-C094-4B3B-B855-1234EB0F8C0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condition can prevent the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FA0457-6D40-459D-8362-EA144B5BF667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08FD2-C863-49A9-8BA0-86222626CC45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20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count ==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print("No values")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print(total / 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51916-8A7B-4CC7-9D05-AA8CCDBDCCEC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Rule for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124935-0D4E-4473-A49E-8E8FF069FED1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If there are no values, display No values.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D6E7B-9B4B-4F7E-BBC6-639BD18C1F99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 for count =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8B9436-52D4-4437-A2FB-7384C7C1BBC9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values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441B2-765E-4903-A7B1-694FA5F40899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another case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1C0F4-F573-4266-AFD6-A43E9A2C57CC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count = 4, the output is 5.0.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88BA9-EF7B-40A4-AF1C-DD09E51C307F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division only runs when the denominator is nonzero.</a:t>
            </a:r>
          </a:p>
        </p:txBody>
      </p:sp>
    </p:spTree>
    <p:extLst>
      <p:ext uri="{BB962C8B-B14F-4D97-AF65-F5344CB8AC3E}">
        <p14:creationId xmlns:p14="http://schemas.microsoft.com/office/powerpoint/2010/main" val="286962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BEAEEFA-F96D-4D51-8985-91C7E82D65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Logic error: the wrong boundary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B487BA-349E-4CAC-8E58-417C16F86C2E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8BBF0-DFF9-43CD-B369-D36030AD4037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50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score &gt;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print("Pass")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print("Retry")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099032-16DE-4E78-93C2-81661506049D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357F8-3DB5-4FD6-8342-1107FD71AB13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score of 50 or more passes.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CD7F8A-3F8F-42DD-A9CC-56D9ECBF0B39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and actual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076F04-1B66-4E82-9457-75ADF237861A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Expected: Pass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Actual: Retry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DB5F52-A042-4CBA-92EB-78EE39B23A33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CD946-73F6-41E2-B38B-E4C45922067A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score &gt;= 50. Tests at 40 and 60 alone would miss this fault.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B7EEC-B709-4C4A-A337-4429001A509D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equality case exposes the difference between &gt; and &gt;=.</a:t>
            </a:r>
          </a:p>
        </p:txBody>
      </p:sp>
    </p:spTree>
    <p:extLst>
      <p:ext uri="{BB962C8B-B14F-4D97-AF65-F5344CB8AC3E}">
        <p14:creationId xmlns:p14="http://schemas.microsoft.com/office/powerpoint/2010/main" val="311599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CAA0E7-6C8D-4C1E-9EA8-96CD67D0B89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Normal, boundary and invalid tests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input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40 and 80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 and 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Decision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49, 50, 51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Retry, Pass,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Valid limits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 and 100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 and 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Invalid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-1 and 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Reject the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Invalid type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"fifty"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Ask for a whole number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9647E88-F909-431C-B347-7B61DEDB3F9A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this program, a valid score is a whole number from 0 to 100 inclusive.</a:t>
            </a:r>
          </a:p>
        </p:txBody>
      </p:sp>
    </p:spTree>
    <p:extLst>
      <p:ext uri="{BB962C8B-B14F-4D97-AF65-F5344CB8AC3E}">
        <p14:creationId xmlns:p14="http://schemas.microsoft.com/office/powerpoint/2010/main" val="388988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5C6AA3-9BAE-4C79-9822-4D07A64C0AF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test log records the evidence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T1 before fix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T2 before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T3 before fix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T2 after 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FD0D008-0DA7-417F-9F4E-3017B8CC4EE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Change &gt; to &gt;=, then rerun 49, 50 and 51. Keep the failed result in the log.</a:t>
            </a:r>
          </a:p>
        </p:txBody>
      </p:sp>
    </p:spTree>
    <p:extLst>
      <p:ext uri="{BB962C8B-B14F-4D97-AF65-F5344CB8AC3E}">
        <p14:creationId xmlns:p14="http://schemas.microsoft.com/office/powerpoint/2010/main" val="434634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E70D16-A60B-4BE0-831B-1DFC41770C0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debugging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C8C42-8646-4E7D-B573-D9697C9C1DF0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Reproduce and compare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B23C69-4736-45B4-B03A-0A49534F1FF1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an input that shows the fault. State expected and actual behaviour.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9D8A1-97D7-4025-B0D5-F22FDD1A1018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Locate and explain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24E74-B718-4F26-8D18-739B565CC194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Find the first incorrect value. Explain which statement caused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213E9-ECBB-4BB8-846D-FAE62B58FDAE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Change and retest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ABEDD-B726-4A73-A35C-AF10143A7B57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Make one relevant change. Repeat the failed test and related tests.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57CCC-2751-46D0-92F4-A15F742BBD4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wrong final output may come from an earlier assignment.</a:t>
            </a:r>
          </a:p>
        </p:txBody>
      </p:sp>
    </p:spTree>
    <p:extLst>
      <p:ext uri="{BB962C8B-B14F-4D97-AF65-F5344CB8AC3E}">
        <p14:creationId xmlns:p14="http://schemas.microsoft.com/office/powerpoint/2010/main" val="492506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FD9FBE-682B-4755-A20C-5F6BCA7C773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 statements reveal a wrong update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9624B-C59C-4C78-89A3-0B9BA581B761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15FCD2-7442-41FE-B2B6-69D8A09515F2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bonus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print("Before:", score, bonus)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bonus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print("After:", score, bonus)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86D21-4C03-4D90-A542-CE86BE8CEAE7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Actual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3E4BF1-2E81-4540-84BA-6D9AC9BF75E1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Before: 10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After: 5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9C3F59-F2EA-4875-87EB-7384EA2C564B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C213E-2F46-4A4B-9C58-CFED1B3B8013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15, because the bonus should be added.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F35DD8-D8D9-41F7-B7A9-F3B75586E3FA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Cause and correction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8D20E-A07A-4A48-879F-2E20A2D43BB2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 bonus replaces 10.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score = score + bonus.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1F4CB-2474-4E8A-A5A2-F07A63D69551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Temporary print statements show where the value first becomes wrong.</a:t>
            </a:r>
          </a:p>
        </p:txBody>
      </p:sp>
    </p:spTree>
    <p:extLst>
      <p:ext uri="{BB962C8B-B14F-4D97-AF65-F5344CB8AC3E}">
        <p14:creationId xmlns:p14="http://schemas.microsoft.com/office/powerpoint/2010/main" val="329614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EE7718-5C4B-48B5-B6BC-406F2FCF387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Breakpoints and stepping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F24BB-785E-4E2D-AEA7-CFC64DD4CFD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FBA431-AF5D-4D8D-8AE3-B83CDA1722A7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bonus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bonus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print(score)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FD5D3-C84B-4912-8693-D2A81CEDF492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Breakpoint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E5630-5BDE-41C1-91BA-8B51E56AC085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Pause before score = bonus. Check score = 10 and bonus = 5.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3BC54F-9736-492B-B98D-A1347C4523E5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71EFB3-188E-4030-BFE1-3834A6133482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 the assignment once. Both score and bonus are now 5.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01FA27-3D80-4533-9798-F059766AF1BA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9B470C-83C3-4496-BBF4-56FABBD00D4D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wrong value appears before print runs. Fix the assignment.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8C8E47-C32C-4659-B682-0ED011028840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breakpoint pauses execution. Stepping lets you inspect one change at a time.</a:t>
            </a:r>
          </a:p>
        </p:txBody>
      </p:sp>
    </p:spTree>
    <p:extLst>
      <p:ext uri="{BB962C8B-B14F-4D97-AF65-F5344CB8AC3E}">
        <p14:creationId xmlns:p14="http://schemas.microsoft.com/office/powerpoint/2010/main" val="164967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61A877-6039-484C-9398-918D98395D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Values can look numeric but be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CE3EB-87B2-4111-B584-D6FD3B68BA82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8A0A6-E365-42F9-BF64-5BCDCBF4C4DF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 = "2"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b = "3"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print(type(a))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print(a + b)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print(int(a) + int(b))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E2072-1525-4EE6-9DFB-F7384781006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2E995-C8F1-4302-B3DD-DB4AA3E92EFA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&lt;class 'str'&gt;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0F892-5842-4AD4-BE51-CC1067B2D102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DD1C00-4E91-4377-A267-E0E8F0BA18C1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+ joins strings. After conversion, + adds integers.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A69E0D-F9B9-4253-BB0C-316D4BC1B7E7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Useful check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C3849C-B523-43FE-B7EE-45D05B97CF3E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Inspect both the value and its type near the fault.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31F30-C0B0-41AD-BF25-25DE84D9A344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input() returns text, even when the user types digits.</a:t>
            </a:r>
          </a:p>
        </p:txBody>
      </p:sp>
    </p:spTree>
    <p:extLst>
      <p:ext uri="{BB962C8B-B14F-4D97-AF65-F5344CB8AC3E}">
        <p14:creationId xmlns:p14="http://schemas.microsoft.com/office/powerpoint/2010/main" val="290434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9BCBADD-8D2D-4F3A-A71D-D41B75480C5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Handling text that cannot convert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9B9C79-DFC1-4F65-844E-08511AB683C9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501A4-B0DD-4DAC-BD0B-AF0D7EC98A44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text = input("Score: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try: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score = int(text)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except ValueError: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print("Enter a whole number")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print("Number:", score)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D201E-F3D7-40AC-8847-BCF8A3927612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and except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2EBB3-882D-4790-8B90-5D92F55B2860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the conversion. If it raises ValueError, display the message.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EF280-38BE-41A8-B02E-2277AC6301DA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else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FEB750-77DD-4F17-B8C4-4C6733611427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Runs if conversion succeeds. Input 50 prints Number: 50.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F71192-1E8A-413D-984A-2C162D682A69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different issue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03B27-BB60-406C-B9C6-2C6E2554810A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-1 converts successfully. Reject it with a range check.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0FCA89-1F41-4FA4-9822-6079AB45B65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"fifty" produces: Enter a whole number.</a:t>
            </a:r>
          </a:p>
        </p:txBody>
      </p:sp>
    </p:spTree>
    <p:extLst>
      <p:ext uri="{BB962C8B-B14F-4D97-AF65-F5344CB8AC3E}">
        <p14:creationId xmlns:p14="http://schemas.microsoft.com/office/powerpoint/2010/main" val="1501845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C3CEAE6-4DC8-4185-8133-5D7F8CC8744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Validation checks the allowed range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D2FFE-4F1C-40DD-9A4E-1C60DA22008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E6E8A-DC39-458D-84CE-10BAE592B572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100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score &lt; 0 or score &gt; 100: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print("Invalid score")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print("Pass")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print("Retry")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428DAB-CBA8-432B-B90D-F128DF48EA66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Valid range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BE380-98EB-4837-BD88-A1816494DE59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to 100 inclusive. Both endpoints are allowed.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577370-8B7F-4A39-B5EF-377131380316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6313F4-3C75-45C3-82FF-C734E9B8D29E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-1 and 101: Invalid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0: Retry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100: Pass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21354B-FA61-44C7-BFC5-C11C8354E078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Order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2B719-6DDB-4F8A-BD4B-1B24F8DA19D0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Reject invalid values before applying the pass rule.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D73-2B92-48EF-926F-DC16BF90D24A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&lt; score &lt; 100 would wrongly reject both valid endpoints.</a:t>
            </a:r>
          </a:p>
        </p:txBody>
      </p:sp>
    </p:spTree>
    <p:extLst>
      <p:ext uri="{BB962C8B-B14F-4D97-AF65-F5344CB8AC3E}">
        <p14:creationId xmlns:p14="http://schemas.microsoft.com/office/powerpoint/2010/main" val="3142521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18ACBE-4D5C-44A7-934D-874A70862D0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Assertions automate a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82257-AC84-429B-8377-83131E8E0DE8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CFB07-E8EF-4D5B-94D4-BA3593DC0CFD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50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passed = score &gt;= 50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assert passed == True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print("Check passed")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AE67C6-6E29-46F9-83DF-639D930F7112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assert does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C9109-5267-4618-BC58-E9C33A8789EC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If its condition is False, Python raises AssertionError.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92A97-DDD2-4925-9576-1944947A4842}"/>
              </a:ext>
            </a:extLst>
          </p:cNvPr>
          <p:cNvSpPr>
            <a:spLocks noGrp="1"/>
          </p:cNvSpPr>
          <p:nvPr/>
        </p:nvSpPr>
        <p:spPr>
          <a:xfrm>
            <a:off x="7762875" y="29718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this test helps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4E633-FEF7-4CA9-8227-D25B11735538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Change &gt;= to &gt;. The same check fails at score 50.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32D57-1B52-4449-96F8-6237E34EBC39}"/>
              </a:ext>
            </a:extLst>
          </p:cNvPr>
          <p:cNvSpPr>
            <a:spLocks noGrp="1"/>
          </p:cNvSpPr>
          <p:nvPr/>
        </p:nvSpPr>
        <p:spPr>
          <a:xfrm>
            <a:off x="7762875" y="42291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Further tests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3DB6C-DA5B-4A63-8301-3DF4E895002C}"/>
              </a:ext>
            </a:extLst>
          </p:cNvPr>
          <p:cNvSpPr>
            <a:spLocks noGrp="1"/>
          </p:cNvSpPr>
          <p:nvPr/>
        </p:nvSpPr>
        <p:spPr>
          <a:xfrm>
            <a:off x="7762875" y="4638675"/>
            <a:ext cx="3857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score 49 with expected False, and score 51 with expected True.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0AD35-73EC-4A36-8858-9A6230B1AA62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Assertions are development checks. They can be disabled and do not validate user input.</a:t>
            </a:r>
          </a:p>
        </p:txBody>
      </p:sp>
    </p:spTree>
    <p:extLst>
      <p:ext uri="{BB962C8B-B14F-4D97-AF65-F5344CB8AC3E}">
        <p14:creationId xmlns:p14="http://schemas.microsoft.com/office/powerpoint/2010/main" val="1098851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3E51DC-D95A-4209-A272-B16E5E6EE67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Regression testing and user feedback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8280AC-BA26-4ECE-99BE-AD425A3AA03F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Regression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0BD951-E51D-4230-8DA1-E1F8CD669280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 a change, rerun earlier tests to check existing behaviour still works.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0F0F96-2170-48E5-A3A3-EA15AFC4B9DD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45EFB-9883-4CDD-BD2B-8290AC9E63DA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After fixing the score boundary, retest 49, 50, 51 and invalid values.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8B5EA-890D-46CE-ACA3-D434ACCD55C3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User feedback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8EED3-DB07-4A85-8407-887D603C6BE7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Ask a classmate to use the program. Improve any unclear prompt, then test again.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D8B59-163F-4DC9-AB48-1F1051FAA8AD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clearer message should not change the program’s calculation or decision.</a:t>
            </a:r>
          </a:p>
        </p:txBody>
      </p:sp>
    </p:spTree>
    <p:extLst>
      <p:ext uri="{BB962C8B-B14F-4D97-AF65-F5344CB8AC3E}">
        <p14:creationId xmlns:p14="http://schemas.microsoft.com/office/powerpoint/2010/main" val="291543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644D14-08D0-4E09-971A-0F34113544D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repair and test the score checker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2BF71F-C374-411C-8F67-2E4E1806408C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10-MINUTE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B54E6-3906-4B27-9E26-20E6DA448356}"/>
              </a:ext>
            </a:extLst>
          </p:cNvPr>
          <p:cNvSpPr>
            <a:spLocks noGrp="1"/>
          </p:cNvSpPr>
          <p:nvPr/>
        </p:nvSpPr>
        <p:spPr>
          <a:xfrm>
            <a:off x="438150" y="2019300"/>
            <a:ext cx="63817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int(input("Score: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score &gt;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print("Pass")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print("Retry")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FA68B-C7C6-4767-90FB-3205923CE69F}"/>
              </a:ext>
            </a:extLst>
          </p:cNvPr>
          <p:cNvSpPr>
            <a:spLocks noGrp="1"/>
          </p:cNvSpPr>
          <p:nvPr/>
        </p:nvSpPr>
        <p:spPr>
          <a:xfrm>
            <a:off x="7334250" y="1943100"/>
            <a:ext cx="41910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Rule: whole-number scores from 0 to 100. A score of 50 or more passes.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872EE-98AB-4323-BE25-C74771AA27E0}"/>
              </a:ext>
            </a:extLst>
          </p:cNvPr>
          <p:cNvSpPr>
            <a:spLocks noGrp="1"/>
          </p:cNvSpPr>
          <p:nvPr/>
        </p:nvSpPr>
        <p:spPr>
          <a:xfrm>
            <a:off x="7334250" y="3038475"/>
            <a:ext cx="41910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Fix the boundary. Add a range check before the pass decision.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2EF2E-2934-4A15-BE19-A8C5E971491A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41910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Test -1, 0, 49, 50, 51, 100 and 101. Log expected and actual outputs.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DE0C1-C52E-4966-A893-A6D865AFABC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Timing: 2 min plan, 5 min code, 3 min test. Extension: handle "fifty".</a:t>
            </a:r>
          </a:p>
        </p:txBody>
      </p:sp>
    </p:spTree>
    <p:extLst>
      <p:ext uri="{BB962C8B-B14F-4D97-AF65-F5344CB8AC3E}">
        <p14:creationId xmlns:p14="http://schemas.microsoft.com/office/powerpoint/2010/main" val="2342054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86A860-4E9F-4C29-9C5A-D9D33EF9DF2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solution and expected outputs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0D97F-3D93-472C-AB72-353280D05850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B3A938-8391-4A92-9D51-6E94BA8BF04F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 = int(input("Score: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score &lt; 0 or score &gt; 100: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print("Invalid score")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print("Pass")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print("Retry")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BD63-28CE-4531-8759-BA8BB140A53B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865D7A-CF55-4F28-A4E6-092EFF926533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-1 and 101: Invalid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 and 49: Retry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50, 51 and 100: 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F71EF9-F1A6-4BCA-97B9-DF58300D9904}"/>
              </a:ext>
            </a:extLst>
          </p:cNvPr>
          <p:cNvSpPr>
            <a:spLocks noGrp="1"/>
          </p:cNvSpPr>
          <p:nvPr/>
        </p:nvSpPr>
        <p:spPr>
          <a:xfrm>
            <a:off x="7762875" y="35242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Text-input extension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E2457-91A4-49EF-A902-4F6075F7F2D7}"/>
              </a:ext>
            </a:extLst>
          </p:cNvPr>
          <p:cNvSpPr>
            <a:spLocks noGrp="1"/>
          </p:cNvSpPr>
          <p:nvPr/>
        </p:nvSpPr>
        <p:spPr>
          <a:xfrm>
            <a:off x="7762875" y="393382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Put the conversion in try/except ValueError. Put this if/elif/else inside its else block.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EB4110-98CC-4B06-9E8A-0A80392762C1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complete extension is shown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0309134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0E8CA6-DCA5-4FEB-BA61-2BE3E61F9D8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Extension solution: invalid text and range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2655E-B89C-4994-A746-98AD137A2F20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58F11-DE89-448E-B061-76542A6315BD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try: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score = int(input("Score: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except ValueError: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print("Enter a whole number")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score &lt; 0 or score &gt; 100: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print("Invalid score")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print("Pass")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print("Retry")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4272F-A5FC-4B7C-AC7E-D9C2AD808AD9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different checks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4FB21-BD81-48E5-9016-32B51655B92D}"/>
              </a:ext>
            </a:extLst>
          </p:cNvPr>
          <p:cNvSpPr>
            <a:spLocks noGrp="1"/>
          </p:cNvSpPr>
          <p:nvPr/>
        </p:nvSpPr>
        <p:spPr>
          <a:xfrm>
            <a:off x="7762875" y="212407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conversion handles invalid text. The condition handles numbers outside 0 to 100.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58EEF-D7AD-43F8-B721-56975188731F}"/>
              </a:ext>
            </a:extLst>
          </p:cNvPr>
          <p:cNvSpPr>
            <a:spLocks noGrp="1"/>
          </p:cNvSpPr>
          <p:nvPr/>
        </p:nvSpPr>
        <p:spPr>
          <a:xfrm>
            <a:off x="7762875" y="35242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Final check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289EA-4ED3-49AC-9258-F7546E660F06}"/>
              </a:ext>
            </a:extLst>
          </p:cNvPr>
          <p:cNvSpPr>
            <a:spLocks noGrp="1"/>
          </p:cNvSpPr>
          <p:nvPr/>
        </p:nvSpPr>
        <p:spPr>
          <a:xfrm>
            <a:off x="7762875" y="3933825"/>
            <a:ext cx="38576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"fifty", -1, 0, 49, 50, 51, 100 and 101. Compare each result with the rule.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C6A1E-E5CD-4F18-B4AC-1F46929131E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This version gives a message for every test in the task.</a:t>
            </a:r>
          </a:p>
        </p:txBody>
      </p:sp>
    </p:spTree>
    <p:extLst>
      <p:ext uri="{BB962C8B-B14F-4D97-AF65-F5344CB8AC3E}">
        <p14:creationId xmlns:p14="http://schemas.microsoft.com/office/powerpoint/2010/main" val="1906347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254AEA9-0EAC-4F3F-AAAC-CE01FF329D5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Review questions and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1F10A-39F4-433E-881F-FE0E24510BD9}"/>
              </a:ext>
            </a:extLst>
          </p:cNvPr>
          <p:cNvSpPr>
            <a:spLocks noGrp="1"/>
          </p:cNvSpPr>
          <p:nvPr/>
        </p:nvSpPr>
        <p:spPr>
          <a:xfrm>
            <a:off x="438150" y="1457325"/>
            <a:ext cx="109347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does a flowchart decision need?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555D1-BD50-4421-BAA2-F2848C44AC56}"/>
              </a:ext>
            </a:extLst>
          </p:cNvPr>
          <p:cNvSpPr>
            <a:spLocks noGrp="1"/>
          </p:cNvSpPr>
          <p:nvPr/>
        </p:nvSpPr>
        <p:spPr>
          <a:xfrm>
            <a:off x="438150" y="1800225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condition and labelled branches.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54BE1-D7BA-494A-9A7A-755FDA72A8C1}"/>
              </a:ext>
            </a:extLst>
          </p:cNvPr>
          <p:cNvSpPr>
            <a:spLocks noGrp="1"/>
          </p:cNvSpPr>
          <p:nvPr/>
        </p:nvSpPr>
        <p:spPr>
          <a:xfrm>
            <a:off x="438150" y="2219325"/>
            <a:ext cx="109347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Does y change whenever x changes?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40194-B087-4796-9E03-FD499CC230C0}"/>
              </a:ext>
            </a:extLst>
          </p:cNvPr>
          <p:cNvSpPr>
            <a:spLocks noGrp="1"/>
          </p:cNvSpPr>
          <p:nvPr/>
        </p:nvSpPr>
        <p:spPr>
          <a:xfrm>
            <a:off x="438150" y="2562225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No. y changes only when assigned a new value.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4228B-78CB-4B6B-9621-21962F1F8C6D}"/>
              </a:ext>
            </a:extLst>
          </p:cNvPr>
          <p:cNvSpPr>
            <a:spLocks noGrp="1"/>
          </p:cNvSpPr>
          <p:nvPr/>
        </p:nvSpPr>
        <p:spPr>
          <a:xfrm>
            <a:off x="438150" y="2981325"/>
            <a:ext cx="109347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Can code run and still be wrong?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2184E4-6F71-458E-A326-069100525652}"/>
              </a:ext>
            </a:extLst>
          </p:cNvPr>
          <p:cNvSpPr>
            <a:spLocks noGrp="1"/>
          </p:cNvSpPr>
          <p:nvPr/>
        </p:nvSpPr>
        <p:spPr>
          <a:xfrm>
            <a:off x="438150" y="3324225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Yes. A logic error can produce incorrect output.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21D3DD-BB27-4017-B4A5-969C6CFC0960}"/>
              </a:ext>
            </a:extLst>
          </p:cNvPr>
          <p:cNvSpPr>
            <a:spLocks noGrp="1"/>
          </p:cNvSpPr>
          <p:nvPr/>
        </p:nvSpPr>
        <p:spPr>
          <a:xfrm>
            <a:off x="438150" y="3743325"/>
            <a:ext cx="109347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test exactly 50?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838AC9-6736-4503-9D87-EFA5C1D3A801}"/>
              </a:ext>
            </a:extLst>
          </p:cNvPr>
          <p:cNvSpPr>
            <a:spLocks noGrp="1"/>
          </p:cNvSpPr>
          <p:nvPr/>
        </p:nvSpPr>
        <p:spPr>
          <a:xfrm>
            <a:off x="438150" y="4086225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 checks whether the pass boundary includes equality.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20FA3-D9C4-4982-9F21-F721CE176D04}"/>
              </a:ext>
            </a:extLst>
          </p:cNvPr>
          <p:cNvSpPr>
            <a:spLocks noGrp="1"/>
          </p:cNvSpPr>
          <p:nvPr/>
        </p:nvSpPr>
        <p:spPr>
          <a:xfrm>
            <a:off x="438150" y="4505325"/>
            <a:ext cx="109347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follows a bug fix?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71202B-2CC4-4B17-8BD8-E9E75A28B543}"/>
              </a:ext>
            </a:extLst>
          </p:cNvPr>
          <p:cNvSpPr>
            <a:spLocks noGrp="1"/>
          </p:cNvSpPr>
          <p:nvPr/>
        </p:nvSpPr>
        <p:spPr>
          <a:xfrm>
            <a:off x="438150" y="4848225"/>
            <a:ext cx="10934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Repeat the failed test and related earlier tests.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C79339-EC28-441C-87F3-7CB3889CC3CD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one answer to a classmate using a code example from this lecture.</a:t>
            </a:r>
          </a:p>
        </p:txBody>
      </p:sp>
    </p:spTree>
    <p:extLst>
      <p:ext uri="{BB962C8B-B14F-4D97-AF65-F5344CB8AC3E}">
        <p14:creationId xmlns:p14="http://schemas.microsoft.com/office/powerpoint/2010/main" val="138465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2846</Words>
  <Application>Microsoft Office PowerPoint</Application>
  <PresentationFormat>Widescreen</PresentationFormat>
  <Paragraphs>551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DejaVu Sans Mono</vt:lpstr>
      <vt:lpstr>2_Office Theme</vt:lpstr>
      <vt:lpstr>15_Office Theme</vt:lpstr>
      <vt:lpstr>3_Office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2026-10-06T15:03:13Z</dcterms:modified>
</cp:coreProperties>
</file>